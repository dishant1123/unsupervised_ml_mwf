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 |  Unsupervised Learning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•  Why Use  •  Workflow  •  Steps 1–6  •  Output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What is PCA?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463040"/>
          </a:xfrm>
          <a:prstGeom prst="roundRect">
            <a:avLst>
              <a:gd name="adj" fmla="val 75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is a dimensionality reduction technique that converts correlated features into a smaller number of new uncorrelated features called Principal Components (PCs) while preserving as much information (variance) as possible.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2788920"/>
            <a:ext cx="260604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0175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27889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2788920"/>
            <a:ext cx="2606040" cy="9144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30175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Uncorrelated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27889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2788920"/>
            <a:ext cx="260604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30175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Use PCA?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🗜️  Reduce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099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hundreds of features into a few Principal Components.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441448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5328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Remove Redundancy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00837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correlated and duplicate information from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39896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83133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 Reduce Noise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30682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low-variance components that add noise, not signal.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14300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234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Improve Performance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7099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features = faster model training and better accuracy.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441448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5328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Visualization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00837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high-dimensional data into 2D or 3D for plotting.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14300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234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Visualization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17099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high-dimensional data into 2D or 3D for plotting.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441448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5328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Improve Performance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00837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features = faster model training and better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PCA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325880" cy="2194560"/>
          </a:xfrm>
          <a:prstGeom prst="roundRect">
            <a:avLst>
              <a:gd name="adj" fmla="val 689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5087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029968"/>
            <a:ext cx="96012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148840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73352" y="2194560"/>
            <a:ext cx="228600" cy="457200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1952" y="1371600"/>
            <a:ext cx="1325880" cy="2194560"/>
          </a:xfrm>
          <a:prstGeom prst="roundRect">
            <a:avLst>
              <a:gd name="adj" fmla="val 6897"/>
            </a:avLst>
          </a:prstGeom>
          <a:solidFill>
            <a:srgbClr val="6C3483"/>
          </a:solidFill>
          <a:ln/>
        </p:spPr>
      </p:sp>
      <p:sp>
        <p:nvSpPr>
          <p:cNvPr id="10" name="Text 8"/>
          <p:cNvSpPr/>
          <p:nvPr/>
        </p:nvSpPr>
        <p:spPr>
          <a:xfrm>
            <a:off x="1901952" y="15087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084832" y="2029968"/>
            <a:ext cx="96012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901952" y="2148840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Matrix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00984" y="2194560"/>
            <a:ext cx="228600" cy="457200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9584" y="1371600"/>
            <a:ext cx="1325880" cy="2194560"/>
          </a:xfrm>
          <a:prstGeom prst="roundRect">
            <a:avLst>
              <a:gd name="adj" fmla="val 6897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3529584" y="15087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712464" y="2029968"/>
            <a:ext cx="96012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529584" y="2148840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&amp; Eigenvectors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28616" y="2194560"/>
            <a:ext cx="228600" cy="457200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57216" y="1371600"/>
            <a:ext cx="1325880" cy="2194560"/>
          </a:xfrm>
          <a:prstGeom prst="roundRect">
            <a:avLst>
              <a:gd name="adj" fmla="val 6897"/>
            </a:avLst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5157216" y="15087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340096" y="2029968"/>
            <a:ext cx="96012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157216" y="2148840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 PCs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56248" y="2194560"/>
            <a:ext cx="228600" cy="457200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84848" y="1371600"/>
            <a:ext cx="1325880" cy="2194560"/>
          </a:xfrm>
          <a:prstGeom prst="roundRect">
            <a:avLst>
              <a:gd name="adj" fmla="val 6897"/>
            </a:avLst>
          </a:prstGeom>
          <a:solidFill>
            <a:srgbClr val="1A5276"/>
          </a:solidFill>
          <a:ln/>
        </p:spPr>
      </p:sp>
      <p:sp>
        <p:nvSpPr>
          <p:cNvPr id="25" name="Text 23"/>
          <p:cNvSpPr/>
          <p:nvPr/>
        </p:nvSpPr>
        <p:spPr>
          <a:xfrm>
            <a:off x="6784848" y="15087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967728" y="2029968"/>
            <a:ext cx="96012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784848" y="2148840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83880" y="2194560"/>
            <a:ext cx="228600" cy="457200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1371600"/>
            <a:ext cx="1325880" cy="2194560"/>
          </a:xfrm>
          <a:prstGeom prst="roundRect">
            <a:avLst>
              <a:gd name="adj" fmla="val 6897"/>
            </a:avLst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15087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595360" y="2029968"/>
            <a:ext cx="96012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2148840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Dataset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79476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EEF2F7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  →  Standardize  →  Covariance Matrix  →  Eigen Decompose  →  Select PCs  →  Reduced Data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—  Standardize the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all features have the same scale so no single feature dominates PCA.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2057400"/>
            <a:ext cx="6400800" cy="137160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1945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 =  ( X − μ )  /  σ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788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Original value     μ = Mean     σ = Standard Deviation     Z = Standardized value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6301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41330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356616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36301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60320" y="41330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356616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36301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17720" y="41330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356616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6301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75120" y="41330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—  Covariance Matrix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two features vary together — reveals which features are correlated.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7680960" cy="137160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Cov(X, Y)  =  Σ (X − X̄)(Y − Ȳ)  /  (n − 1)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Cov → features increase together     |     Negative Cov → one increases, other decreases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0" y="35204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EEF2F7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Covariance Matrix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39502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[ 1.25   1.25 ]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43159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[ 1.25   1.25 ]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—  Eigenvalues &amp; Eigenvectors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Solve:   ( C − λI ) V  =  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Covariance Matrix     λ = Eigenvalue     I = Identity Matrix     V = Eigenvector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423160"/>
            <a:ext cx="402336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14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 (λ)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the amount of variance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principal component captures.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λ₁ = 2.5   (large → important)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λ₂ = 0.0   (small → discard)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42316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423160"/>
            <a:ext cx="40233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514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Eigenvectors  (V)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017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the direction (axis)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each principal component.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6576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V₁ = [ 0.707,  0.707 ]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V₂ = [-0.707,  0.707 ]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—  Select Principal Components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7043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eigenvalues from highest to lowest. Choose eigenvectors with the largest eigenvalues — these are the Principal Components.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28600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0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2011680"/>
            <a:ext cx="228600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011680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011680"/>
            <a:ext cx="228600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011680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Captured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2011680"/>
            <a:ext cx="182880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201168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70048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7004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0" y="2670048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7004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2670048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7004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0" y="2670048"/>
            <a:ext cx="1828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7004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328416"/>
            <a:ext cx="2286000" cy="621792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2841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0" y="3328416"/>
            <a:ext cx="2286000" cy="621792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32841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3328416"/>
            <a:ext cx="2286000" cy="621792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32841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0" y="3328416"/>
            <a:ext cx="1828800" cy="621792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332841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97280" y="3520440"/>
            <a:ext cx="6949440" cy="118872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1280160" y="359359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Rule of Thumb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4005072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enough Principal Components to explain at least 95% of total variance.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&amp; 6  —  Transform Data &amp; Explained Variance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97680" cy="356616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4297680" cy="7315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—  Transform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standardized data onto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Principal Components.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42316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963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  =  Z  ×  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Standardized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Eigenvector (PC direction)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Height, Weight  →  PC1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EEF2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097280"/>
            <a:ext cx="40233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—  Explained Variance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6916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information each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preserves.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74920" y="237744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24505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λᵢ / Σλ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1546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23560" y="3246120"/>
            <a:ext cx="2743200" cy="2926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5623560" y="3246120"/>
            <a:ext cx="260604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315468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90448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23560" y="3995928"/>
            <a:ext cx="2743200" cy="29260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5623560" y="3995928"/>
            <a:ext cx="137160" cy="29260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390448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Final Output — Before vs After PCA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840480" cy="3520440"/>
          </a:xfrm>
          <a:prstGeom prst="roundRect">
            <a:avLst>
              <a:gd name="adj" fmla="val 2597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384048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Original Data (2D)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146304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556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1755648"/>
            <a:ext cx="146304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7556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249424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9424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03120" y="2249424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2249424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688336"/>
            <a:ext cx="1463040" cy="420624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8833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03120" y="2688336"/>
            <a:ext cx="1463040" cy="420624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268833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12724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272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03120" y="312724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31272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566160"/>
            <a:ext cx="1463040" cy="420624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56616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03120" y="3566160"/>
            <a:ext cx="1463040" cy="420624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356616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005072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00507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103120" y="4005072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400507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" y="43434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features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51960" y="2468880"/>
            <a:ext cx="640080" cy="502920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24528" y="30175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1097280"/>
            <a:ext cx="3749040" cy="3520440"/>
          </a:xfrm>
          <a:prstGeom prst="roundRect">
            <a:avLst>
              <a:gd name="adj" fmla="val 2597"/>
            </a:avLst>
          </a:prstGeom>
          <a:solidFill>
            <a:srgbClr val="EEF2F7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0" y="1097280"/>
            <a:ext cx="3749040" cy="7315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PCA (1D)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760720" y="1755648"/>
            <a:ext cx="146304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17556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760720" y="2249424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2249424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760720" y="2688336"/>
            <a:ext cx="1463040" cy="420624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2688336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760720" y="3127248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31272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760720" y="3566160"/>
            <a:ext cx="1463040" cy="420624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0" y="356616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760720" y="4005072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0" y="400507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029200" y="43434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feature  (95% variance kept)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1188720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correlated features into uncorrelated Principal Components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105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1810512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redundancy, reduce noise, improve speed, enable visualization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40864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43230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2432304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all features using Z = (X − μ) / 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5409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3054096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covariance matrix to find feature correlations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84448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67588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3675888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eigenvalues (variance) and eigenvectors (direction)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2976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14600" y="4297680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 PCs with highest eigenvalues (keep ≥ 95% variance)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828032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9194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&amp; 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14600" y="4919472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data: PC = Z × V  |  Check explained variance ratio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2026-06-26T01:04:40Z</dcterms:created>
  <dcterms:modified xsi:type="dcterms:W3CDTF">2026-06-26T01:04:40Z</dcterms:modified>
</cp:coreProperties>
</file>