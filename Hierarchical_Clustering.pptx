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188720"/>
            <a:ext cx="5029200" cy="5029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6C3483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407408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Machine Learning  |  Dendrogram  |  Bottom-Up &amp; Top-Down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77724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•  Why Use  •  Types  •  Workflow  •  Linkage  •  Advantages  •  vs K-Means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Definition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463040"/>
          </a:xfrm>
          <a:prstGeom prst="roundRect">
            <a:avLst>
              <a:gd name="adj" fmla="val 7500"/>
            </a:avLst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is an unsupervised ML algorithm that groups similar data points into clusters by building a tree-like hierarchy called a dendrogram. It does not require the number of clusters to be specified in advance.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7432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EEF2F7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2743200"/>
            <a:ext cx="260604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90779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5204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7432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EE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2743200"/>
            <a:ext cx="2606040" cy="9144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290779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35204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diagram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clusters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7432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EE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2743200"/>
            <a:ext cx="2606040" cy="9144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290779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 Required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35040" y="35204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pre-define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count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Use Hierarchical Clustering?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/>
          <p:nvPr/>
        </p:nvSpPr>
        <p:spPr>
          <a:xfrm>
            <a:off x="429768" y="12070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No K Required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768" y="16642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specify the number of clusters before running the algorithm.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350008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EEF2F7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24414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Visual Dendrogram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8986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visualize how clusters form and merge using a tree diagram.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584448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EEF2F7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36758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Small-Medium Datasets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41330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on small to medium-sized datasets where speed is not critical.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115568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EE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2070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Natural Groupings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6642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discovers natural groupings without any prior knowledge.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350008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EEF2F7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24414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Flexible Metrics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64608" y="28986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multiple distance metrics and linkage methods for different data types.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Types of Hierarchical Clustering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4160520" cy="3611880"/>
          </a:xfrm>
          <a:prstGeom prst="roundRect">
            <a:avLst>
              <a:gd name="adj" fmla="val 2532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78992"/>
            <a:ext cx="4160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7043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Agglomerative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 (Most Common)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121408"/>
            <a:ext cx="3886200" cy="566928"/>
          </a:xfrm>
          <a:prstGeom prst="roundRect">
            <a:avLst>
              <a:gd name="adj" fmla="val 11290"/>
            </a:avLst>
          </a:prstGeom>
          <a:solidFill>
            <a:srgbClr val="D0EE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57984"/>
            <a:ext cx="2194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(A)  (B)  (C)  (D)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2194560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each point = cluster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554480" y="2688336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779776"/>
            <a:ext cx="3886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816352"/>
            <a:ext cx="2194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(AB)  (C)  (D)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852928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closest pair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54480" y="3346704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438144"/>
            <a:ext cx="3886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74720"/>
            <a:ext cx="2194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(AB)  (CD)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3511296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next closest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554480" y="4005072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4096512"/>
            <a:ext cx="3886200" cy="566928"/>
          </a:xfrm>
          <a:prstGeom prst="roundRect">
            <a:avLst>
              <a:gd name="adj" fmla="val 11290"/>
            </a:avLst>
          </a:prstGeom>
          <a:solidFill>
            <a:srgbClr val="D0EE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133088"/>
            <a:ext cx="2194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(ABCD)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06040" y="4169664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one cluster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078992"/>
            <a:ext cx="4160520" cy="3611880"/>
          </a:xfrm>
          <a:prstGeom prst="roundRect">
            <a:avLst>
              <a:gd name="adj" fmla="val 2532"/>
            </a:avLst>
          </a:prstGeom>
          <a:solidFill>
            <a:srgbClr val="EEF2F7"/>
          </a:solidFill>
          <a:ln/>
        </p:spPr>
      </p:sp>
      <p:sp>
        <p:nvSpPr>
          <p:cNvPr id="24" name="Shape 22"/>
          <p:cNvSpPr/>
          <p:nvPr/>
        </p:nvSpPr>
        <p:spPr>
          <a:xfrm>
            <a:off x="4709160" y="1078992"/>
            <a:ext cx="4160520" cy="9144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17043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Divisive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00600" y="166420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 (Less Common)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121408"/>
            <a:ext cx="3886200" cy="658368"/>
          </a:xfrm>
          <a:prstGeom prst="roundRect">
            <a:avLst>
              <a:gd name="adj" fmla="val 9722"/>
            </a:avLst>
          </a:prstGeom>
          <a:solidFill>
            <a:srgbClr val="E8D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18541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221284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all in one cluster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26480" y="2779776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2944368"/>
            <a:ext cx="38862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00837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     CD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95160" y="303580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two groups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26480" y="3602736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3767328"/>
            <a:ext cx="38862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83133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B     C  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95160" y="385876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again into individuals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Algorithm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1704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673352"/>
            <a:ext cx="1463040" cy="3200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71907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Distance Matrix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1572768"/>
            <a:ext cx="201168" cy="365760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0972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6C3483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1704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697480" y="1673352"/>
            <a:ext cx="1463040" cy="3200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71907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= One Cluster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1572768"/>
            <a:ext cx="201168" cy="365760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0972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1704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846320" y="1673352"/>
            <a:ext cx="1463040" cy="3200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71907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Two Closest Clusters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37960" y="1572768"/>
            <a:ext cx="201168" cy="365760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10972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11704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995160" y="1673352"/>
            <a:ext cx="1463040" cy="3200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71907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2487168"/>
            <a:ext cx="365760" cy="347472"/>
          </a:xfrm>
          <a:prstGeom prst="down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2944368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17A65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846320" y="3520440"/>
            <a:ext cx="1463040" cy="3200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56616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Distances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37960" y="3419856"/>
            <a:ext cx="201168" cy="365760"/>
          </a:xfrm>
          <a:prstGeom prst="lef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68880" y="2944368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2468880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2697480" y="3520440"/>
            <a:ext cx="1463040" cy="3200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468880" y="356616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One Cluster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0" y="3419856"/>
            <a:ext cx="201168" cy="365760"/>
          </a:xfrm>
          <a:prstGeom prst="lef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2944368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548640" y="3520440"/>
            <a:ext cx="1463040" cy="3200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356616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Dendrogram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Dendrogram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dendrogram is a tree diagram that visually shows how clusters are merged step by step during hierarchical clustering.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32688" y="3904488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251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64208" y="3904488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4251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61488" y="3904488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4251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93008" y="3904488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4251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90288" y="3904488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4251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3520440"/>
            <a:ext cx="27432" cy="54864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7" name="Shape 15"/>
          <p:cNvSpPr/>
          <p:nvPr/>
        </p:nvSpPr>
        <p:spPr>
          <a:xfrm>
            <a:off x="1828800" y="3520440"/>
            <a:ext cx="27432" cy="54864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7280" y="3520440"/>
            <a:ext cx="758952" cy="32004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2918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AB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26080" y="3520440"/>
            <a:ext cx="27432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0" y="3520440"/>
            <a:ext cx="27432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926080" y="3520440"/>
            <a:ext cx="758952" cy="320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2651760" y="32918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463040" y="2834640"/>
            <a:ext cx="27432" cy="69494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5" name="Shape 23"/>
          <p:cNvSpPr/>
          <p:nvPr/>
        </p:nvSpPr>
        <p:spPr>
          <a:xfrm>
            <a:off x="3291840" y="2834640"/>
            <a:ext cx="27432" cy="69494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Shape 24"/>
          <p:cNvSpPr/>
          <p:nvPr/>
        </p:nvSpPr>
        <p:spPr>
          <a:xfrm>
            <a:off x="1463040" y="2834640"/>
            <a:ext cx="1856232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7" name="Text 25"/>
          <p:cNvSpPr/>
          <p:nvPr/>
        </p:nvSpPr>
        <p:spPr>
          <a:xfrm>
            <a:off x="1554480" y="25786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ABCD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2194560"/>
            <a:ext cx="27432" cy="1874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9" name="Shape 27"/>
          <p:cNvSpPr/>
          <p:nvPr/>
        </p:nvSpPr>
        <p:spPr>
          <a:xfrm>
            <a:off x="2377440" y="2194560"/>
            <a:ext cx="27432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Shape 28"/>
          <p:cNvSpPr/>
          <p:nvPr/>
        </p:nvSpPr>
        <p:spPr>
          <a:xfrm>
            <a:off x="2377440" y="2194560"/>
            <a:ext cx="2404872" cy="3657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0" y="19385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Merged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303520" y="187452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EEF2F7"/>
          </a:solidFill>
          <a:ln/>
        </p:spPr>
      </p:sp>
      <p:sp>
        <p:nvSpPr>
          <p:cNvPr id="33" name="Text 31"/>
          <p:cNvSpPr/>
          <p:nvPr/>
        </p:nvSpPr>
        <p:spPr>
          <a:xfrm>
            <a:off x="5413248" y="1920240"/>
            <a:ext cx="34015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Visualize the clustering process step by step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303520" y="2715768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EEF2F7"/>
          </a:solidFill>
          <a:ln/>
        </p:spPr>
      </p:sp>
      <p:sp>
        <p:nvSpPr>
          <p:cNvPr id="35" name="Text 33"/>
          <p:cNvSpPr/>
          <p:nvPr/>
        </p:nvSpPr>
        <p:spPr>
          <a:xfrm>
            <a:off x="5413248" y="2761488"/>
            <a:ext cx="34015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Cut horizontally to decide optimal number of clusters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303520" y="3557016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EEF2F7"/>
          </a:solidFill>
          <a:ln/>
        </p:spPr>
      </p:sp>
      <p:sp>
        <p:nvSpPr>
          <p:cNvPr id="37" name="Text 35"/>
          <p:cNvSpPr/>
          <p:nvPr/>
        </p:nvSpPr>
        <p:spPr>
          <a:xfrm>
            <a:off x="5413248" y="3602736"/>
            <a:ext cx="34015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Understand relationships between data points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03520" y="155448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of Dendrogram: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Linkage Methods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1155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 methods define how the distance between two clusters is calculated during merging.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8595360" cy="658368"/>
          </a:xfrm>
          <a:prstGeom prst="roundRect">
            <a:avLst>
              <a:gd name="adj" fmla="val 9722"/>
            </a:avLst>
          </a:prstGeom>
          <a:solidFill>
            <a:srgbClr val="F8FA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783080"/>
            <a:ext cx="109728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85623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Linkage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187452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distance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17720" y="18745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nearest points between clusters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78040" y="187452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Irregular-shaped clusters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532888"/>
            <a:ext cx="8595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32888"/>
            <a:ext cx="109728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60604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Linkage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62432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distance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17720" y="26243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farthest points between clusters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78040" y="262432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Compact clusters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282696"/>
            <a:ext cx="8595360" cy="658368"/>
          </a:xfrm>
          <a:prstGeom prst="roundRect">
            <a:avLst>
              <a:gd name="adj" fmla="val 9722"/>
            </a:avLst>
          </a:prstGeom>
          <a:solidFill>
            <a:srgbClr val="F8FA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282696"/>
            <a:ext cx="109728" cy="6583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35584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Linkage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14600" y="337413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all pairwise dist.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17720" y="337413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average distance between all point pairs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78040" y="337413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Balanced clustering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032504"/>
            <a:ext cx="8595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032504"/>
            <a:ext cx="109728" cy="65836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105656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Linkage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14600" y="412394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variance increase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17720" y="412394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clusters with smallest increase in within-cluster variance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78040" y="4123944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Compact, balanced (most common)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15361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14600" y="15361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17720" y="15361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78040" y="153619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1764792"/>
            <a:ext cx="8595360" cy="22860"/>
          </a:xfrm>
          <a:prstGeom prst="rect">
            <a:avLst/>
          </a:prstGeom>
          <a:solidFill>
            <a:srgbClr val="6C3483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  &amp;  ⚠️  Disadvantages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4114800" cy="3611880"/>
          </a:xfrm>
          <a:prstGeom prst="roundRect">
            <a:avLst>
              <a:gd name="adj" fmla="val 2532"/>
            </a:avLst>
          </a:prstGeom>
          <a:solidFill>
            <a:srgbClr val="E8F5E9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78992"/>
            <a:ext cx="4114800" cy="7315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704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783080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87452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856232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choose number of clusters beforehand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441448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53288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2514600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interpret using a dendrogram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099816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191256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3172968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with small datasets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758184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849624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3831336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identify nested (hierarchical) clusters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4416552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4507992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" y="4489704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— supports multiple distance metrics &amp; linkage methods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078992"/>
            <a:ext cx="4114800" cy="3611880"/>
          </a:xfrm>
          <a:prstGeom prst="roundRect">
            <a:avLst>
              <a:gd name="adj" fmla="val 2532"/>
            </a:avLst>
          </a:prstGeom>
          <a:solidFill>
            <a:srgbClr val="FDECEA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1078992"/>
            <a:ext cx="41148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1704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Disadvantages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92040" y="1783080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187452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85232" y="1856232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expensive for large datasets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2441448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253288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85232" y="2514600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noise and outliers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3099816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3191256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85232" y="3172968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clusters are merged — decision cannot be undone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92040" y="3758184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3849624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85232" y="3831336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K-Means algorithm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92040" y="4416552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4507992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85232" y="4489704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gets hard to read on large datasets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Hierarchical Clustering  vs  K-Means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2560320" cy="576072"/>
          </a:xfrm>
          <a:prstGeom prst="rect">
            <a:avLst/>
          </a:prstGeom>
          <a:solidFill>
            <a:srgbClr val="0D1B2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52144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34640" y="1078992"/>
            <a:ext cx="3017520" cy="576072"/>
          </a:xfrm>
          <a:prstGeom prst="rect">
            <a:avLst/>
          </a:prstGeom>
          <a:solidFill>
            <a:srgbClr val="02809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152144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1078992"/>
            <a:ext cx="3017520" cy="576072"/>
          </a:xfrm>
          <a:prstGeom prst="rect">
            <a:avLst/>
          </a:prstGeom>
          <a:solidFill>
            <a:srgbClr val="6C348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152144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00784"/>
            <a:ext cx="25603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73936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Required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1700784"/>
            <a:ext cx="3017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177393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— auto discovered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1700784"/>
            <a:ext cx="3017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77393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 — must specify 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322576"/>
            <a:ext cx="2560320" cy="576072"/>
          </a:xfrm>
          <a:prstGeom prst="rect">
            <a:avLst/>
          </a:prstGeom>
          <a:solidFill>
            <a:srgbClr val="F8FA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9572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34640" y="2322576"/>
            <a:ext cx="3017520" cy="576072"/>
          </a:xfrm>
          <a:prstGeom prst="rect">
            <a:avLst/>
          </a:prstGeom>
          <a:solidFill>
            <a:srgbClr val="F8FA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239572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+ Cluster labels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0" y="2322576"/>
            <a:ext cx="3017520" cy="576072"/>
          </a:xfrm>
          <a:prstGeom prst="rect">
            <a:avLst/>
          </a:prstGeom>
          <a:solidFill>
            <a:srgbClr val="F8FA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239572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labels only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944368"/>
            <a:ext cx="25603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1752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Formation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34640" y="2944368"/>
            <a:ext cx="3017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3017520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/ Split hierarchy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2944368"/>
            <a:ext cx="3017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3017520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Centroid-based assignment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566160"/>
            <a:ext cx="2560320" cy="576072"/>
          </a:xfrm>
          <a:prstGeom prst="rect">
            <a:avLst/>
          </a:prstGeom>
          <a:solidFill>
            <a:srgbClr val="F8FA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63931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34640" y="3566160"/>
            <a:ext cx="3017520" cy="576072"/>
          </a:xfrm>
          <a:prstGeom prst="rect">
            <a:avLst/>
          </a:prstGeom>
          <a:solidFill>
            <a:srgbClr val="F8FA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3639312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to medium datasets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52160" y="3566160"/>
            <a:ext cx="3017520" cy="576072"/>
          </a:xfrm>
          <a:prstGeom prst="rect">
            <a:avLst/>
          </a:prstGeom>
          <a:solidFill>
            <a:srgbClr val="F8FA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3639312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187952"/>
            <a:ext cx="25603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261104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34640" y="4187952"/>
            <a:ext cx="3017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4261104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 (O n²)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52160" y="4187952"/>
            <a:ext cx="3017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4261104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 (O n)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809744"/>
            <a:ext cx="2560320" cy="576072"/>
          </a:xfrm>
          <a:prstGeom prst="rect">
            <a:avLst/>
          </a:prstGeom>
          <a:solidFill>
            <a:srgbClr val="F8FA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82896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Merges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834640" y="4809744"/>
            <a:ext cx="3017520" cy="576072"/>
          </a:xfrm>
          <a:prstGeom prst="rect">
            <a:avLst/>
          </a:prstGeom>
          <a:solidFill>
            <a:srgbClr val="F8FA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0" y="488289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— irreversible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852160" y="4809744"/>
            <a:ext cx="3017520" cy="576072"/>
          </a:xfrm>
          <a:prstGeom prst="rect">
            <a:avLst/>
          </a:prstGeom>
          <a:solidFill>
            <a:srgbClr val="F8FA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0" y="488289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5431536"/>
            <a:ext cx="25603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550468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834640" y="5431536"/>
            <a:ext cx="3017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26080" y="550468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Rich dendrogram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852160" y="5431536"/>
            <a:ext cx="3017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0" y="550468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built-in tree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Applications  &amp;  🐍  Python Functions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0789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36192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609344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Customer Segmentation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219456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2267712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 Clustering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852928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292608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Gene / DNA Analysis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511296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358444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Image Segmentation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1536192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2496312" y="1609344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 Product Recommendation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23160" y="219456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/>
        </p:spPr>
      </p:sp>
      <p:sp>
        <p:nvSpPr>
          <p:cNvPr id="16" name="Text 14"/>
          <p:cNvSpPr/>
          <p:nvPr/>
        </p:nvSpPr>
        <p:spPr>
          <a:xfrm>
            <a:off x="2496312" y="2267712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Social Network Analysis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2852928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2496312" y="292608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 Performance Grouping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78992"/>
            <a:ext cx="4206240" cy="3611880"/>
          </a:xfrm>
          <a:prstGeom prst="roundRect">
            <a:avLst>
              <a:gd name="adj" fmla="val 2532"/>
            </a:avLst>
          </a:prstGeom>
          <a:solidFill>
            <a:srgbClr val="1A2535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17043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Functions in Python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166420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scipy.cluster.hierarchy import \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0" y="186537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linkage, dendrogram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20665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\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226771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AgglomerativeClustering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24688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0" y="267004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1: Linkage matrix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287121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linkage(X_scaled, method='ward')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0" y="307238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327355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2: Plot dendrogram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347472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dendrogram(Z)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36758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0" y="387705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0" y="407822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3: Assign cluster labels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0" y="427939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AgglomerativeClustering(n_clusters=3)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0" y="44805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model.fit_predict(X_scaled)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6C3483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70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14600" y="1170432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similar data points into a tree-like hierarchy of clusters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00784"/>
            <a:ext cx="82296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77393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14600" y="1773936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(Bottom-Up) ✅  |  Divisive (Top-Down)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82296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77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14600" y="237744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Matrix → Merge Closest → Recompute → Repeat → Dendrogram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07792"/>
            <a:ext cx="82296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9809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14600" y="298094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 |  Complete  |  Average  |  Ward (most common)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11296"/>
            <a:ext cx="82296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5844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14600" y="3584448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(straight line)  |  Manhattan (grid-based)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1879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514600" y="4187952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+ Cluster assignments for each data point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718304"/>
            <a:ext cx="82296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7914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514600" y="4791456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 required, visual dendrogram, flexible metrics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321808"/>
            <a:ext cx="82296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5394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514600" y="539496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on large data, outlier-sensitive, irreversible merges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2026-06-29T02:50:41Z</dcterms:created>
  <dcterms:modified xsi:type="dcterms:W3CDTF">2026-06-29T02:50:41Z</dcterms:modified>
</cp:coreProperties>
</file>