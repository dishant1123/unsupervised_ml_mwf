
<file path=[Content_Types].xml><?xml version="1.0" encoding="utf-8"?>
<Types xmlns="http://schemas.openxmlformats.org/package/2006/content-types">
  <Default Extension="xml" ContentType="application/xml"/>
  <Default Extension="rels" ContentType="application/vnd.openxmlformats-package.relationships+xml"/>
  <Default Extension="jpeg" ContentType="image/jpeg"/>
  <Default Extension="jpg" ContentType="image/jpg"/>
  <Default Extension="svg" ContentType="image/svg+xml"/>
  <Default Extension="png" ContentType="image/png"/>
  <Default Extension="gif" ContentType="image/gif"/>
  <Default Extension="m4v" ContentType="video/mp4"/>
  <Default Extension="mp4" ContentType="video/mp4"/>
  <Default Extension="vml" ContentType="application/vnd.openxmlformats-officedocument.vmlDrawing"/>
  <Default Extension="xlsx" ContentType="application/vnd.openxmlformats-officedocument.spreadsheetml.sheet"/>
  <Override PartName="/ppt/presentation.xml" ContentType="application/vnd.openxmlformats-officedocument.presentationml.presentation.main+xml"/>
  <Override PartName="/ppt/notesMasters/notesMaster1.xml" ContentType="application/vnd.openxmlformats-officedocument.presentationml.notesMaster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Masters/slideMaster2.xml" ContentType="application/vnd.openxmlformats-officedocument.presentationml.slideMaster+xml"/>
  <Override PartName="/ppt/slides/slide2.xml" ContentType="application/vnd.openxmlformats-officedocument.presentationml.slide+xml"/>
  <Override PartName="/ppt/slideMasters/slideMaster3.xml" ContentType="application/vnd.openxmlformats-officedocument.presentationml.slideMaster+xml"/>
  <Override PartName="/ppt/slides/slide3.xml" ContentType="application/vnd.openxmlformats-officedocument.presentationml.slide+xml"/>
  <Override PartName="/ppt/slideMasters/slideMaster4.xml" ContentType="application/vnd.openxmlformats-officedocument.presentationml.slideMaster+xml"/>
  <Override PartName="/ppt/slides/slide4.xml" ContentType="application/vnd.openxmlformats-officedocument.presentationml.slide+xml"/>
  <Override PartName="/ppt/slideMasters/slideMaster5.xml" ContentType="application/vnd.openxmlformats-officedocument.presentationml.slideMaster+xml"/>
  <Override PartName="/ppt/slides/slide5.xml" ContentType="application/vnd.openxmlformats-officedocument.presentationml.slide+xml"/>
  <Override PartName="/ppt/slideMasters/slideMaster6.xml" ContentType="application/vnd.openxmlformats-officedocument.presentationml.slideMaster+xml"/>
  <Override PartName="/ppt/slides/slide6.xml" ContentType="application/vnd.openxmlformats-officedocument.presentationml.slide+xml"/>
  <Override PartName="/ppt/slideMasters/slideMaster7.xml" ContentType="application/vnd.openxmlformats-officedocument.presentationml.slideMaster+xml"/>
  <Override PartName="/ppt/slides/slide7.xml" ContentType="application/vnd.openxmlformats-officedocument.presentationml.slide+xml"/>
  <Override PartName="/ppt/slideMasters/slideMaster8.xml" ContentType="application/vnd.openxmlformats-officedocument.presentationml.slideMaster+xml"/>
  <Override PartName="/ppt/slides/slide8.xml" ContentType="application/vnd.openxmlformats-officedocument.presentationml.slide+xml"/>
  <Override PartName="/ppt/slideMasters/slideMaster9.xml" ContentType="application/vnd.openxmlformats-officedocument.presentationml.slideMaster+xml"/>
  <Override PartName="/ppt/slides/slide9.xml" ContentType="application/vnd.openxmlformats-officedocument.presentationml.slide+xml"/>
  <Override PartName="/ppt/slideMasters/slideMaster10.xml" ContentType="application/vnd.openxmlformats-officedocument.presentationml.slideMaster+xml"/>
  <Override PartName="/ppt/slides/slide10.xml" ContentType="application/vnd.openxmlformats-officedocument.presentationml.slide+xml"/>
  <Override PartName="/ppt/slideMasters/slideMaster11.xml" ContentType="application/vnd.openxmlformats-officedocument.presentationml.slideMaster+xml"/>
  <Override PartName="/ppt/slides/slide11.xml" ContentType="application/vnd.openxmlformats-officedocument.presentationml.slide+xml"/>
  <Override PartName="/ppt/slideMasters/slideMaster12.xml" ContentType="application/vnd.openxmlformats-officedocument.presentationml.slideMaster+xml"/>
  <Override PartName="/ppt/slides/slide12.xml" ContentType="application/vnd.openxmlformats-officedocument.presentationml.slide+xml"/>
  <Override PartName="/ppt/slideMasters/slideMaster13.xml" ContentType="application/vnd.openxmlformats-officedocument.presentationml.slideMaster+xml"/>
  <Override PartName="/ppt/slides/slide13.xml" ContentType="application/vnd.openxmlformats-officedocument.presentationml.slide+xml"/>
  <Override PartName="/ppt/slideMasters/slideMaster14.xml" ContentType="application/vnd.openxmlformats-officedocument.presentationml.slideMaster+xml"/>
  <Override PartName="/ppt/slides/slide14.xml" ContentType="application/vnd.openxmlformats-officedocument.presentationml.slide+xml"/>
  <Override PartName="/ppt/slideMasters/slideMaster15.xml" ContentType="application/vnd.openxmlformats-officedocument.presentationml.slideMaster+xml"/>
  <Override PartName="/ppt/slides/slide15.xml" ContentType="application/vnd.openxmlformats-officedocument.presentationml.slide+xml"/>
  <Override PartName="/ppt/slideMasters/slideMaster16.xml" ContentType="application/vnd.openxmlformats-officedocument.presentationml.slideMaster+xml"/>
  <Override PartName="/ppt/slides/slide16.xml" ContentType="application/vnd.openxmlformats-officedocument.presentationml.slide+xml"/>
  <Override PartName="/ppt/slideMasters/slideMaster17.xml" ContentType="application/vnd.openxmlformats-officedocument.presentationml.slideMaster+xml"/>
  <Override PartName="/ppt/slides/slide17.xml" ContentType="application/vnd.openxmlformats-officedocument.presentationml.slide+xml"/>
  <Override PartName="/ppt/slideMasters/slideMaster18.xml" ContentType="application/vnd.openxmlformats-officedocument.presentationml.slideMaster+xml"/>
  <Override PartName="/ppt/slides/slide18.xml" ContentType="application/vnd.openxmlformats-officedocument.presentationml.slide+xml"/>
  <Override PartName="/ppt/slideMasters/slideMaster19.xml" ContentType="application/vnd.openxmlformats-officedocument.presentationml.slideMaster+xml"/>
  <Override PartName="/ppt/slides/slide19.xml" ContentType="application/vnd.openxmlformats-officedocument.presentationml.slide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notesSlides/notesSlide1.xml" ContentType="application/vnd.openxmlformats-officedocument.presentationml.notesSlide+xml"/>
  <Override PartName="/ppt/notesSlides/notesSlide2.xml" ContentType="application/vnd.openxmlformats-officedocument.presentationml.notesSlide+xml"/>
  <Override PartName="/ppt/notesSlides/notesSlide3.xml" ContentType="application/vnd.openxmlformats-officedocument.presentationml.notesSlide+xml"/>
  <Override PartName="/ppt/notesSlides/notesSlide4.xml" ContentType="application/vnd.openxmlformats-officedocument.presentationml.notesSlide+xml"/>
  <Override PartName="/ppt/notesSlides/notesSlide5.xml" ContentType="application/vnd.openxmlformats-officedocument.presentationml.notesSlide+xml"/>
  <Override PartName="/ppt/notesSlides/notesSlide6.xml" ContentType="application/vnd.openxmlformats-officedocument.presentationml.notesSlide+xml"/>
  <Override PartName="/ppt/notesSlides/notesSlide7.xml" ContentType="application/vnd.openxmlformats-officedocument.presentationml.notesSlide+xml"/>
  <Override PartName="/ppt/notesSlides/notesSlide8.xml" ContentType="application/vnd.openxmlformats-officedocument.presentationml.notesSlide+xml"/>
  <Override PartName="/ppt/notesSlides/notesSlide9.xml" ContentType="application/vnd.openxmlformats-officedocument.presentationml.notesSlide+xml"/>
  <Override PartName="/ppt/notesSlides/notesSlide10.xml" ContentType="application/vnd.openxmlformats-officedocument.presentationml.notesSlide+xml"/>
  <Override PartName="/ppt/notesSlides/notesSlide11.xml" ContentType="application/vnd.openxmlformats-officedocument.presentationml.notesSlide+xml"/>
  <Override PartName="/ppt/notesSlides/notesSlide12.xml" ContentType="application/vnd.openxmlformats-officedocument.presentationml.notesSlide+xml"/>
  <Override PartName="/ppt/notesSlides/notesSlide13.xml" ContentType="application/vnd.openxmlformats-officedocument.presentationml.notesSlide+xml"/>
  <Override PartName="/ppt/notesSlides/notesSlide14.xml" ContentType="application/vnd.openxmlformats-officedocument.presentationml.notesSlide+xml"/>
  <Override PartName="/ppt/notesSlides/notesSlide15.xml" ContentType="application/vnd.openxmlformats-officedocument.presentationml.notesSlide+xml"/>
  <Override PartName="/ppt/notesSlides/notesSlide16.xml" ContentType="application/vnd.openxmlformats-officedocument.presentationml.notesSlide+xml"/>
  <Override PartName="/ppt/notesSlides/notesSlide17.xml" ContentType="application/vnd.openxmlformats-officedocument.presentationml.notesSlide+xml"/>
  <Override PartName="/ppt/notesSlides/notesSlide18.xml" ContentType="application/vnd.openxmlformats-officedocument.presentationml.notesSlide+xml"/>
  <Override PartName="/ppt/notesSlides/notesSlide19.xml" ContentType="application/vnd.openxmlformats-officedocument.presentationml.notesSlide+xml"/>
  <Override PartName="/docProps/core.xml" ContentType="application/vnd.openxmlformats-package.core-properties+xml"/>
  <Override PartName="/docProps/app.xml" ContentType="application/vnd.openxmlformats-officedocument.extended-properties+xml"/>
</Types>
</file>

<file path=_rels/.rels><?xml version="1.0" encoding="UTF-8" standalone="yes"?>
<Relationships xmlns="http://schemas.openxmlformats.org/package/2006/relationships">
		<Relationship Id="rId1" Type="http://schemas.openxmlformats.org/officeDocument/2006/relationships/extended-properties" Target="docProps/app.xml"/>
		<Relationship Id="rId2" Type="http://schemas.openxmlformats.org/package/2006/relationships/metadata/core-properties" Target="docProps/core.xml"/>
		<Relationship Id="rId3" Type="http://schemas.openxmlformats.org/officeDocument/2006/relationships/officeDocument" Target="ppt/presentation.xml"/>
		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48" r:id="rId1"/>
  </p:sldMasterIdLst>
  <p:sldIdLst>
    <p:sldId id="256" r:id="rId2"/>
    <p:sldId id="257" r:id="rId3"/>
    <p:sldId id="258" r:id="rId4"/>
    <p:sldId id="259" r:id="rId5"/>
    <p:sldId id="260" r:id="rId6"/>
    <p:sldId id="261" r:id="rId7"/>
    <p:sldId id="262" r:id="rId8"/>
    <p:sldId id="263" r:id="rId9"/>
    <p:sldId id="264" r:id="rId10"/>
    <p:sldId id="265" r:id="rId11"/>
    <p:sldId id="266" r:id="rId12"/>
    <p:sldId id="267" r:id="rId13"/>
    <p:sldId id="268" r:id="rId14"/>
    <p:sldId id="269" r:id="rId15"/>
    <p:sldId id="270" r:id="rId16"/>
    <p:sldId id="271" r:id="rId17"/>
    <p:sldId id="272" r:id="rId18"/>
    <p:sldId id="273" r:id="rId19"/>
    <p:sldId id="274" r:id="rId20"/>
  </p:sldIdLst>
  <p:notesMasterIdLst>
    <p:notesMasterId r:id="rId21"/>
  </p:notesMasterIdLst>
  <p:sldSz cx="12192000" cy="6858000"/>
  <p:notesSz cx="6858000" cy="12192000"/>
  <p:defaultTextStyle>
    <a:lvl1pPr marL="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/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>
  <p:normalViewPr horzBarState="maximized">
    <p:restoredLeft sz="15611"/>
    <p:restoredTop sz="94610"/>
  </p:normalViewPr>
  <p:slideViewPr>
    <p:cSldViewPr snapToGrid="0" snapToObjects="1">
      <p:cViewPr varScale="1">
        <p:scale>
          <a:sx n="136" d="100"/>
          <a:sy n="136" d="100"/>
        </p:scale>
        <p:origin x="216" y="312"/>
      </p:cViewPr>
      <p:guideLst/>
    </p:cSldViewPr>
  </p:slideViewPr>
  <p:notesTextViewPr>
    <p:cViewPr>
      <p:scale>
        <a:sx n="1" d="1"/>
        <a:sy n="1" d="1"/>
      </p:scale>
      <p:origin x="0" y="0"/>
    </p:cViewPr>
  </p:notesTextViewPr>
  <p:gridSpacing cx="76200" cy="76200"/>
</p:viewPr>
</file>

<file path=ppt/_rels/presentation.xml.rels><?xml version="1.0" encoding="UTF-8" standalone="yes"?>
<Relationships xmlns="http://schemas.openxmlformats.org/package/2006/relationships"><Relationship Id="rId1" Type="http://schemas.openxmlformats.org/officeDocument/2006/relationships/slideMaster" Target="slideMasters/slideMaster1.xml"/><Relationship Id="rId2" Type="http://schemas.openxmlformats.org/officeDocument/2006/relationships/slide" Target="slides/slide1.xml"/><Relationship Id="rId3" Type="http://schemas.openxmlformats.org/officeDocument/2006/relationships/slide" Target="slides/slide2.xml"/><Relationship Id="rId4" Type="http://schemas.openxmlformats.org/officeDocument/2006/relationships/slide" Target="slides/slide3.xml"/><Relationship Id="rId5" Type="http://schemas.openxmlformats.org/officeDocument/2006/relationships/slide" Target="slides/slide4.xml"/><Relationship Id="rId6" Type="http://schemas.openxmlformats.org/officeDocument/2006/relationships/slide" Target="slides/slide5.xml"/><Relationship Id="rId7" Type="http://schemas.openxmlformats.org/officeDocument/2006/relationships/slide" Target="slides/slide6.xml"/><Relationship Id="rId8" Type="http://schemas.openxmlformats.org/officeDocument/2006/relationships/slide" Target="slides/slide7.xml"/><Relationship Id="rId9" Type="http://schemas.openxmlformats.org/officeDocument/2006/relationships/slide" Target="slides/slide8.xml"/><Relationship Id="rId10" Type="http://schemas.openxmlformats.org/officeDocument/2006/relationships/slide" Target="slides/slide9.xml"/><Relationship Id="rId11" Type="http://schemas.openxmlformats.org/officeDocument/2006/relationships/slide" Target="slides/slide10.xml"/><Relationship Id="rId12" Type="http://schemas.openxmlformats.org/officeDocument/2006/relationships/slide" Target="slides/slide11.xml"/><Relationship Id="rId13" Type="http://schemas.openxmlformats.org/officeDocument/2006/relationships/slide" Target="slides/slide12.xml"/><Relationship Id="rId14" Type="http://schemas.openxmlformats.org/officeDocument/2006/relationships/slide" Target="slides/slide13.xml"/><Relationship Id="rId15" Type="http://schemas.openxmlformats.org/officeDocument/2006/relationships/slide" Target="slides/slide14.xml"/><Relationship Id="rId16" Type="http://schemas.openxmlformats.org/officeDocument/2006/relationships/slide" Target="slides/slide15.xml"/><Relationship Id="rId17" Type="http://schemas.openxmlformats.org/officeDocument/2006/relationships/slide" Target="slides/slide16.xml"/><Relationship Id="rId18" Type="http://schemas.openxmlformats.org/officeDocument/2006/relationships/slide" Target="slides/slide17.xml"/><Relationship Id="rId19" Type="http://schemas.openxmlformats.org/officeDocument/2006/relationships/slide" Target="slides/slide18.xml"/><Relationship Id="rId20" Type="http://schemas.openxmlformats.org/officeDocument/2006/relationships/slide" Target="slides/slide19.xml"/><Relationship Id="rId21" Type="http://schemas.openxmlformats.org/officeDocument/2006/relationships/notesMaster" Target="notesMasters/notesMaster1.xml"/><Relationship Id="rId22" Type="http://schemas.openxmlformats.org/officeDocument/2006/relationships/presProps" Target="presProps.xml"/><Relationship Id="rId23" Type="http://schemas.openxmlformats.org/officeDocument/2006/relationships/viewProps" Target="viewProps.xml"/><Relationship Id="rId24" Type="http://schemas.openxmlformats.org/officeDocument/2006/relationships/theme" Target="theme/theme1.xml"/><Relationship Id="rId25" Type="http://schemas.openxmlformats.org/officeDocument/2006/relationships/tableStyles" Target="tableStyles.xml"/></Relationships>
</file>

<file path=ppt/notesMasters/_rels/notesMaster1.xml.rels><?xml version="1.0" encoding="UTF-8" standalone="yes"?>
<Relationships xmlns="http://schemas.openxmlformats.org/package/2006/relationships">
		<Relationship Id="rId1" Type="http://schemas.openxmlformats.org/officeDocument/2006/relationships/theme" Target="../theme/theme1.xml"/>
		</Relationships>
</file>

<file path=ppt/notesMasters/notesMaster1.xml><?xml version="1.0" encoding="utf-8"?>
<p:notes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Header Placeholder 1"/>
          <p:cNvSpPr>
            <a:spLocks noGrp="1"/>
          </p:cNvSpPr>
          <p:nvPr>
            <p:ph type="hdr" sz="quarter"/>
          </p:nvPr>
        </p:nvSpPr>
        <p:spPr>
          <a:xfrm>
            <a:off x="0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idx="1"/>
          </p:nvPr>
        </p:nvSpPr>
        <p:spPr>
          <a:xfrm>
            <a:off x="3884613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r">
              <a:defRPr sz="1200"/>
            </a:lvl1pPr>
          </a:lstStyle>
          <a:p>
            <a:fld id="{5282F153-3F37-0F45-9E97-73ACFA13230C}" type="datetimeFigureOut">
              <a:rPr lang="en-US"/>
              <a:t>7/23/19</a:t>
            </a:fld>
            <a:endParaRPr lang="en-US"/>
          </a:p>
        </p:txBody>
      </p:sp>
      <p:sp>
        <p:nvSpPr>
          <p:cNvPr id="4" name="Slide Image Placeholder 3"/>
          <p:cNvSpPr>
            <a:spLocks noGrp="1" noRot="1" noChangeAspect="1"/>
          </p:cNvSpPr>
          <p:nvPr>
            <p:ph type="sldImg" idx="2"/>
          </p:nvPr>
        </p:nvSpPr>
        <p:spPr>
          <a:xfrm>
            <a:off x="685800" y="1143000"/>
            <a:ext cx="5486400" cy="3086100"/>
          </a:xfrm>
          <a:prstGeom prst="rect">
            <a:avLst/>
          </a:prstGeom>
          <a:noFill/>
          <a:ln w="12700">
            <a:solidFill>
              <a:prstClr val="black"/>
            </a:solidFill>
          </a:ln>
        </p:spPr>
        <p:txBody>
          <a:bodyPr vert="horz" lIns="91440" tIns="45720" rIns="91440" bIns="45720" rtlCol="0" anchor="ctr"/>
          <a:lstStyle/>
          <a:p>
            <a:endParaRPr lang="en-US"/>
          </a:p>
        </p:txBody>
      </p:sp>
      <p:sp>
        <p:nvSpPr>
          <p:cNvPr id="5" name="Notes Placeholder 4"/>
          <p:cNvSpPr>
            <a:spLocks noGrp="1"/>
          </p:cNvSpPr>
          <p:nvPr>
            <p:ph type="body" sz="quarter" idx="3"/>
          </p:nvPr>
        </p:nvSpPr>
        <p:spPr>
          <a:xfrm>
            <a:off x="685800" y="4400550"/>
            <a:ext cx="5486400" cy="3600450"/>
          </a:xfrm>
          <a:prstGeom prst="rect">
            <a:avLst/>
          </a:prstGeom>
        </p:spPr>
        <p:txBody>
          <a:bodyPr vert="horz" lIns="91440" tIns="45720" rIns="91440" bIns="45720" rtlCol="0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4"/>
          </p:nvPr>
        </p:nvSpPr>
        <p:spPr>
          <a:xfrm>
            <a:off x="0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5"/>
          </p:nvPr>
        </p:nvSpPr>
        <p:spPr>
          <a:xfrm>
            <a:off x="3884613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r">
              <a:defRPr sz="1200"/>
            </a:lvl1pPr>
          </a:lstStyle>
          <a:p>
            <a:fld id="{CE5E9CC1-C706-0F49-92D6-E571CC5EEA8F}" type="slidenum">
              <a:rPr lang="en-US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 bg1="lt1" tx1="dk1" bg2="lt2" tx2="dk2" accent1="accent1" accent2="accent2" accent3="accent3" accent4="accent4" accent5="accent5" accent6="accent6" hlink="hlink" folHlink="folHlink"/>
  <p:notesStyle>
    <a:lvl1pPr marL="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9pPr>
  </p:notesStyle>
</p:notesMaster>
</file>

<file path=ppt/notesSlides/_rels/notesSlide1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.xml"/>
		</Relationships>
</file>

<file path=ppt/notesSlides/_rels/notesSlide2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2.xml"/>
		</Relationships>
</file>

<file path=ppt/notesSlides/_rels/notesSlide3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3.xml"/>
		</Relationships>
</file>

<file path=ppt/notesSlides/_rels/notesSlide4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4.xml"/>
		</Relationships>
</file>

<file path=ppt/notesSlides/_rels/notesSlide5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5.xml"/>
		</Relationships>
</file>

<file path=ppt/notesSlides/_rels/notesSlide6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6.xml"/>
		</Relationships>
</file>

<file path=ppt/notesSlides/_rels/notesSlide7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7.xml"/>
		</Relationships>
</file>

<file path=ppt/notesSlides/_rels/notesSlide8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8.xml"/>
		</Relationships>
</file>

<file path=ppt/notesSlides/_rels/notesSlide9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9.xml"/>
		</Relationships>
</file>

<file path=ppt/notesSlides/_rels/notesSlide10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0.xml"/>
		</Relationships>
</file>

<file path=ppt/notesSlides/_rels/notesSlide11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1.xml"/>
		</Relationships>
</file>

<file path=ppt/notesSlides/_rels/notesSlide12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2.xml"/>
		</Relationships>
</file>

<file path=ppt/notesSlides/_rels/notesSlide13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3.xml"/>
		</Relationships>
</file>

<file path=ppt/notesSlides/_rels/notesSlide14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4.xml"/>
		</Relationships>
</file>

<file path=ppt/notesSlides/_rels/notesSlide15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5.xml"/>
		</Relationships>
</file>

<file path=ppt/notesSlides/_rels/notesSlide16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6.xml"/>
		</Relationships>
</file>

<file path=ppt/notesSlides/_rels/notesSlide17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7.xml"/>
		</Relationships>
</file>

<file path=ppt/notesSlides/_rels/notesSlide18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8.xml"/>
		</Relationships>
</file>

<file path=ppt/notesSlides/_rels/notesSlide19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9.xml"/>
		</Relationships>
</file>

<file path=ppt/notesSlides/notesSlide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2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3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3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4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4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5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5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6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6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7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7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8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8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9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9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0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10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11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12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3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13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4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14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5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15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6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16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7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17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8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18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9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19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DEFAULT"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theme" Target="../theme/theme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</p:sldLayoutIdLst>
  <p:hf sldNum="0" hdr="0" ftr="0" dt="0"/>
  <p:txStyles>
    <p:titleStyle>
      <a:lvl1pPr algn="ctr" defTabSz="9144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914400" rtl="0" eaLnBrk="1" latinLnBrk="0" hangingPunct="1">
        <a:spcBef>
          <a:spcPct val="20000"/>
        </a:spcBef>
        <a:buFont typeface="Arial" pitchFamily="34" charset="0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914400" rtl="0" eaLnBrk="1" latinLnBrk="0" hangingPunct="1">
        <a:spcBef>
          <a:spcPct val="20000"/>
        </a:spcBef>
        <a:buFont typeface="Arial" pitchFamily="34" charset="0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914400" rtl="0" eaLnBrk="1" latinLnBrk="0" hangingPunct="1">
        <a:spcBef>
          <a:spcPct val="20000"/>
        </a:spcBef>
        <a:buFont typeface="Arial" pitchFamily="34" charset="0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914400" rtl="0" eaLnBrk="1" latinLnBrk="0" hangingPunct="1">
        <a:spcBef>
          <a:spcPct val="20000"/>
        </a:spcBef>
        <a:buFont typeface="Arial" pitchFamily="34" charset="0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1.xml"/></Relationships>
</file>

<file path=ppt/slides/_rels/slide2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2.xml"/></Relationships>
</file>

<file path=ppt/slides/_rels/slide3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3.xml"/></Relationships>
</file>

<file path=ppt/slides/_rels/slide4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4.xml"/></Relationships>
</file>

<file path=ppt/slides/_rels/slide5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5.xml"/></Relationships>
</file>

<file path=ppt/slides/_rels/slide6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6.xml"/></Relationships>
</file>

<file path=ppt/slides/_rels/slide7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7.xml"/></Relationships>
</file>

<file path=ppt/slides/_rels/slide8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8.xml"/></Relationships>
</file>

<file path=ppt/slides/_rels/slide9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9.xml"/></Relationships>
</file>

<file path=ppt/slides/_rels/slide10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10.xml"/></Relationships>
</file>

<file path=ppt/slides/_rels/slide11.xml.rels><?xml version="1.0" encoding="UTF-8" standalone="yes"?>
<Relationships xmlns="http://schemas.openxmlformats.org/package/2006/relationships"><Relationship Id="rId1" Type="http://schemas.openxmlformats.org/officeDocument/2006/relationships/image" Target="../media/image-11-1.png"/><Relationship Id="rId2" Type="http://schemas.openxmlformats.org/officeDocument/2006/relationships/slideLayout" Target="../slideLayouts/slideLayout1.xml"/><Relationship Id="rId3" Type="http://schemas.openxmlformats.org/officeDocument/2006/relationships/notesSlide" Target="../notesSlides/notesSlide11.xml"/></Relationships>
</file>

<file path=ppt/slides/_rels/slide12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12.xml"/></Relationships>
</file>

<file path=ppt/slides/_rels/slide13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13.xml"/></Relationships>
</file>

<file path=ppt/slides/_rels/slide14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14.xml"/></Relationships>
</file>

<file path=ppt/slides/_rels/slide15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15.xml"/></Relationships>
</file>

<file path=ppt/slides/_rels/slide16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16.xml"/></Relationships>
</file>

<file path=ppt/slides/_rels/slide17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17.xml"/></Relationships>
</file>

<file path=ppt/slides/_rels/slide18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18.xml"/></Relationships>
</file>

<file path=ppt/slides/_rels/slide19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19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">
    <p:bg>
      <p:bgPr>
        <a:solidFill>
          <a:srgbClr val="1B1F3B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8869680" y="-914400"/>
            <a:ext cx="5029200" cy="5029200"/>
          </a:xfrm>
          <a:prstGeom prst="roundRect">
            <a:avLst>
              <a:gd name="adj" fmla="val 50000"/>
            </a:avLst>
          </a:prstGeom>
          <a:solidFill>
            <a:srgbClr val="252B52"/>
          </a:solidFill>
          <a:ln/>
        </p:spPr>
      </p:sp>
      <p:sp>
        <p:nvSpPr>
          <p:cNvPr id="3" name="Shape 1"/>
          <p:cNvSpPr/>
          <p:nvPr/>
        </p:nvSpPr>
        <p:spPr>
          <a:xfrm>
            <a:off x="9966960" y="3108960"/>
            <a:ext cx="3291840" cy="3291840"/>
          </a:xfrm>
          <a:prstGeom prst="roundRect">
            <a:avLst>
              <a:gd name="adj" fmla="val 50000"/>
            </a:avLst>
          </a:prstGeom>
          <a:solidFill>
            <a:srgbClr val="222752"/>
          </a:solidFill>
          <a:ln/>
        </p:spPr>
      </p:sp>
      <p:sp>
        <p:nvSpPr>
          <p:cNvPr id="4" name="Shape 2"/>
          <p:cNvSpPr/>
          <p:nvPr/>
        </p:nvSpPr>
        <p:spPr>
          <a:xfrm>
            <a:off x="640080" y="1051560"/>
            <a:ext cx="3566160" cy="347472"/>
          </a:xfrm>
          <a:prstGeom prst="roundRect">
            <a:avLst>
              <a:gd name="adj" fmla="val 50000"/>
            </a:avLst>
          </a:prstGeom>
          <a:solidFill>
            <a:srgbClr val="2A3060"/>
          </a:solidFill>
          <a:ln/>
        </p:spPr>
      </p:sp>
      <p:sp>
        <p:nvSpPr>
          <p:cNvPr id="5" name="Text 3"/>
          <p:cNvSpPr txBox="1"/>
          <p:nvPr/>
        </p:nvSpPr>
        <p:spPr>
          <a:xfrm>
            <a:off x="640080" y="1051560"/>
            <a:ext cx="3566160" cy="34747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100" b="1" spc="100" kern="0" dirty="0">
                <a:solidFill>
                  <a:srgbClr val="2EC4B6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DEEP LEARNING · SEQUENCE MODELS</a:t>
            </a:r>
            <a:endParaRPr lang="en-US" sz="1100" dirty="0"/>
          </a:p>
        </p:txBody>
      </p:sp>
      <p:sp>
        <p:nvSpPr>
          <p:cNvPr id="6" name="Text 4"/>
          <p:cNvSpPr txBox="1"/>
          <p:nvPr/>
        </p:nvSpPr>
        <p:spPr>
          <a:xfrm>
            <a:off x="640080" y="2331720"/>
            <a:ext cx="8503920" cy="12801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4800" b="1" dirty="0">
                <a:solidFill>
                  <a:srgbClr val="FFFFFF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Gated Recurrent Unit</a:t>
            </a:r>
            <a:endParaRPr lang="en-US" sz="4800" dirty="0"/>
          </a:p>
        </p:txBody>
      </p:sp>
      <p:sp>
        <p:nvSpPr>
          <p:cNvPr id="7" name="Text 5"/>
          <p:cNvSpPr txBox="1"/>
          <p:nvPr/>
        </p:nvSpPr>
        <p:spPr>
          <a:xfrm>
            <a:off x="640080" y="3474720"/>
            <a:ext cx="7132320" cy="7315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600" dirty="0">
                <a:solidFill>
                  <a:srgbClr val="AAB1D6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 simpler, faster alternative to LSTM for learning long-term dependencies in sequential data</a:t>
            </a:r>
            <a:endParaRPr lang="en-US" sz="1600" dirty="0"/>
          </a:p>
        </p:txBody>
      </p:sp>
      <p:sp>
        <p:nvSpPr>
          <p:cNvPr id="8" name="Shape 6"/>
          <p:cNvSpPr/>
          <p:nvPr/>
        </p:nvSpPr>
        <p:spPr>
          <a:xfrm>
            <a:off x="640080" y="4462272"/>
            <a:ext cx="45720" cy="292608"/>
          </a:xfrm>
          <a:prstGeom prst="rect">
            <a:avLst/>
          </a:prstGeom>
          <a:solidFill>
            <a:srgbClr val="2EC4B6"/>
          </a:solidFill>
          <a:ln/>
        </p:spPr>
      </p:sp>
      <p:sp>
        <p:nvSpPr>
          <p:cNvPr id="9" name="Text 7"/>
          <p:cNvSpPr txBox="1"/>
          <p:nvPr/>
        </p:nvSpPr>
        <p:spPr>
          <a:xfrm>
            <a:off x="822960" y="4434840"/>
            <a:ext cx="210312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00" b="1" spc="100" kern="0" dirty="0">
                <a:solidFill>
                  <a:srgbClr val="AAB1D6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ARCHITECTURE</a:t>
            </a:r>
            <a:endParaRPr lang="en-US" sz="1000" dirty="0"/>
          </a:p>
        </p:txBody>
      </p:sp>
      <p:sp>
        <p:nvSpPr>
          <p:cNvPr id="10" name="Text 8"/>
          <p:cNvSpPr txBox="1"/>
          <p:nvPr/>
        </p:nvSpPr>
        <p:spPr>
          <a:xfrm>
            <a:off x="2880360" y="4407408"/>
            <a:ext cx="457200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300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2 gates — Update &amp; Reset</a:t>
            </a:r>
            <a:endParaRPr lang="en-US" sz="1300" dirty="0"/>
          </a:p>
        </p:txBody>
      </p:sp>
      <p:sp>
        <p:nvSpPr>
          <p:cNvPr id="11" name="Shape 9"/>
          <p:cNvSpPr/>
          <p:nvPr/>
        </p:nvSpPr>
        <p:spPr>
          <a:xfrm>
            <a:off x="640080" y="4846320"/>
            <a:ext cx="45720" cy="292608"/>
          </a:xfrm>
          <a:prstGeom prst="rect">
            <a:avLst/>
          </a:prstGeom>
          <a:solidFill>
            <a:srgbClr val="2EC4B6"/>
          </a:solidFill>
          <a:ln/>
        </p:spPr>
      </p:sp>
      <p:sp>
        <p:nvSpPr>
          <p:cNvPr id="12" name="Text 10"/>
          <p:cNvSpPr txBox="1"/>
          <p:nvPr/>
        </p:nvSpPr>
        <p:spPr>
          <a:xfrm>
            <a:off x="822960" y="4818888"/>
            <a:ext cx="210312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00" b="1" spc="100" kern="0" dirty="0">
                <a:solidFill>
                  <a:srgbClr val="AAB1D6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BUILT ON</a:t>
            </a:r>
            <a:endParaRPr lang="en-US" sz="1000" dirty="0"/>
          </a:p>
        </p:txBody>
      </p:sp>
      <p:sp>
        <p:nvSpPr>
          <p:cNvPr id="13" name="Text 11"/>
          <p:cNvSpPr txBox="1"/>
          <p:nvPr/>
        </p:nvSpPr>
        <p:spPr>
          <a:xfrm>
            <a:off x="2880360" y="4791456"/>
            <a:ext cx="457200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300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Recurrent Neural Networks</a:t>
            </a:r>
            <a:endParaRPr lang="en-US" sz="1300" dirty="0"/>
          </a:p>
        </p:txBody>
      </p:sp>
      <p:sp>
        <p:nvSpPr>
          <p:cNvPr id="14" name="Shape 12"/>
          <p:cNvSpPr/>
          <p:nvPr/>
        </p:nvSpPr>
        <p:spPr>
          <a:xfrm>
            <a:off x="640080" y="5230368"/>
            <a:ext cx="45720" cy="292608"/>
          </a:xfrm>
          <a:prstGeom prst="rect">
            <a:avLst/>
          </a:prstGeom>
          <a:solidFill>
            <a:srgbClr val="2EC4B6"/>
          </a:solidFill>
          <a:ln/>
        </p:spPr>
      </p:sp>
      <p:sp>
        <p:nvSpPr>
          <p:cNvPr id="15" name="Text 13"/>
          <p:cNvSpPr txBox="1"/>
          <p:nvPr/>
        </p:nvSpPr>
        <p:spPr>
          <a:xfrm>
            <a:off x="822960" y="5202936"/>
            <a:ext cx="210312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00" b="1" spc="100" kern="0" dirty="0">
                <a:solidFill>
                  <a:srgbClr val="AAB1D6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COMMON USES</a:t>
            </a:r>
            <a:endParaRPr lang="en-US" sz="1000" dirty="0"/>
          </a:p>
        </p:txBody>
      </p:sp>
      <p:sp>
        <p:nvSpPr>
          <p:cNvPr id="16" name="Text 14"/>
          <p:cNvSpPr txBox="1"/>
          <p:nvPr/>
        </p:nvSpPr>
        <p:spPr>
          <a:xfrm>
            <a:off x="2880360" y="5175504"/>
            <a:ext cx="457200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300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Time-series, text, speech, sensors</a:t>
            </a:r>
            <a:endParaRPr lang="en-US" sz="1300" dirty="0"/>
          </a:p>
        </p:txBody>
      </p:sp>
      <p:sp>
        <p:nvSpPr>
          <p:cNvPr id="17" name="Text 15"/>
          <p:cNvSpPr txBox="1"/>
          <p:nvPr/>
        </p:nvSpPr>
        <p:spPr>
          <a:xfrm>
            <a:off x="457200" y="6400800"/>
            <a:ext cx="64008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900" spc="150" kern="0" dirty="0">
                <a:solidFill>
                  <a:srgbClr val="AAB1D6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GRU · GATED RECURRENT UNIT</a:t>
            </a:r>
            <a:endParaRPr lang="en-US" sz="900" dirty="0"/>
          </a:p>
        </p:txBody>
      </p:sp>
      <p:sp>
        <p:nvSpPr>
          <p:cNvPr id="18" name="Text 16"/>
          <p:cNvSpPr txBox="1"/>
          <p:nvPr/>
        </p:nvSpPr>
        <p:spPr>
          <a:xfrm>
            <a:off x="11277295" y="6400800"/>
            <a:ext cx="4572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900" dirty="0">
                <a:solidFill>
                  <a:srgbClr val="AAB1D6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01</a:t>
            </a:r>
            <a:endParaRPr lang="en-US" sz="900" dirty="0"/>
          </a:p>
        </p:txBody>
      </p:sp>
    </p:spTree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2"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 txBox="1"/>
          <p:nvPr/>
        </p:nvSpPr>
        <p:spPr>
          <a:xfrm>
            <a:off x="640080" y="457200"/>
            <a:ext cx="731520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00" b="1" spc="200" kern="0" dirty="0">
                <a:solidFill>
                  <a:srgbClr val="FF9F1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OVERVIEW</a:t>
            </a:r>
            <a:endParaRPr lang="en-US" sz="1200" dirty="0"/>
          </a:p>
        </p:txBody>
      </p:sp>
      <p:sp>
        <p:nvSpPr>
          <p:cNvPr id="3" name="Text 1"/>
          <p:cNvSpPr txBox="1"/>
          <p:nvPr/>
        </p:nvSpPr>
        <p:spPr>
          <a:xfrm>
            <a:off x="640080" y="749808"/>
            <a:ext cx="9601200" cy="7772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3000" b="1" dirty="0">
                <a:solidFill>
                  <a:srgbClr val="1B1F3B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What we'll cover</a:t>
            </a:r>
            <a:endParaRPr lang="en-US" sz="3000" dirty="0"/>
          </a:p>
        </p:txBody>
      </p:sp>
      <p:sp>
        <p:nvSpPr>
          <p:cNvPr id="4" name="Shape 2"/>
          <p:cNvSpPr/>
          <p:nvPr/>
        </p:nvSpPr>
        <p:spPr>
          <a:xfrm>
            <a:off x="640080" y="1783080"/>
            <a:ext cx="5074920" cy="1207008"/>
          </a:xfrm>
          <a:prstGeom prst="roundRect">
            <a:avLst>
              <a:gd name="adj" fmla="val 6818"/>
            </a:avLst>
          </a:prstGeom>
          <a:solidFill>
            <a:srgbClr val="F2F5FA"/>
          </a:solidFill>
          <a:ln/>
        </p:spPr>
      </p:sp>
      <p:sp>
        <p:nvSpPr>
          <p:cNvPr id="5" name="Text 3"/>
          <p:cNvSpPr txBox="1"/>
          <p:nvPr/>
        </p:nvSpPr>
        <p:spPr>
          <a:xfrm>
            <a:off x="868680" y="1947672"/>
            <a:ext cx="822960" cy="8686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3000" b="1" dirty="0">
                <a:solidFill>
                  <a:srgbClr val="C7D3EA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01</a:t>
            </a:r>
            <a:endParaRPr lang="en-US" sz="3000" dirty="0"/>
          </a:p>
        </p:txBody>
      </p:sp>
      <p:sp>
        <p:nvSpPr>
          <p:cNvPr id="6" name="Text 4"/>
          <p:cNvSpPr txBox="1"/>
          <p:nvPr/>
        </p:nvSpPr>
        <p:spPr>
          <a:xfrm>
            <a:off x="1600200" y="1947672"/>
            <a:ext cx="3886200" cy="38404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450" b="1" dirty="0">
                <a:solidFill>
                  <a:srgbClr val="1B1F3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What is GRU?</a:t>
            </a:r>
            <a:endParaRPr lang="en-US" sz="1450" dirty="0"/>
          </a:p>
        </p:txBody>
      </p:sp>
      <p:sp>
        <p:nvSpPr>
          <p:cNvPr id="7" name="Text 5"/>
          <p:cNvSpPr txBox="1"/>
          <p:nvPr/>
        </p:nvSpPr>
        <p:spPr>
          <a:xfrm>
            <a:off x="1600200" y="2350008"/>
            <a:ext cx="3886200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00" dirty="0">
                <a:solidFill>
                  <a:srgbClr val="6B729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Definition, intuition, and where it's used</a:t>
            </a:r>
            <a:endParaRPr lang="en-US" sz="1100" dirty="0"/>
          </a:p>
        </p:txBody>
      </p:sp>
      <p:sp>
        <p:nvSpPr>
          <p:cNvPr id="8" name="Shape 6"/>
          <p:cNvSpPr/>
          <p:nvPr/>
        </p:nvSpPr>
        <p:spPr>
          <a:xfrm>
            <a:off x="6172200" y="1783080"/>
            <a:ext cx="5074920" cy="1207008"/>
          </a:xfrm>
          <a:prstGeom prst="roundRect">
            <a:avLst>
              <a:gd name="adj" fmla="val 6818"/>
            </a:avLst>
          </a:prstGeom>
          <a:solidFill>
            <a:srgbClr val="F2F5FA"/>
          </a:solidFill>
          <a:ln/>
        </p:spPr>
      </p:sp>
      <p:sp>
        <p:nvSpPr>
          <p:cNvPr id="9" name="Text 7"/>
          <p:cNvSpPr txBox="1"/>
          <p:nvPr/>
        </p:nvSpPr>
        <p:spPr>
          <a:xfrm>
            <a:off x="6400800" y="1947672"/>
            <a:ext cx="822960" cy="8686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3000" b="1" dirty="0">
                <a:solidFill>
                  <a:srgbClr val="C7D3EA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02</a:t>
            </a:r>
            <a:endParaRPr lang="en-US" sz="3000" dirty="0"/>
          </a:p>
        </p:txBody>
      </p:sp>
      <p:sp>
        <p:nvSpPr>
          <p:cNvPr id="10" name="Text 8"/>
          <p:cNvSpPr txBox="1"/>
          <p:nvPr/>
        </p:nvSpPr>
        <p:spPr>
          <a:xfrm>
            <a:off x="7132320" y="1947672"/>
            <a:ext cx="3886200" cy="38404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450" b="1" dirty="0">
                <a:solidFill>
                  <a:srgbClr val="1B1F3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Why We Need It</a:t>
            </a:r>
            <a:endParaRPr lang="en-US" sz="1450" dirty="0"/>
          </a:p>
        </p:txBody>
      </p:sp>
      <p:sp>
        <p:nvSpPr>
          <p:cNvPr id="11" name="Text 9"/>
          <p:cNvSpPr txBox="1"/>
          <p:nvPr/>
        </p:nvSpPr>
        <p:spPr>
          <a:xfrm>
            <a:off x="7132320" y="2350008"/>
            <a:ext cx="3886200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00" dirty="0">
                <a:solidFill>
                  <a:srgbClr val="6B729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The vanishing gradient problem in plain RNNs</a:t>
            </a:r>
            <a:endParaRPr lang="en-US" sz="1100" dirty="0"/>
          </a:p>
        </p:txBody>
      </p:sp>
      <p:sp>
        <p:nvSpPr>
          <p:cNvPr id="12" name="Shape 10"/>
          <p:cNvSpPr/>
          <p:nvPr/>
        </p:nvSpPr>
        <p:spPr>
          <a:xfrm>
            <a:off x="640080" y="3200400"/>
            <a:ext cx="5074920" cy="1207008"/>
          </a:xfrm>
          <a:prstGeom prst="roundRect">
            <a:avLst>
              <a:gd name="adj" fmla="val 6818"/>
            </a:avLst>
          </a:prstGeom>
          <a:solidFill>
            <a:srgbClr val="F2F5FA"/>
          </a:solidFill>
          <a:ln/>
        </p:spPr>
      </p:sp>
      <p:sp>
        <p:nvSpPr>
          <p:cNvPr id="13" name="Text 11"/>
          <p:cNvSpPr txBox="1"/>
          <p:nvPr/>
        </p:nvSpPr>
        <p:spPr>
          <a:xfrm>
            <a:off x="868680" y="3364992"/>
            <a:ext cx="822960" cy="8686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3000" b="1" dirty="0">
                <a:solidFill>
                  <a:srgbClr val="C7D3EA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03</a:t>
            </a:r>
            <a:endParaRPr lang="en-US" sz="3000" dirty="0"/>
          </a:p>
        </p:txBody>
      </p:sp>
      <p:sp>
        <p:nvSpPr>
          <p:cNvPr id="14" name="Text 12"/>
          <p:cNvSpPr txBox="1"/>
          <p:nvPr/>
        </p:nvSpPr>
        <p:spPr>
          <a:xfrm>
            <a:off x="1600200" y="3364992"/>
            <a:ext cx="3886200" cy="38404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450" b="1" dirty="0">
                <a:solidFill>
                  <a:srgbClr val="1B1F3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RNN → LSTM → GRU</a:t>
            </a:r>
            <a:endParaRPr lang="en-US" sz="1450" dirty="0"/>
          </a:p>
        </p:txBody>
      </p:sp>
      <p:sp>
        <p:nvSpPr>
          <p:cNvPr id="15" name="Text 13"/>
          <p:cNvSpPr txBox="1"/>
          <p:nvPr/>
        </p:nvSpPr>
        <p:spPr>
          <a:xfrm>
            <a:off x="1600200" y="3767328"/>
            <a:ext cx="3886200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00" dirty="0">
                <a:solidFill>
                  <a:srgbClr val="6B729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How the architecture evolved for efficiency</a:t>
            </a:r>
            <a:endParaRPr lang="en-US" sz="1100" dirty="0"/>
          </a:p>
        </p:txBody>
      </p:sp>
      <p:sp>
        <p:nvSpPr>
          <p:cNvPr id="16" name="Shape 14"/>
          <p:cNvSpPr/>
          <p:nvPr/>
        </p:nvSpPr>
        <p:spPr>
          <a:xfrm>
            <a:off x="6172200" y="3200400"/>
            <a:ext cx="5074920" cy="1207008"/>
          </a:xfrm>
          <a:prstGeom prst="roundRect">
            <a:avLst>
              <a:gd name="adj" fmla="val 6818"/>
            </a:avLst>
          </a:prstGeom>
          <a:solidFill>
            <a:srgbClr val="F2F5FA"/>
          </a:solidFill>
          <a:ln/>
        </p:spPr>
      </p:sp>
      <p:sp>
        <p:nvSpPr>
          <p:cNvPr id="17" name="Text 15"/>
          <p:cNvSpPr txBox="1"/>
          <p:nvPr/>
        </p:nvSpPr>
        <p:spPr>
          <a:xfrm>
            <a:off x="6400800" y="3364992"/>
            <a:ext cx="822960" cy="8686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3000" b="1" dirty="0">
                <a:solidFill>
                  <a:srgbClr val="C7D3EA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04</a:t>
            </a:r>
            <a:endParaRPr lang="en-US" sz="3000" dirty="0"/>
          </a:p>
        </p:txBody>
      </p:sp>
      <p:sp>
        <p:nvSpPr>
          <p:cNvPr id="18" name="Text 16"/>
          <p:cNvSpPr txBox="1"/>
          <p:nvPr/>
        </p:nvSpPr>
        <p:spPr>
          <a:xfrm>
            <a:off x="7132320" y="3364992"/>
            <a:ext cx="3886200" cy="38404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450" b="1" dirty="0">
                <a:solidFill>
                  <a:srgbClr val="1B1F3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Update &amp; Reset Gates</a:t>
            </a:r>
            <a:endParaRPr lang="en-US" sz="1450" dirty="0"/>
          </a:p>
        </p:txBody>
      </p:sp>
      <p:sp>
        <p:nvSpPr>
          <p:cNvPr id="19" name="Text 17"/>
          <p:cNvSpPr txBox="1"/>
          <p:nvPr/>
        </p:nvSpPr>
        <p:spPr>
          <a:xfrm>
            <a:off x="7132320" y="3767328"/>
            <a:ext cx="3886200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00" dirty="0">
                <a:solidFill>
                  <a:srgbClr val="6B729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The two mechanisms that make GRU work</a:t>
            </a:r>
            <a:endParaRPr lang="en-US" sz="1100" dirty="0"/>
          </a:p>
        </p:txBody>
      </p:sp>
      <p:sp>
        <p:nvSpPr>
          <p:cNvPr id="20" name="Shape 18"/>
          <p:cNvSpPr/>
          <p:nvPr/>
        </p:nvSpPr>
        <p:spPr>
          <a:xfrm>
            <a:off x="640080" y="4617720"/>
            <a:ext cx="5074920" cy="1207008"/>
          </a:xfrm>
          <a:prstGeom prst="roundRect">
            <a:avLst>
              <a:gd name="adj" fmla="val 6818"/>
            </a:avLst>
          </a:prstGeom>
          <a:solidFill>
            <a:srgbClr val="F2F5FA"/>
          </a:solidFill>
          <a:ln/>
        </p:spPr>
      </p:sp>
      <p:sp>
        <p:nvSpPr>
          <p:cNvPr id="21" name="Text 19"/>
          <p:cNvSpPr txBox="1"/>
          <p:nvPr/>
        </p:nvSpPr>
        <p:spPr>
          <a:xfrm>
            <a:off x="868680" y="4782312"/>
            <a:ext cx="822960" cy="8686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3000" b="1" dirty="0">
                <a:solidFill>
                  <a:srgbClr val="C7D3EA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05</a:t>
            </a:r>
            <a:endParaRPr lang="en-US" sz="3000" dirty="0"/>
          </a:p>
        </p:txBody>
      </p:sp>
      <p:sp>
        <p:nvSpPr>
          <p:cNvPr id="22" name="Text 20"/>
          <p:cNvSpPr txBox="1"/>
          <p:nvPr/>
        </p:nvSpPr>
        <p:spPr>
          <a:xfrm>
            <a:off x="1600200" y="4782312"/>
            <a:ext cx="3886200" cy="38404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450" b="1" dirty="0">
                <a:solidFill>
                  <a:srgbClr val="1B1F3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Math &amp; Comparison</a:t>
            </a:r>
            <a:endParaRPr lang="en-US" sz="1450" dirty="0"/>
          </a:p>
        </p:txBody>
      </p:sp>
      <p:sp>
        <p:nvSpPr>
          <p:cNvPr id="23" name="Text 21"/>
          <p:cNvSpPr txBox="1"/>
          <p:nvPr/>
        </p:nvSpPr>
        <p:spPr>
          <a:xfrm>
            <a:off x="1600200" y="5184648"/>
            <a:ext cx="3886200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00" dirty="0">
                <a:solidFill>
                  <a:srgbClr val="6B729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Equations, GRU vs LSTM, and training speed</a:t>
            </a:r>
            <a:endParaRPr lang="en-US" sz="1100" dirty="0"/>
          </a:p>
        </p:txBody>
      </p:sp>
      <p:sp>
        <p:nvSpPr>
          <p:cNvPr id="24" name="Shape 22"/>
          <p:cNvSpPr/>
          <p:nvPr/>
        </p:nvSpPr>
        <p:spPr>
          <a:xfrm>
            <a:off x="6172200" y="4617720"/>
            <a:ext cx="5074920" cy="1207008"/>
          </a:xfrm>
          <a:prstGeom prst="roundRect">
            <a:avLst>
              <a:gd name="adj" fmla="val 6818"/>
            </a:avLst>
          </a:prstGeom>
          <a:solidFill>
            <a:srgbClr val="F2F5FA"/>
          </a:solidFill>
          <a:ln/>
        </p:spPr>
      </p:sp>
      <p:sp>
        <p:nvSpPr>
          <p:cNvPr id="25" name="Text 23"/>
          <p:cNvSpPr txBox="1"/>
          <p:nvPr/>
        </p:nvSpPr>
        <p:spPr>
          <a:xfrm>
            <a:off x="6400800" y="4782312"/>
            <a:ext cx="822960" cy="8686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3000" b="1" dirty="0">
                <a:solidFill>
                  <a:srgbClr val="C7D3EA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06</a:t>
            </a:r>
            <a:endParaRPr lang="en-US" sz="3000" dirty="0"/>
          </a:p>
        </p:txBody>
      </p:sp>
      <p:sp>
        <p:nvSpPr>
          <p:cNvPr id="26" name="Text 24"/>
          <p:cNvSpPr txBox="1"/>
          <p:nvPr/>
        </p:nvSpPr>
        <p:spPr>
          <a:xfrm>
            <a:off x="7132320" y="4782312"/>
            <a:ext cx="3886200" cy="38404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450" b="1" dirty="0">
                <a:solidFill>
                  <a:srgbClr val="1B1F3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Hands-On Example</a:t>
            </a:r>
            <a:endParaRPr lang="en-US" sz="1450" dirty="0"/>
          </a:p>
        </p:txBody>
      </p:sp>
      <p:sp>
        <p:nvSpPr>
          <p:cNvPr id="27" name="Text 25"/>
          <p:cNvSpPr txBox="1"/>
          <p:nvPr/>
        </p:nvSpPr>
        <p:spPr>
          <a:xfrm>
            <a:off x="7132320" y="5184648"/>
            <a:ext cx="3886200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00" dirty="0">
                <a:solidFill>
                  <a:srgbClr val="6B729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Code, input shapes, and interview questions</a:t>
            </a:r>
            <a:endParaRPr lang="en-US" sz="1100" dirty="0"/>
          </a:p>
        </p:txBody>
      </p:sp>
      <p:sp>
        <p:nvSpPr>
          <p:cNvPr id="28" name="Text 26"/>
          <p:cNvSpPr txBox="1"/>
          <p:nvPr/>
        </p:nvSpPr>
        <p:spPr>
          <a:xfrm>
            <a:off x="457200" y="6400800"/>
            <a:ext cx="64008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900" spc="150" kern="0" dirty="0">
                <a:solidFill>
                  <a:srgbClr val="6B729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GRU · GATED RECURRENT UNIT</a:t>
            </a:r>
            <a:endParaRPr lang="en-US" sz="900" dirty="0"/>
          </a:p>
        </p:txBody>
      </p:sp>
      <p:sp>
        <p:nvSpPr>
          <p:cNvPr id="29" name="Text 27"/>
          <p:cNvSpPr txBox="1"/>
          <p:nvPr/>
        </p:nvSpPr>
        <p:spPr>
          <a:xfrm>
            <a:off x="11277295" y="6400800"/>
            <a:ext cx="4572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900" dirty="0">
                <a:solidFill>
                  <a:srgbClr val="6B729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02</a:t>
            </a:r>
            <a:endParaRPr lang="en-US" sz="900" dirty="0"/>
          </a:p>
        </p:txBody>
      </p:sp>
    </p:spTree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3"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 txBox="1"/>
          <p:nvPr/>
        </p:nvSpPr>
        <p:spPr>
          <a:xfrm>
            <a:off x="640080" y="457200"/>
            <a:ext cx="731520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00" b="1" spc="200" kern="0" dirty="0">
                <a:solidFill>
                  <a:srgbClr val="FF9F1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01 · INTRODUCTION</a:t>
            </a:r>
            <a:endParaRPr lang="en-US" sz="1200" dirty="0"/>
          </a:p>
        </p:txBody>
      </p:sp>
      <p:sp>
        <p:nvSpPr>
          <p:cNvPr id="3" name="Text 1"/>
          <p:cNvSpPr txBox="1"/>
          <p:nvPr/>
        </p:nvSpPr>
        <p:spPr>
          <a:xfrm>
            <a:off x="640080" y="749808"/>
            <a:ext cx="9601200" cy="7772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3000" b="1" dirty="0">
                <a:solidFill>
                  <a:srgbClr val="1B1F3B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What is GRU?</a:t>
            </a:r>
            <a:endParaRPr lang="en-US" sz="3000" dirty="0"/>
          </a:p>
        </p:txBody>
      </p:sp>
      <p:sp>
        <p:nvSpPr>
          <p:cNvPr id="4" name="Shape 2"/>
          <p:cNvSpPr/>
          <p:nvPr/>
        </p:nvSpPr>
        <p:spPr>
          <a:xfrm>
            <a:off x="640080" y="1691640"/>
            <a:ext cx="5486400" cy="1600200"/>
          </a:xfrm>
          <a:prstGeom prst="roundRect">
            <a:avLst>
              <a:gd name="adj" fmla="val 4571"/>
            </a:avLst>
          </a:prstGeom>
          <a:solidFill>
            <a:srgbClr val="F2F5FA"/>
          </a:solidFill>
          <a:ln/>
        </p:spPr>
      </p:sp>
      <p:sp>
        <p:nvSpPr>
          <p:cNvPr id="5" name="Text 3"/>
          <p:cNvSpPr txBox="1"/>
          <p:nvPr/>
        </p:nvSpPr>
        <p:spPr>
          <a:xfrm>
            <a:off x="914400" y="1847088"/>
            <a:ext cx="493776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400" b="1" dirty="0">
                <a:solidFill>
                  <a:srgbClr val="1B1F3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GRU (Gated Recurrent Unit)</a:t>
            </a:r>
            <a:endParaRPr lang="en-US" sz="1400" dirty="0"/>
          </a:p>
        </p:txBody>
      </p:sp>
      <p:sp>
        <p:nvSpPr>
          <p:cNvPr id="6" name="Text 4"/>
          <p:cNvSpPr txBox="1"/>
          <p:nvPr/>
        </p:nvSpPr>
        <p:spPr>
          <a:xfrm>
            <a:off x="914400" y="2212848"/>
            <a:ext cx="4937760" cy="10058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lnSpc>
                <a:spcPct val="125000"/>
              </a:lnSpc>
              <a:buNone/>
            </a:pPr>
            <a:r>
              <a:rPr lang="en-US" sz="1250" dirty="0">
                <a:solidFill>
                  <a:srgbClr val="2B2F4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 type of Recurrent Neural Network designed to handle long-term dependencies in sequential data — similar to LSTM, but with a simpler architecture and fewer gates.</a:t>
            </a:r>
            <a:endParaRPr lang="en-US" sz="1250" dirty="0"/>
          </a:p>
        </p:txBody>
      </p:sp>
      <p:sp>
        <p:nvSpPr>
          <p:cNvPr id="7" name="Shape 5"/>
          <p:cNvSpPr/>
          <p:nvPr/>
        </p:nvSpPr>
        <p:spPr>
          <a:xfrm>
            <a:off x="640080" y="3474720"/>
            <a:ext cx="5486400" cy="777240"/>
          </a:xfrm>
          <a:prstGeom prst="roundRect">
            <a:avLst>
              <a:gd name="adj" fmla="val 9412"/>
            </a:avLst>
          </a:prstGeom>
          <a:solidFill>
            <a:srgbClr val="1B1F3B"/>
          </a:solidFill>
          <a:ln/>
        </p:spPr>
      </p:sp>
      <p:sp>
        <p:nvSpPr>
          <p:cNvPr id="8" name="Text 6"/>
          <p:cNvSpPr txBox="1"/>
          <p:nvPr/>
        </p:nvSpPr>
        <p:spPr>
          <a:xfrm>
            <a:off x="914400" y="3566160"/>
            <a:ext cx="4937760" cy="2286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950" b="1" spc="150" kern="0" dirty="0">
                <a:solidFill>
                  <a:srgbClr val="2EC4B6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SIMPLE DEFINITION</a:t>
            </a:r>
            <a:endParaRPr lang="en-US" sz="950" dirty="0"/>
          </a:p>
        </p:txBody>
      </p:sp>
      <p:sp>
        <p:nvSpPr>
          <p:cNvPr id="9" name="Text 7"/>
          <p:cNvSpPr txBox="1"/>
          <p:nvPr/>
        </p:nvSpPr>
        <p:spPr>
          <a:xfrm>
            <a:off x="914400" y="3794760"/>
            <a:ext cx="4937760" cy="4114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00" i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An improved RNN that uses gates to decide what information to remember and what to forget.</a:t>
            </a:r>
            <a:endParaRPr lang="en-US" sz="1200" dirty="0"/>
          </a:p>
        </p:txBody>
      </p:sp>
      <p:sp>
        <p:nvSpPr>
          <p:cNvPr id="10" name="Text 8"/>
          <p:cNvSpPr txBox="1"/>
          <p:nvPr/>
        </p:nvSpPr>
        <p:spPr>
          <a:xfrm>
            <a:off x="640080" y="4480560"/>
            <a:ext cx="54864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00" b="1" spc="150" kern="0" dirty="0">
                <a:solidFill>
                  <a:srgbClr val="6B729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COMMONLY USED FOR</a:t>
            </a:r>
            <a:endParaRPr lang="en-US" sz="1100" dirty="0"/>
          </a:p>
        </p:txBody>
      </p:sp>
      <p:sp>
        <p:nvSpPr>
          <p:cNvPr id="11" name="Shape 9"/>
          <p:cNvSpPr/>
          <p:nvPr/>
        </p:nvSpPr>
        <p:spPr>
          <a:xfrm>
            <a:off x="640080" y="4901184"/>
            <a:ext cx="82296" cy="82296"/>
          </a:xfrm>
          <a:prstGeom prst="ellipse">
            <a:avLst/>
          </a:prstGeom>
          <a:solidFill>
            <a:srgbClr val="2EC4B6"/>
          </a:solidFill>
          <a:ln/>
        </p:spPr>
      </p:sp>
      <p:sp>
        <p:nvSpPr>
          <p:cNvPr id="12" name="Text 10"/>
          <p:cNvSpPr txBox="1"/>
          <p:nvPr/>
        </p:nvSpPr>
        <p:spPr>
          <a:xfrm>
            <a:off x="868680" y="4791456"/>
            <a:ext cx="246888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50" dirty="0">
                <a:solidFill>
                  <a:srgbClr val="2B2F4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Time-series prediction</a:t>
            </a:r>
            <a:endParaRPr lang="en-US" sz="1150" dirty="0"/>
          </a:p>
        </p:txBody>
      </p:sp>
      <p:sp>
        <p:nvSpPr>
          <p:cNvPr id="13" name="Shape 11"/>
          <p:cNvSpPr/>
          <p:nvPr/>
        </p:nvSpPr>
        <p:spPr>
          <a:xfrm>
            <a:off x="3429000" y="4901184"/>
            <a:ext cx="82296" cy="82296"/>
          </a:xfrm>
          <a:prstGeom prst="ellipse">
            <a:avLst/>
          </a:prstGeom>
          <a:solidFill>
            <a:srgbClr val="2EC4B6"/>
          </a:solidFill>
          <a:ln/>
        </p:spPr>
      </p:sp>
      <p:sp>
        <p:nvSpPr>
          <p:cNvPr id="14" name="Text 12"/>
          <p:cNvSpPr txBox="1"/>
          <p:nvPr/>
        </p:nvSpPr>
        <p:spPr>
          <a:xfrm>
            <a:off x="3657600" y="4791456"/>
            <a:ext cx="246888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50" dirty="0">
                <a:solidFill>
                  <a:srgbClr val="2B2F4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Text classification</a:t>
            </a:r>
            <a:endParaRPr lang="en-US" sz="1150" dirty="0"/>
          </a:p>
        </p:txBody>
      </p:sp>
      <p:sp>
        <p:nvSpPr>
          <p:cNvPr id="15" name="Shape 13"/>
          <p:cNvSpPr/>
          <p:nvPr/>
        </p:nvSpPr>
        <p:spPr>
          <a:xfrm>
            <a:off x="640080" y="5340096"/>
            <a:ext cx="82296" cy="82296"/>
          </a:xfrm>
          <a:prstGeom prst="ellipse">
            <a:avLst/>
          </a:prstGeom>
          <a:solidFill>
            <a:srgbClr val="2EC4B6"/>
          </a:solidFill>
          <a:ln/>
        </p:spPr>
      </p:sp>
      <p:sp>
        <p:nvSpPr>
          <p:cNvPr id="16" name="Text 14"/>
          <p:cNvSpPr txBox="1"/>
          <p:nvPr/>
        </p:nvSpPr>
        <p:spPr>
          <a:xfrm>
            <a:off x="868680" y="5230368"/>
            <a:ext cx="246888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50" dirty="0">
                <a:solidFill>
                  <a:srgbClr val="2B2F4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Text generation</a:t>
            </a:r>
            <a:endParaRPr lang="en-US" sz="1150" dirty="0"/>
          </a:p>
        </p:txBody>
      </p:sp>
      <p:sp>
        <p:nvSpPr>
          <p:cNvPr id="17" name="Shape 15"/>
          <p:cNvSpPr/>
          <p:nvPr/>
        </p:nvSpPr>
        <p:spPr>
          <a:xfrm>
            <a:off x="3429000" y="5340096"/>
            <a:ext cx="82296" cy="82296"/>
          </a:xfrm>
          <a:prstGeom prst="ellipse">
            <a:avLst/>
          </a:prstGeom>
          <a:solidFill>
            <a:srgbClr val="2EC4B6"/>
          </a:solidFill>
          <a:ln/>
        </p:spPr>
      </p:sp>
      <p:sp>
        <p:nvSpPr>
          <p:cNvPr id="18" name="Text 16"/>
          <p:cNvSpPr txBox="1"/>
          <p:nvPr/>
        </p:nvSpPr>
        <p:spPr>
          <a:xfrm>
            <a:off x="3657600" y="5230368"/>
            <a:ext cx="246888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50" dirty="0">
                <a:solidFill>
                  <a:srgbClr val="2B2F4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Speech processing</a:t>
            </a:r>
            <a:endParaRPr lang="en-US" sz="1150" dirty="0"/>
          </a:p>
        </p:txBody>
      </p:sp>
      <p:sp>
        <p:nvSpPr>
          <p:cNvPr id="19" name="Shape 17"/>
          <p:cNvSpPr/>
          <p:nvPr/>
        </p:nvSpPr>
        <p:spPr>
          <a:xfrm>
            <a:off x="640080" y="5779008"/>
            <a:ext cx="82296" cy="82296"/>
          </a:xfrm>
          <a:prstGeom prst="ellipse">
            <a:avLst/>
          </a:prstGeom>
          <a:solidFill>
            <a:srgbClr val="2EC4B6"/>
          </a:solidFill>
          <a:ln/>
        </p:spPr>
      </p:sp>
      <p:sp>
        <p:nvSpPr>
          <p:cNvPr id="20" name="Text 18"/>
          <p:cNvSpPr txBox="1"/>
          <p:nvPr/>
        </p:nvSpPr>
        <p:spPr>
          <a:xfrm>
            <a:off x="868680" y="5669280"/>
            <a:ext cx="246888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50" dirty="0">
                <a:solidFill>
                  <a:srgbClr val="2B2F4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Anomaly detection</a:t>
            </a:r>
            <a:endParaRPr lang="en-US" sz="1150" dirty="0"/>
          </a:p>
        </p:txBody>
      </p:sp>
      <p:sp>
        <p:nvSpPr>
          <p:cNvPr id="21" name="Shape 19"/>
          <p:cNvSpPr/>
          <p:nvPr/>
        </p:nvSpPr>
        <p:spPr>
          <a:xfrm>
            <a:off x="3429000" y="5779008"/>
            <a:ext cx="82296" cy="82296"/>
          </a:xfrm>
          <a:prstGeom prst="ellipse">
            <a:avLst/>
          </a:prstGeom>
          <a:solidFill>
            <a:srgbClr val="2EC4B6"/>
          </a:solidFill>
          <a:ln/>
        </p:spPr>
      </p:sp>
      <p:sp>
        <p:nvSpPr>
          <p:cNvPr id="22" name="Text 20"/>
          <p:cNvSpPr txBox="1"/>
          <p:nvPr/>
        </p:nvSpPr>
        <p:spPr>
          <a:xfrm>
            <a:off x="3657600" y="5669280"/>
            <a:ext cx="246888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50" dirty="0">
                <a:solidFill>
                  <a:srgbClr val="2B2F4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Sensor data forecasting</a:t>
            </a:r>
            <a:endParaRPr lang="en-US" sz="1150" dirty="0"/>
          </a:p>
        </p:txBody>
      </p:sp>
      <p:sp>
        <p:nvSpPr>
          <p:cNvPr id="23" name="Shape 21"/>
          <p:cNvSpPr/>
          <p:nvPr/>
        </p:nvSpPr>
        <p:spPr>
          <a:xfrm>
            <a:off x="6492240" y="1691640"/>
            <a:ext cx="5074920" cy="4434840"/>
          </a:xfrm>
          <a:prstGeom prst="roundRect">
            <a:avLst>
              <a:gd name="adj" fmla="val 1649"/>
            </a:avLst>
          </a:prstGeom>
          <a:solidFill>
            <a:srgbClr val="1B1F3B"/>
          </a:solidFill>
          <a:ln/>
        </p:spPr>
      </p:sp>
      <p:sp>
        <p:nvSpPr>
          <p:cNvPr id="24" name="Text 22"/>
          <p:cNvSpPr txBox="1"/>
          <p:nvPr/>
        </p:nvSpPr>
        <p:spPr>
          <a:xfrm>
            <a:off x="6766560" y="1920240"/>
            <a:ext cx="45720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50" b="1" spc="150" kern="0" dirty="0">
                <a:solidFill>
                  <a:srgbClr val="2EC4B6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THE CORE IDEA</a:t>
            </a:r>
            <a:endParaRPr lang="en-US" sz="1050" dirty="0"/>
          </a:p>
        </p:txBody>
      </p:sp>
      <p:sp>
        <p:nvSpPr>
          <p:cNvPr id="25" name="Shape 23"/>
          <p:cNvSpPr/>
          <p:nvPr/>
        </p:nvSpPr>
        <p:spPr>
          <a:xfrm>
            <a:off x="7223760" y="2377440"/>
            <a:ext cx="4023360" cy="640080"/>
          </a:xfrm>
          <a:prstGeom prst="roundRect">
            <a:avLst>
              <a:gd name="adj" fmla="val 14286"/>
            </a:avLst>
          </a:prstGeom>
          <a:solidFill>
            <a:srgbClr val="252B52"/>
          </a:solidFill>
          <a:ln w="12700">
            <a:solidFill>
              <a:srgbClr val="AAB1D6"/>
            </a:solidFill>
            <a:prstDash val="solid"/>
          </a:ln>
        </p:spPr>
      </p:sp>
      <p:sp>
        <p:nvSpPr>
          <p:cNvPr id="26" name="Text 24"/>
          <p:cNvSpPr txBox="1"/>
          <p:nvPr/>
        </p:nvSpPr>
        <p:spPr>
          <a:xfrm>
            <a:off x="7223760" y="2377440"/>
            <a:ext cx="4023360" cy="6400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3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Sequential Input</a:t>
            </a:r>
            <a:endParaRPr lang="en-US" sz="1300" dirty="0"/>
          </a:p>
        </p:txBody>
      </p:sp>
      <p:sp>
        <p:nvSpPr>
          <p:cNvPr id="27" name="Shape 25"/>
          <p:cNvSpPr/>
          <p:nvPr/>
        </p:nvSpPr>
        <p:spPr>
          <a:xfrm rot="5400000">
            <a:off x="9006840" y="3127248"/>
            <a:ext cx="320040" cy="256032"/>
          </a:xfrm>
          <a:prstGeom prst="chevron">
            <a:avLst/>
          </a:prstGeom>
          <a:solidFill>
            <a:srgbClr val="2EC4B6"/>
          </a:solidFill>
          <a:ln/>
        </p:spPr>
      </p:sp>
      <p:sp>
        <p:nvSpPr>
          <p:cNvPr id="28" name="Shape 26"/>
          <p:cNvSpPr/>
          <p:nvPr/>
        </p:nvSpPr>
        <p:spPr>
          <a:xfrm>
            <a:off x="7223760" y="3520440"/>
            <a:ext cx="1874520" cy="640080"/>
          </a:xfrm>
          <a:prstGeom prst="roundRect">
            <a:avLst>
              <a:gd name="adj" fmla="val 14286"/>
            </a:avLst>
          </a:prstGeom>
          <a:solidFill>
            <a:srgbClr val="2EC4B6"/>
          </a:solidFill>
          <a:ln/>
        </p:spPr>
      </p:sp>
      <p:sp>
        <p:nvSpPr>
          <p:cNvPr id="29" name="Text 27"/>
          <p:cNvSpPr txBox="1"/>
          <p:nvPr/>
        </p:nvSpPr>
        <p:spPr>
          <a:xfrm>
            <a:off x="7223760" y="3520440"/>
            <a:ext cx="1874520" cy="6400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200" b="1" dirty="0">
                <a:solidFill>
                  <a:srgbClr val="1B1F3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Update Gate</a:t>
            </a:r>
            <a:endParaRPr lang="en-US" sz="1200" dirty="0"/>
          </a:p>
        </p:txBody>
      </p:sp>
      <p:sp>
        <p:nvSpPr>
          <p:cNvPr id="30" name="Shape 28"/>
          <p:cNvSpPr/>
          <p:nvPr/>
        </p:nvSpPr>
        <p:spPr>
          <a:xfrm>
            <a:off x="9372600" y="3520440"/>
            <a:ext cx="1874520" cy="640080"/>
          </a:xfrm>
          <a:prstGeom prst="roundRect">
            <a:avLst>
              <a:gd name="adj" fmla="val 14286"/>
            </a:avLst>
          </a:prstGeom>
          <a:solidFill>
            <a:srgbClr val="FF9F1C"/>
          </a:solidFill>
          <a:ln/>
        </p:spPr>
      </p:sp>
      <p:sp>
        <p:nvSpPr>
          <p:cNvPr id="31" name="Text 29"/>
          <p:cNvSpPr txBox="1"/>
          <p:nvPr/>
        </p:nvSpPr>
        <p:spPr>
          <a:xfrm>
            <a:off x="9372600" y="3520440"/>
            <a:ext cx="1874520" cy="6400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200" b="1" dirty="0">
                <a:solidFill>
                  <a:srgbClr val="1B1F3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Reset Gate</a:t>
            </a:r>
            <a:endParaRPr lang="en-US" sz="1200" dirty="0"/>
          </a:p>
        </p:txBody>
      </p:sp>
      <p:sp>
        <p:nvSpPr>
          <p:cNvPr id="32" name="Shape 30"/>
          <p:cNvSpPr/>
          <p:nvPr/>
        </p:nvSpPr>
        <p:spPr>
          <a:xfrm rot="5400000">
            <a:off x="9006840" y="4270248"/>
            <a:ext cx="320040" cy="256032"/>
          </a:xfrm>
          <a:prstGeom prst="chevron">
            <a:avLst/>
          </a:prstGeom>
          <a:solidFill>
            <a:srgbClr val="2EC4B6"/>
          </a:solidFill>
          <a:ln/>
        </p:spPr>
      </p:sp>
      <p:sp>
        <p:nvSpPr>
          <p:cNvPr id="33" name="Shape 31"/>
          <p:cNvSpPr/>
          <p:nvPr/>
        </p:nvSpPr>
        <p:spPr>
          <a:xfrm>
            <a:off x="7223760" y="4663440"/>
            <a:ext cx="4023360" cy="640080"/>
          </a:xfrm>
          <a:prstGeom prst="roundRect">
            <a:avLst>
              <a:gd name="adj" fmla="val 14286"/>
            </a:avLst>
          </a:prstGeom>
          <a:solidFill>
            <a:srgbClr val="252B52"/>
          </a:solidFill>
          <a:ln w="12700">
            <a:solidFill>
              <a:srgbClr val="AAB1D6"/>
            </a:solidFill>
            <a:prstDash val="solid"/>
          </a:ln>
        </p:spPr>
      </p:sp>
      <p:sp>
        <p:nvSpPr>
          <p:cNvPr id="34" name="Text 32"/>
          <p:cNvSpPr txBox="1"/>
          <p:nvPr/>
        </p:nvSpPr>
        <p:spPr>
          <a:xfrm>
            <a:off x="7223760" y="4663440"/>
            <a:ext cx="4023360" cy="6400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3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New Hidden State</a:t>
            </a:r>
            <a:endParaRPr lang="en-US" sz="1300" dirty="0"/>
          </a:p>
        </p:txBody>
      </p:sp>
      <p:sp>
        <p:nvSpPr>
          <p:cNvPr id="35" name="Text 33"/>
          <p:cNvSpPr txBox="1"/>
          <p:nvPr/>
        </p:nvSpPr>
        <p:spPr>
          <a:xfrm>
            <a:off x="6766560" y="5486400"/>
            <a:ext cx="448056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50" i="1" dirty="0">
                <a:solidFill>
                  <a:srgbClr val="AAB1D6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Gates control what passes from one step to the next.</a:t>
            </a:r>
            <a:endParaRPr lang="en-US" sz="1050" dirty="0"/>
          </a:p>
        </p:txBody>
      </p:sp>
      <p:sp>
        <p:nvSpPr>
          <p:cNvPr id="36" name="Text 34"/>
          <p:cNvSpPr txBox="1"/>
          <p:nvPr/>
        </p:nvSpPr>
        <p:spPr>
          <a:xfrm>
            <a:off x="457200" y="6400800"/>
            <a:ext cx="64008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900" spc="150" kern="0" dirty="0">
                <a:solidFill>
                  <a:srgbClr val="6B729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GRU · GATED RECURRENT UNIT</a:t>
            </a:r>
            <a:endParaRPr lang="en-US" sz="900" dirty="0"/>
          </a:p>
        </p:txBody>
      </p:sp>
      <p:sp>
        <p:nvSpPr>
          <p:cNvPr id="37" name="Text 35"/>
          <p:cNvSpPr txBox="1"/>
          <p:nvPr/>
        </p:nvSpPr>
        <p:spPr>
          <a:xfrm>
            <a:off x="11277295" y="6400800"/>
            <a:ext cx="4572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900" dirty="0">
                <a:solidFill>
                  <a:srgbClr val="6B729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03</a:t>
            </a:r>
            <a:endParaRPr lang="en-US" sz="900" dirty="0"/>
          </a:p>
        </p:txBody>
      </p:sp>
    </p:spTree>
  </p:cSld>
  <p:clrMapOvr>
    <a:masterClrMapping/>
  </p:clrMapOvr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4">
    <p:bg>
      <p:bgPr>
        <a:solidFill>
          <a:srgbClr val="1B1F3B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 txBox="1"/>
          <p:nvPr/>
        </p:nvSpPr>
        <p:spPr>
          <a:xfrm>
            <a:off x="640080" y="457200"/>
            <a:ext cx="731520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00" b="1" spc="200" kern="0" dirty="0">
                <a:solidFill>
                  <a:srgbClr val="FF9F1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02 · MOTIVATION</a:t>
            </a:r>
            <a:endParaRPr lang="en-US" sz="1200" dirty="0"/>
          </a:p>
        </p:txBody>
      </p:sp>
      <p:sp>
        <p:nvSpPr>
          <p:cNvPr id="3" name="Text 1"/>
          <p:cNvSpPr txBox="1"/>
          <p:nvPr/>
        </p:nvSpPr>
        <p:spPr>
          <a:xfrm>
            <a:off x="640080" y="749808"/>
            <a:ext cx="9601200" cy="7772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3000" b="1" dirty="0">
                <a:solidFill>
                  <a:srgbClr val="FFFFFF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Why Do We Need GRU?</a:t>
            </a:r>
            <a:endParaRPr lang="en-US" sz="3000" dirty="0"/>
          </a:p>
        </p:txBody>
      </p:sp>
      <p:sp>
        <p:nvSpPr>
          <p:cNvPr id="4" name="Text 2"/>
          <p:cNvSpPr txBox="1"/>
          <p:nvPr/>
        </p:nvSpPr>
        <p:spPr>
          <a:xfrm>
            <a:off x="640080" y="1691640"/>
            <a:ext cx="10515600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400" dirty="0">
                <a:solidFill>
                  <a:srgbClr val="AAB1D6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 basic RNN struggles to remember information from far back in a sequence — the vanishing gradient problem.</a:t>
            </a:r>
            <a:endParaRPr lang="en-US" sz="1400" dirty="0"/>
          </a:p>
        </p:txBody>
      </p:sp>
      <p:sp>
        <p:nvSpPr>
          <p:cNvPr id="5" name="Shape 3"/>
          <p:cNvSpPr/>
          <p:nvPr/>
        </p:nvSpPr>
        <p:spPr>
          <a:xfrm>
            <a:off x="640080" y="2331720"/>
            <a:ext cx="7315200" cy="3246120"/>
          </a:xfrm>
          <a:prstGeom prst="roundRect">
            <a:avLst>
              <a:gd name="adj" fmla="val 2535"/>
            </a:avLst>
          </a:prstGeom>
          <a:solidFill>
            <a:srgbClr val="252B52"/>
          </a:solidFill>
          <a:ln/>
        </p:spPr>
      </p:sp>
      <p:sp>
        <p:nvSpPr>
          <p:cNvPr id="6" name="Text 4"/>
          <p:cNvSpPr txBox="1"/>
          <p:nvPr/>
        </p:nvSpPr>
        <p:spPr>
          <a:xfrm>
            <a:off x="914400" y="2542032"/>
            <a:ext cx="36576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50" b="1" spc="150" kern="0" dirty="0">
                <a:solidFill>
                  <a:srgbClr val="FF9F1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EXAMPLE</a:t>
            </a:r>
            <a:endParaRPr lang="en-US" sz="1050" dirty="0"/>
          </a:p>
        </p:txBody>
      </p:sp>
      <p:sp>
        <p:nvSpPr>
          <p:cNvPr id="7" name="Text 5"/>
          <p:cNvSpPr txBox="1"/>
          <p:nvPr/>
        </p:nvSpPr>
        <p:spPr>
          <a:xfrm>
            <a:off x="914400" y="2926080"/>
            <a:ext cx="6675120" cy="38404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5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“I started learning Python in 2022.”</a:t>
            </a:r>
            <a:endParaRPr lang="en-US" sz="1500" dirty="0"/>
          </a:p>
        </p:txBody>
      </p:sp>
      <p:sp>
        <p:nvSpPr>
          <p:cNvPr id="8" name="Text 6"/>
          <p:cNvSpPr txBox="1"/>
          <p:nvPr/>
        </p:nvSpPr>
        <p:spPr>
          <a:xfrm>
            <a:off x="914400" y="3383280"/>
            <a:ext cx="6675120" cy="38404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300" i="1" dirty="0">
                <a:solidFill>
                  <a:srgbClr val="AAB1D6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...</a:t>
            </a:r>
            <a:endParaRPr lang="en-US" sz="1300" dirty="0"/>
          </a:p>
        </p:txBody>
      </p:sp>
      <p:sp>
        <p:nvSpPr>
          <p:cNvPr id="9" name="Text 7"/>
          <p:cNvSpPr txBox="1"/>
          <p:nvPr/>
        </p:nvSpPr>
        <p:spPr>
          <a:xfrm>
            <a:off x="914400" y="3730752"/>
            <a:ext cx="6675120" cy="38404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300" i="1" dirty="0">
                <a:solidFill>
                  <a:srgbClr val="AAB1D6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...</a:t>
            </a:r>
            <a:endParaRPr lang="en-US" sz="1300" dirty="0"/>
          </a:p>
        </p:txBody>
      </p:sp>
      <p:sp>
        <p:nvSpPr>
          <p:cNvPr id="10" name="Text 8"/>
          <p:cNvSpPr txBox="1"/>
          <p:nvPr/>
        </p:nvSpPr>
        <p:spPr>
          <a:xfrm>
            <a:off x="914400" y="4078224"/>
            <a:ext cx="6675120" cy="38404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300" i="1" dirty="0">
                <a:solidFill>
                  <a:srgbClr val="AAB1D6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...</a:t>
            </a:r>
            <a:endParaRPr lang="en-US" sz="1300" dirty="0"/>
          </a:p>
        </p:txBody>
      </p:sp>
      <p:sp>
        <p:nvSpPr>
          <p:cNvPr id="11" name="Text 9"/>
          <p:cNvSpPr txBox="1"/>
          <p:nvPr/>
        </p:nvSpPr>
        <p:spPr>
          <a:xfrm>
            <a:off x="914400" y="4425696"/>
            <a:ext cx="6675120" cy="38404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5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“I am very good at ______.”</a:t>
            </a:r>
            <a:endParaRPr lang="en-US" sz="1500" dirty="0"/>
          </a:p>
        </p:txBody>
      </p:sp>
      <p:sp>
        <p:nvSpPr>
          <p:cNvPr id="12" name="Text 10"/>
          <p:cNvSpPr txBox="1"/>
          <p:nvPr/>
        </p:nvSpPr>
        <p:spPr>
          <a:xfrm>
            <a:off x="914400" y="5020056"/>
            <a:ext cx="667512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lnSpc>
                <a:spcPct val="120000"/>
              </a:lnSpc>
              <a:buNone/>
            </a:pPr>
            <a:r>
              <a:rPr lang="en-US" sz="1150" i="1" dirty="0">
                <a:solidFill>
                  <a:srgbClr val="8A91C4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To predict the answer, the model needs information from much earlier — but a normal RNN gradually loses that old information.</a:t>
            </a:r>
            <a:endParaRPr lang="en-US" sz="1150" dirty="0"/>
          </a:p>
        </p:txBody>
      </p:sp>
      <p:sp>
        <p:nvSpPr>
          <p:cNvPr id="13" name="Shape 11"/>
          <p:cNvSpPr/>
          <p:nvPr/>
        </p:nvSpPr>
        <p:spPr>
          <a:xfrm>
            <a:off x="8229600" y="2331720"/>
            <a:ext cx="3337560" cy="3246120"/>
          </a:xfrm>
          <a:prstGeom prst="roundRect">
            <a:avLst>
              <a:gd name="adj" fmla="val 2535"/>
            </a:avLst>
          </a:prstGeom>
          <a:solidFill>
            <a:srgbClr val="2EC4B6"/>
          </a:solidFill>
          <a:ln/>
        </p:spPr>
      </p:sp>
      <p:sp>
        <p:nvSpPr>
          <p:cNvPr id="14" name="Text 12"/>
          <p:cNvSpPr txBox="1"/>
          <p:nvPr/>
        </p:nvSpPr>
        <p:spPr>
          <a:xfrm>
            <a:off x="8503920" y="2560320"/>
            <a:ext cx="283464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50" b="1" spc="150" kern="0" dirty="0">
                <a:solidFill>
                  <a:srgbClr val="1B1F3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GRU SOLVES THIS</a:t>
            </a:r>
            <a:endParaRPr lang="en-US" sz="1050" dirty="0"/>
          </a:p>
        </p:txBody>
      </p:sp>
      <p:sp>
        <p:nvSpPr>
          <p:cNvPr id="15" name="Text 13"/>
          <p:cNvSpPr txBox="1"/>
          <p:nvPr/>
        </p:nvSpPr>
        <p:spPr>
          <a:xfrm>
            <a:off x="8503920" y="2880360"/>
            <a:ext cx="283464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2400" b="1" dirty="0">
                <a:solidFill>
                  <a:srgbClr val="1B1F3B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using gates</a:t>
            </a:r>
            <a:endParaRPr lang="en-US" sz="2400" dirty="0"/>
          </a:p>
        </p:txBody>
      </p:sp>
      <p:sp>
        <p:nvSpPr>
          <p:cNvPr id="16" name="Text 14"/>
          <p:cNvSpPr txBox="1"/>
          <p:nvPr/>
        </p:nvSpPr>
        <p:spPr>
          <a:xfrm>
            <a:off x="8503920" y="3520440"/>
            <a:ext cx="2834640" cy="15544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lnSpc>
                <a:spcPct val="125000"/>
              </a:lnSpc>
              <a:buNone/>
            </a:pPr>
            <a:r>
              <a:rPr lang="en-US" sz="1150" dirty="0">
                <a:solidFill>
                  <a:srgbClr val="16413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Gates actively decide which information is worth carrying forward across many time steps, instead of letting it fade passively.</a:t>
            </a:r>
            <a:endParaRPr lang="en-US" sz="1150" dirty="0"/>
          </a:p>
        </p:txBody>
      </p:sp>
      <p:sp>
        <p:nvSpPr>
          <p:cNvPr id="17" name="Text 15"/>
          <p:cNvSpPr txBox="1"/>
          <p:nvPr/>
        </p:nvSpPr>
        <p:spPr>
          <a:xfrm>
            <a:off x="457200" y="6400800"/>
            <a:ext cx="64008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900" spc="150" kern="0" dirty="0">
                <a:solidFill>
                  <a:srgbClr val="AAB1D6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GRU · GATED RECURRENT UNIT</a:t>
            </a:r>
            <a:endParaRPr lang="en-US" sz="900" dirty="0"/>
          </a:p>
        </p:txBody>
      </p:sp>
      <p:sp>
        <p:nvSpPr>
          <p:cNvPr id="18" name="Text 16"/>
          <p:cNvSpPr txBox="1"/>
          <p:nvPr/>
        </p:nvSpPr>
        <p:spPr>
          <a:xfrm>
            <a:off x="11277295" y="6400800"/>
            <a:ext cx="4572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900" dirty="0">
                <a:solidFill>
                  <a:srgbClr val="AAB1D6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04</a:t>
            </a:r>
            <a:endParaRPr lang="en-US" sz="900" dirty="0"/>
          </a:p>
        </p:txBody>
      </p:sp>
    </p:spTree>
  </p:cSld>
  <p:clrMapOvr>
    <a:masterClrMapping/>
  </p:clrMapOvr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5"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 txBox="1"/>
          <p:nvPr/>
        </p:nvSpPr>
        <p:spPr>
          <a:xfrm>
            <a:off x="640080" y="457200"/>
            <a:ext cx="731520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00" b="1" spc="200" kern="0" dirty="0">
                <a:solidFill>
                  <a:srgbClr val="FF9F1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03 · EVOLUTION</a:t>
            </a:r>
            <a:endParaRPr lang="en-US" sz="1200" dirty="0"/>
          </a:p>
        </p:txBody>
      </p:sp>
      <p:sp>
        <p:nvSpPr>
          <p:cNvPr id="3" name="Text 1"/>
          <p:cNvSpPr txBox="1"/>
          <p:nvPr/>
        </p:nvSpPr>
        <p:spPr>
          <a:xfrm>
            <a:off x="640080" y="749808"/>
            <a:ext cx="9601200" cy="7772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3000" b="1" dirty="0">
                <a:solidFill>
                  <a:srgbClr val="1B1F3B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RNN → LSTM → GRU</a:t>
            </a:r>
            <a:endParaRPr lang="en-US" sz="3000" dirty="0"/>
          </a:p>
        </p:txBody>
      </p:sp>
      <p:sp>
        <p:nvSpPr>
          <p:cNvPr id="4" name="Shape 2"/>
          <p:cNvSpPr/>
          <p:nvPr/>
        </p:nvSpPr>
        <p:spPr>
          <a:xfrm>
            <a:off x="777240" y="1965960"/>
            <a:ext cx="3246120" cy="3291840"/>
          </a:xfrm>
          <a:prstGeom prst="roundRect">
            <a:avLst>
              <a:gd name="adj" fmla="val 2817"/>
            </a:avLst>
          </a:prstGeom>
          <a:solidFill>
            <a:srgbClr val="E8EEF7"/>
          </a:solidFill>
          <a:ln/>
        </p:spPr>
      </p:sp>
      <p:sp>
        <p:nvSpPr>
          <p:cNvPr id="5" name="Text 3"/>
          <p:cNvSpPr txBox="1"/>
          <p:nvPr/>
        </p:nvSpPr>
        <p:spPr>
          <a:xfrm>
            <a:off x="1051560" y="2286000"/>
            <a:ext cx="2697480" cy="6400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3000" b="1" dirty="0">
                <a:solidFill>
                  <a:srgbClr val="1B1F3B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RNN</a:t>
            </a:r>
            <a:endParaRPr lang="en-US" sz="3000" dirty="0"/>
          </a:p>
        </p:txBody>
      </p:sp>
      <p:sp>
        <p:nvSpPr>
          <p:cNvPr id="6" name="Text 4"/>
          <p:cNvSpPr txBox="1"/>
          <p:nvPr/>
        </p:nvSpPr>
        <p:spPr>
          <a:xfrm>
            <a:off x="1051560" y="2926080"/>
            <a:ext cx="269748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50" b="1" spc="150" kern="0" dirty="0">
                <a:solidFill>
                  <a:srgbClr val="1B1F3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BASELINE</a:t>
            </a:r>
            <a:endParaRPr lang="en-US" sz="1050" dirty="0"/>
          </a:p>
        </p:txBody>
      </p:sp>
      <p:sp>
        <p:nvSpPr>
          <p:cNvPr id="7" name="Text 5"/>
          <p:cNvSpPr txBox="1"/>
          <p:nvPr/>
        </p:nvSpPr>
        <p:spPr>
          <a:xfrm>
            <a:off x="1051560" y="3337560"/>
            <a:ext cx="2697480" cy="17373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lnSpc>
                <a:spcPct val="130000"/>
              </a:lnSpc>
              <a:buNone/>
            </a:pPr>
            <a:r>
              <a:rPr lang="en-US" sz="1200" dirty="0">
                <a:solidFill>
                  <a:srgbClr val="6B729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Simple recurrence; struggles with long-term memory (vanishing gradient)</a:t>
            </a:r>
            <a:endParaRPr lang="en-US" sz="1200" dirty="0"/>
          </a:p>
        </p:txBody>
      </p:sp>
      <p:sp>
        <p:nvSpPr>
          <p:cNvPr id="8" name="Shape 6"/>
          <p:cNvSpPr/>
          <p:nvPr/>
        </p:nvSpPr>
        <p:spPr>
          <a:xfrm>
            <a:off x="4096512" y="3429000"/>
            <a:ext cx="365760" cy="365760"/>
          </a:xfrm>
          <a:prstGeom prst="chevron">
            <a:avLst/>
          </a:prstGeom>
          <a:solidFill>
            <a:srgbClr val="6B7290"/>
          </a:solidFill>
          <a:ln/>
        </p:spPr>
      </p:sp>
      <p:sp>
        <p:nvSpPr>
          <p:cNvPr id="9" name="Shape 7"/>
          <p:cNvSpPr/>
          <p:nvPr/>
        </p:nvSpPr>
        <p:spPr>
          <a:xfrm>
            <a:off x="4526280" y="1965960"/>
            <a:ext cx="3246120" cy="3291840"/>
          </a:xfrm>
          <a:prstGeom prst="roundRect">
            <a:avLst>
              <a:gd name="adj" fmla="val 2817"/>
            </a:avLst>
          </a:prstGeom>
          <a:solidFill>
            <a:srgbClr val="1B1F3B"/>
          </a:solidFill>
          <a:ln/>
        </p:spPr>
      </p:sp>
      <p:sp>
        <p:nvSpPr>
          <p:cNvPr id="10" name="Text 8"/>
          <p:cNvSpPr txBox="1"/>
          <p:nvPr/>
        </p:nvSpPr>
        <p:spPr>
          <a:xfrm>
            <a:off x="4800600" y="2286000"/>
            <a:ext cx="2697480" cy="6400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3000" b="1" dirty="0">
                <a:solidFill>
                  <a:srgbClr val="FFFFFF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LSTM</a:t>
            </a:r>
            <a:endParaRPr lang="en-US" sz="3000" dirty="0"/>
          </a:p>
        </p:txBody>
      </p:sp>
      <p:sp>
        <p:nvSpPr>
          <p:cNvPr id="11" name="Text 9"/>
          <p:cNvSpPr txBox="1"/>
          <p:nvPr/>
        </p:nvSpPr>
        <p:spPr>
          <a:xfrm>
            <a:off x="4800600" y="2926080"/>
            <a:ext cx="269748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50" b="1" spc="150" kern="0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THE FIX</a:t>
            </a:r>
            <a:endParaRPr lang="en-US" sz="1050" dirty="0"/>
          </a:p>
        </p:txBody>
      </p:sp>
      <p:sp>
        <p:nvSpPr>
          <p:cNvPr id="12" name="Text 10"/>
          <p:cNvSpPr txBox="1"/>
          <p:nvPr/>
        </p:nvSpPr>
        <p:spPr>
          <a:xfrm>
            <a:off x="4800600" y="3337560"/>
            <a:ext cx="2697480" cy="17373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lnSpc>
                <a:spcPct val="130000"/>
              </a:lnSpc>
              <a:buNone/>
            </a:pPr>
            <a:r>
              <a:rPr lang="en-US" sz="1200" dirty="0">
                <a:solidFill>
                  <a:srgbClr val="AAB1D6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Adds 3 gates + a cell state; powerful but complex and slower to train</a:t>
            </a:r>
            <a:endParaRPr lang="en-US" sz="1200" dirty="0"/>
          </a:p>
        </p:txBody>
      </p:sp>
      <p:sp>
        <p:nvSpPr>
          <p:cNvPr id="13" name="Shape 11"/>
          <p:cNvSpPr/>
          <p:nvPr/>
        </p:nvSpPr>
        <p:spPr>
          <a:xfrm>
            <a:off x="7845552" y="3429000"/>
            <a:ext cx="365760" cy="365760"/>
          </a:xfrm>
          <a:prstGeom prst="chevron">
            <a:avLst/>
          </a:prstGeom>
          <a:solidFill>
            <a:srgbClr val="6B7290"/>
          </a:solidFill>
          <a:ln/>
        </p:spPr>
      </p:sp>
      <p:sp>
        <p:nvSpPr>
          <p:cNvPr id="14" name="Shape 12"/>
          <p:cNvSpPr/>
          <p:nvPr/>
        </p:nvSpPr>
        <p:spPr>
          <a:xfrm>
            <a:off x="8275320" y="1965960"/>
            <a:ext cx="3246120" cy="3291840"/>
          </a:xfrm>
          <a:prstGeom prst="roundRect">
            <a:avLst>
              <a:gd name="adj" fmla="val 2817"/>
            </a:avLst>
          </a:prstGeom>
          <a:solidFill>
            <a:srgbClr val="2EC4B6"/>
          </a:solidFill>
          <a:ln/>
        </p:spPr>
      </p:sp>
      <p:sp>
        <p:nvSpPr>
          <p:cNvPr id="15" name="Text 13"/>
          <p:cNvSpPr txBox="1"/>
          <p:nvPr/>
        </p:nvSpPr>
        <p:spPr>
          <a:xfrm>
            <a:off x="8549640" y="2286000"/>
            <a:ext cx="2697480" cy="6400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3000" b="1" dirty="0">
                <a:solidFill>
                  <a:srgbClr val="1B1F3B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GRU</a:t>
            </a:r>
            <a:endParaRPr lang="en-US" sz="3000" dirty="0"/>
          </a:p>
        </p:txBody>
      </p:sp>
      <p:sp>
        <p:nvSpPr>
          <p:cNvPr id="16" name="Text 14"/>
          <p:cNvSpPr txBox="1"/>
          <p:nvPr/>
        </p:nvSpPr>
        <p:spPr>
          <a:xfrm>
            <a:off x="8549640" y="2926080"/>
            <a:ext cx="269748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50" b="1" spc="150" kern="0" dirty="0">
                <a:solidFill>
                  <a:srgbClr val="1B1F3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THE REFINEMENT</a:t>
            </a:r>
            <a:endParaRPr lang="en-US" sz="1050" dirty="0"/>
          </a:p>
        </p:txBody>
      </p:sp>
      <p:sp>
        <p:nvSpPr>
          <p:cNvPr id="17" name="Text 15"/>
          <p:cNvSpPr txBox="1"/>
          <p:nvPr/>
        </p:nvSpPr>
        <p:spPr>
          <a:xfrm>
            <a:off x="8549640" y="3337560"/>
            <a:ext cx="2697480" cy="17373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lnSpc>
                <a:spcPct val="130000"/>
              </a:lnSpc>
              <a:buNone/>
            </a:pPr>
            <a:r>
              <a:rPr lang="en-US" sz="1200" dirty="0">
                <a:solidFill>
                  <a:srgbClr val="1A5C54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Simplifies LSTM to 2 gates; fewer parameters, usually faster training</a:t>
            </a:r>
            <a:endParaRPr lang="en-US" sz="1200" dirty="0"/>
          </a:p>
        </p:txBody>
      </p:sp>
      <p:sp>
        <p:nvSpPr>
          <p:cNvPr id="18" name="Text 16"/>
          <p:cNvSpPr txBox="1"/>
          <p:nvPr/>
        </p:nvSpPr>
        <p:spPr>
          <a:xfrm>
            <a:off x="777240" y="5486400"/>
            <a:ext cx="1060704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00" i="1" dirty="0">
                <a:solidFill>
                  <a:srgbClr val="6B729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Each step trades some representational power for simplicity and speed — GRU lands on a practical middle ground.</a:t>
            </a:r>
            <a:endParaRPr lang="en-US" sz="1200" dirty="0"/>
          </a:p>
        </p:txBody>
      </p:sp>
      <p:sp>
        <p:nvSpPr>
          <p:cNvPr id="19" name="Text 17"/>
          <p:cNvSpPr txBox="1"/>
          <p:nvPr/>
        </p:nvSpPr>
        <p:spPr>
          <a:xfrm>
            <a:off x="457200" y="6400800"/>
            <a:ext cx="64008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900" spc="150" kern="0" dirty="0">
                <a:solidFill>
                  <a:srgbClr val="6B729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GRU · GATED RECURRENT UNIT</a:t>
            </a:r>
            <a:endParaRPr lang="en-US" sz="900" dirty="0"/>
          </a:p>
        </p:txBody>
      </p:sp>
      <p:sp>
        <p:nvSpPr>
          <p:cNvPr id="20" name="Text 18"/>
          <p:cNvSpPr txBox="1"/>
          <p:nvPr/>
        </p:nvSpPr>
        <p:spPr>
          <a:xfrm>
            <a:off x="11277295" y="6400800"/>
            <a:ext cx="4572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900" dirty="0">
                <a:solidFill>
                  <a:srgbClr val="6B729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05</a:t>
            </a:r>
            <a:endParaRPr lang="en-US" sz="900" dirty="0"/>
          </a:p>
        </p:txBody>
      </p:sp>
    </p:spTree>
  </p:cSld>
  <p:clrMapOvr>
    <a:masterClrMapping/>
  </p:clrMapOvr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6"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 txBox="1"/>
          <p:nvPr/>
        </p:nvSpPr>
        <p:spPr>
          <a:xfrm>
            <a:off x="640080" y="457200"/>
            <a:ext cx="731520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00" b="1" spc="200" kern="0" dirty="0">
                <a:solidFill>
                  <a:srgbClr val="FF9F1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04 · ARCHITECTURE</a:t>
            </a:r>
            <a:endParaRPr lang="en-US" sz="1200" dirty="0"/>
          </a:p>
        </p:txBody>
      </p:sp>
      <p:sp>
        <p:nvSpPr>
          <p:cNvPr id="3" name="Text 1"/>
          <p:cNvSpPr txBox="1"/>
          <p:nvPr/>
        </p:nvSpPr>
        <p:spPr>
          <a:xfrm>
            <a:off x="640080" y="749808"/>
            <a:ext cx="9601200" cy="7772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3000" b="1" dirty="0">
                <a:solidFill>
                  <a:srgbClr val="1B1F3B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Inside the GRU Cell</a:t>
            </a:r>
            <a:endParaRPr lang="en-US" sz="3000" dirty="0"/>
          </a:p>
        </p:txBody>
      </p:sp>
      <p:sp>
        <p:nvSpPr>
          <p:cNvPr id="4" name="Text 2"/>
          <p:cNvSpPr txBox="1"/>
          <p:nvPr/>
        </p:nvSpPr>
        <p:spPr>
          <a:xfrm>
            <a:off x="640080" y="1664208"/>
            <a:ext cx="731520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300" dirty="0">
                <a:solidFill>
                  <a:srgbClr val="6B729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 GRU mainly uses two gates working together to produce the new hidden state.</a:t>
            </a:r>
            <a:endParaRPr lang="en-US" sz="1300" dirty="0"/>
          </a:p>
        </p:txBody>
      </p:sp>
      <p:sp>
        <p:nvSpPr>
          <p:cNvPr id="5" name="Shape 3"/>
          <p:cNvSpPr/>
          <p:nvPr/>
        </p:nvSpPr>
        <p:spPr>
          <a:xfrm>
            <a:off x="4572000" y="2148840"/>
            <a:ext cx="2926080" cy="548640"/>
          </a:xfrm>
          <a:prstGeom prst="roundRect">
            <a:avLst>
              <a:gd name="adj" fmla="val 15000"/>
            </a:avLst>
          </a:prstGeom>
          <a:solidFill>
            <a:srgbClr val="E8EEF7"/>
          </a:solidFill>
          <a:ln/>
        </p:spPr>
      </p:sp>
      <p:sp>
        <p:nvSpPr>
          <p:cNvPr id="6" name="Text 4"/>
          <p:cNvSpPr txBox="1"/>
          <p:nvPr/>
        </p:nvSpPr>
        <p:spPr>
          <a:xfrm>
            <a:off x="4572000" y="2148840"/>
            <a:ext cx="2926080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200" b="1" dirty="0">
                <a:solidFill>
                  <a:srgbClr val="1B1F3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Previous Hidden State (hₜ₋₁)</a:t>
            </a:r>
            <a:endParaRPr lang="en-US" sz="1200" dirty="0"/>
          </a:p>
        </p:txBody>
      </p:sp>
      <p:sp>
        <p:nvSpPr>
          <p:cNvPr id="7" name="Shape 5"/>
          <p:cNvSpPr/>
          <p:nvPr/>
        </p:nvSpPr>
        <p:spPr>
          <a:xfrm rot="5400000">
            <a:off x="5870448" y="2761488"/>
            <a:ext cx="329184" cy="237744"/>
          </a:xfrm>
          <a:prstGeom prst="chevron">
            <a:avLst/>
          </a:prstGeom>
          <a:solidFill>
            <a:srgbClr val="6B7290"/>
          </a:solidFill>
          <a:ln/>
        </p:spPr>
      </p:sp>
      <p:sp>
        <p:nvSpPr>
          <p:cNvPr id="8" name="Shape 6"/>
          <p:cNvSpPr/>
          <p:nvPr/>
        </p:nvSpPr>
        <p:spPr>
          <a:xfrm>
            <a:off x="3520440" y="3063240"/>
            <a:ext cx="2331720" cy="685800"/>
          </a:xfrm>
          <a:prstGeom prst="roundRect">
            <a:avLst>
              <a:gd name="adj" fmla="val 13333"/>
            </a:avLst>
          </a:prstGeom>
          <a:solidFill>
            <a:srgbClr val="2EC4B6"/>
          </a:solidFill>
          <a:ln/>
        </p:spPr>
      </p:sp>
      <p:sp>
        <p:nvSpPr>
          <p:cNvPr id="9" name="Text 7"/>
          <p:cNvSpPr txBox="1"/>
          <p:nvPr/>
        </p:nvSpPr>
        <p:spPr>
          <a:xfrm>
            <a:off x="3520440" y="3063240"/>
            <a:ext cx="2331720" cy="6858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350" b="1" dirty="0">
                <a:solidFill>
                  <a:srgbClr val="1B1F3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Update Gate</a:t>
            </a:r>
            <a:endParaRPr lang="en-US" sz="1350" dirty="0"/>
          </a:p>
        </p:txBody>
      </p:sp>
      <p:sp>
        <p:nvSpPr>
          <p:cNvPr id="10" name="Shape 8"/>
          <p:cNvSpPr/>
          <p:nvPr/>
        </p:nvSpPr>
        <p:spPr>
          <a:xfrm>
            <a:off x="6217920" y="3063240"/>
            <a:ext cx="2331720" cy="685800"/>
          </a:xfrm>
          <a:prstGeom prst="roundRect">
            <a:avLst>
              <a:gd name="adj" fmla="val 13333"/>
            </a:avLst>
          </a:prstGeom>
          <a:solidFill>
            <a:srgbClr val="FF9F1C"/>
          </a:solidFill>
          <a:ln/>
        </p:spPr>
      </p:sp>
      <p:sp>
        <p:nvSpPr>
          <p:cNvPr id="11" name="Text 9"/>
          <p:cNvSpPr txBox="1"/>
          <p:nvPr/>
        </p:nvSpPr>
        <p:spPr>
          <a:xfrm>
            <a:off x="6217920" y="3063240"/>
            <a:ext cx="2331720" cy="6858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350" b="1" dirty="0">
                <a:solidFill>
                  <a:srgbClr val="1B1F3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Reset Gate</a:t>
            </a:r>
            <a:endParaRPr lang="en-US" sz="1350" dirty="0"/>
          </a:p>
        </p:txBody>
      </p:sp>
      <p:sp>
        <p:nvSpPr>
          <p:cNvPr id="12" name="Text 10"/>
          <p:cNvSpPr txBox="1"/>
          <p:nvPr/>
        </p:nvSpPr>
        <p:spPr>
          <a:xfrm>
            <a:off x="3520440" y="3840480"/>
            <a:ext cx="233172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050" i="1" dirty="0">
                <a:solidFill>
                  <a:srgbClr val="6B729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“What to remember?”</a:t>
            </a:r>
            <a:endParaRPr lang="en-US" sz="1050" dirty="0"/>
          </a:p>
        </p:txBody>
      </p:sp>
      <p:sp>
        <p:nvSpPr>
          <p:cNvPr id="13" name="Text 11"/>
          <p:cNvSpPr txBox="1"/>
          <p:nvPr/>
        </p:nvSpPr>
        <p:spPr>
          <a:xfrm>
            <a:off x="6217920" y="3840480"/>
            <a:ext cx="233172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050" i="1" dirty="0">
                <a:solidFill>
                  <a:srgbClr val="6B729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“What to forget?”</a:t>
            </a:r>
            <a:endParaRPr lang="en-US" sz="1050" dirty="0"/>
          </a:p>
        </p:txBody>
      </p:sp>
      <p:sp>
        <p:nvSpPr>
          <p:cNvPr id="14" name="Shape 12"/>
          <p:cNvSpPr/>
          <p:nvPr/>
        </p:nvSpPr>
        <p:spPr>
          <a:xfrm rot="8100000">
            <a:off x="4544568" y="4224528"/>
            <a:ext cx="274320" cy="219456"/>
          </a:xfrm>
          <a:prstGeom prst="chevron">
            <a:avLst/>
          </a:prstGeom>
          <a:solidFill>
            <a:srgbClr val="6B7290"/>
          </a:solidFill>
          <a:ln/>
        </p:spPr>
      </p:sp>
      <p:sp>
        <p:nvSpPr>
          <p:cNvPr id="15" name="Shape 13"/>
          <p:cNvSpPr/>
          <p:nvPr/>
        </p:nvSpPr>
        <p:spPr>
          <a:xfrm rot="2700000">
            <a:off x="7269480" y="4224528"/>
            <a:ext cx="274320" cy="219456"/>
          </a:xfrm>
          <a:prstGeom prst="chevron">
            <a:avLst/>
          </a:prstGeom>
          <a:solidFill>
            <a:srgbClr val="6B7290"/>
          </a:solidFill>
          <a:ln/>
        </p:spPr>
      </p:sp>
      <p:sp>
        <p:nvSpPr>
          <p:cNvPr id="16" name="Shape 14"/>
          <p:cNvSpPr/>
          <p:nvPr/>
        </p:nvSpPr>
        <p:spPr>
          <a:xfrm>
            <a:off x="4434840" y="4526280"/>
            <a:ext cx="3200400" cy="777240"/>
          </a:xfrm>
          <a:prstGeom prst="roundRect">
            <a:avLst>
              <a:gd name="adj" fmla="val 11765"/>
            </a:avLst>
          </a:prstGeom>
          <a:solidFill>
            <a:srgbClr val="1B1F3B"/>
          </a:solidFill>
          <a:ln/>
        </p:spPr>
      </p:sp>
      <p:sp>
        <p:nvSpPr>
          <p:cNvPr id="17" name="Text 15"/>
          <p:cNvSpPr txBox="1"/>
          <p:nvPr/>
        </p:nvSpPr>
        <p:spPr>
          <a:xfrm>
            <a:off x="4434840" y="4526280"/>
            <a:ext cx="3200400" cy="7772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5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GRU Cell</a:t>
            </a:r>
            <a:endParaRPr lang="en-US" sz="1500" dirty="0"/>
          </a:p>
        </p:txBody>
      </p:sp>
      <p:sp>
        <p:nvSpPr>
          <p:cNvPr id="18" name="Shape 16"/>
          <p:cNvSpPr/>
          <p:nvPr/>
        </p:nvSpPr>
        <p:spPr>
          <a:xfrm rot="5400000">
            <a:off x="5870448" y="5349240"/>
            <a:ext cx="329184" cy="237744"/>
          </a:xfrm>
          <a:prstGeom prst="chevron">
            <a:avLst/>
          </a:prstGeom>
          <a:solidFill>
            <a:srgbClr val="6B7290"/>
          </a:solidFill>
          <a:ln/>
        </p:spPr>
      </p:sp>
      <p:sp>
        <p:nvSpPr>
          <p:cNvPr id="19" name="Shape 17"/>
          <p:cNvSpPr/>
          <p:nvPr/>
        </p:nvSpPr>
        <p:spPr>
          <a:xfrm>
            <a:off x="4572000" y="5650992"/>
            <a:ext cx="2926080" cy="502920"/>
          </a:xfrm>
          <a:prstGeom prst="roundRect">
            <a:avLst>
              <a:gd name="adj" fmla="val 16364"/>
            </a:avLst>
          </a:prstGeom>
          <a:solidFill>
            <a:srgbClr val="E8EEF7"/>
          </a:solidFill>
          <a:ln/>
        </p:spPr>
      </p:sp>
      <p:sp>
        <p:nvSpPr>
          <p:cNvPr id="20" name="Text 18"/>
          <p:cNvSpPr txBox="1"/>
          <p:nvPr/>
        </p:nvSpPr>
        <p:spPr>
          <a:xfrm>
            <a:off x="4572000" y="5650992"/>
            <a:ext cx="2926080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200" b="1" dirty="0">
                <a:solidFill>
                  <a:srgbClr val="1B1F3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New Hidden State</a:t>
            </a:r>
            <a:endParaRPr lang="en-US" sz="1200" dirty="0"/>
          </a:p>
        </p:txBody>
      </p:sp>
      <p:sp>
        <p:nvSpPr>
          <p:cNvPr id="21" name="Shape 19"/>
          <p:cNvSpPr/>
          <p:nvPr/>
        </p:nvSpPr>
        <p:spPr>
          <a:xfrm>
            <a:off x="640080" y="4526280"/>
            <a:ext cx="1920240" cy="777240"/>
          </a:xfrm>
          <a:prstGeom prst="roundRect">
            <a:avLst>
              <a:gd name="adj" fmla="val 11765"/>
            </a:avLst>
          </a:prstGeom>
          <a:solidFill>
            <a:srgbClr val="252B52"/>
          </a:solidFill>
          <a:ln/>
        </p:spPr>
      </p:sp>
      <p:sp>
        <p:nvSpPr>
          <p:cNvPr id="22" name="Text 20"/>
          <p:cNvSpPr txBox="1"/>
          <p:nvPr/>
        </p:nvSpPr>
        <p:spPr>
          <a:xfrm>
            <a:off x="640080" y="4526280"/>
            <a:ext cx="1920240" cy="7772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4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Input xₜ</a:t>
            </a:r>
            <a:endParaRPr lang="en-US" sz="1400" dirty="0"/>
          </a:p>
        </p:txBody>
      </p:sp>
      <p:sp>
        <p:nvSpPr>
          <p:cNvPr id="23" name="Shape 21"/>
          <p:cNvSpPr/>
          <p:nvPr/>
        </p:nvSpPr>
        <p:spPr>
          <a:xfrm>
            <a:off x="2697480" y="4791456"/>
            <a:ext cx="320040" cy="256032"/>
          </a:xfrm>
          <a:prstGeom prst="chevron">
            <a:avLst/>
          </a:prstGeom>
          <a:solidFill>
            <a:srgbClr val="6B7290"/>
          </a:solidFill>
          <a:ln/>
        </p:spPr>
      </p:sp>
      <p:sp>
        <p:nvSpPr>
          <p:cNvPr id="24" name="Text 22"/>
          <p:cNvSpPr txBox="1"/>
          <p:nvPr/>
        </p:nvSpPr>
        <p:spPr>
          <a:xfrm>
            <a:off x="457200" y="6400800"/>
            <a:ext cx="64008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900" spc="150" kern="0" dirty="0">
                <a:solidFill>
                  <a:srgbClr val="6B729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GRU · GATED RECURRENT UNIT</a:t>
            </a:r>
            <a:endParaRPr lang="en-US" sz="900" dirty="0"/>
          </a:p>
        </p:txBody>
      </p:sp>
      <p:sp>
        <p:nvSpPr>
          <p:cNvPr id="25" name="Text 23"/>
          <p:cNvSpPr txBox="1"/>
          <p:nvPr/>
        </p:nvSpPr>
        <p:spPr>
          <a:xfrm>
            <a:off x="11277295" y="6400800"/>
            <a:ext cx="4572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900" dirty="0">
                <a:solidFill>
                  <a:srgbClr val="6B729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06</a:t>
            </a:r>
            <a:endParaRPr lang="en-US" sz="900" dirty="0"/>
          </a:p>
        </p:txBody>
      </p:sp>
    </p:spTree>
  </p:cSld>
  <p:clrMapOvr>
    <a:masterClrMapping/>
  </p:clrMapOvr>
</p:sld>
</file>

<file path=ppt/slides/slide7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7"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 txBox="1"/>
          <p:nvPr/>
        </p:nvSpPr>
        <p:spPr>
          <a:xfrm>
            <a:off x="640080" y="457200"/>
            <a:ext cx="731520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00" b="1" spc="200" kern="0" dirty="0">
                <a:solidFill>
                  <a:srgbClr val="FF9F1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05 · UPDATE GATE</a:t>
            </a:r>
            <a:endParaRPr lang="en-US" sz="1200" dirty="0"/>
          </a:p>
        </p:txBody>
      </p:sp>
      <p:sp>
        <p:nvSpPr>
          <p:cNvPr id="3" name="Text 1"/>
          <p:cNvSpPr txBox="1"/>
          <p:nvPr/>
        </p:nvSpPr>
        <p:spPr>
          <a:xfrm>
            <a:off x="640080" y="749808"/>
            <a:ext cx="9601200" cy="7772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3000" b="1" dirty="0">
                <a:solidFill>
                  <a:srgbClr val="1B1F3B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The Update Gate</a:t>
            </a:r>
            <a:endParaRPr lang="en-US" sz="3000" dirty="0"/>
          </a:p>
        </p:txBody>
      </p:sp>
      <p:sp>
        <p:nvSpPr>
          <p:cNvPr id="4" name="Shape 2"/>
          <p:cNvSpPr/>
          <p:nvPr/>
        </p:nvSpPr>
        <p:spPr>
          <a:xfrm>
            <a:off x="640080" y="1691640"/>
            <a:ext cx="5212080" cy="1005840"/>
          </a:xfrm>
          <a:prstGeom prst="roundRect">
            <a:avLst>
              <a:gd name="adj" fmla="val 8182"/>
            </a:avLst>
          </a:prstGeom>
          <a:solidFill>
            <a:srgbClr val="2EC4B6"/>
          </a:solidFill>
          <a:ln/>
        </p:spPr>
      </p:sp>
      <p:sp>
        <p:nvSpPr>
          <p:cNvPr id="5" name="Text 3"/>
          <p:cNvSpPr txBox="1"/>
          <p:nvPr/>
        </p:nvSpPr>
        <p:spPr>
          <a:xfrm>
            <a:off x="914400" y="1691640"/>
            <a:ext cx="4663440" cy="10058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1700" b="1" i="1" dirty="0">
                <a:solidFill>
                  <a:srgbClr val="1B1F3B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How much old information should I keep?</a:t>
            </a:r>
            <a:endParaRPr lang="en-US" sz="1700" dirty="0"/>
          </a:p>
        </p:txBody>
      </p:sp>
      <p:sp>
        <p:nvSpPr>
          <p:cNvPr id="6" name="Text 4"/>
          <p:cNvSpPr txBox="1"/>
          <p:nvPr/>
        </p:nvSpPr>
        <p:spPr>
          <a:xfrm>
            <a:off x="640080" y="2880360"/>
            <a:ext cx="5212080" cy="7315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lnSpc>
                <a:spcPct val="130000"/>
              </a:lnSpc>
              <a:buNone/>
            </a:pPr>
            <a:r>
              <a:rPr lang="en-US" sz="1300" dirty="0">
                <a:solidFill>
                  <a:srgbClr val="2B2F4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The update gate controls the flow of information from the previous hidden state into the new hidden state.</a:t>
            </a:r>
            <a:endParaRPr lang="en-US" sz="1300" dirty="0"/>
          </a:p>
        </p:txBody>
      </p:sp>
      <p:sp>
        <p:nvSpPr>
          <p:cNvPr id="7" name="Shape 5"/>
          <p:cNvSpPr/>
          <p:nvPr/>
        </p:nvSpPr>
        <p:spPr>
          <a:xfrm>
            <a:off x="640080" y="3703320"/>
            <a:ext cx="5212080" cy="2331720"/>
          </a:xfrm>
          <a:prstGeom prst="roundRect">
            <a:avLst>
              <a:gd name="adj" fmla="val 3529"/>
            </a:avLst>
          </a:prstGeom>
          <a:solidFill>
            <a:srgbClr val="F2F5FA"/>
          </a:solidFill>
          <a:ln/>
        </p:spPr>
      </p:sp>
      <p:sp>
        <p:nvSpPr>
          <p:cNvPr id="8" name="Text 6"/>
          <p:cNvSpPr txBox="1"/>
          <p:nvPr/>
        </p:nvSpPr>
        <p:spPr>
          <a:xfrm>
            <a:off x="914400" y="3886200"/>
            <a:ext cx="45720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00" b="1" spc="150" kern="0" dirty="0">
                <a:solidFill>
                  <a:srgbClr val="6B729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EXAMPLE</a:t>
            </a:r>
            <a:endParaRPr lang="en-US" sz="1000" dirty="0"/>
          </a:p>
        </p:txBody>
      </p:sp>
      <p:sp>
        <p:nvSpPr>
          <p:cNvPr id="9" name="Text 7"/>
          <p:cNvSpPr txBox="1"/>
          <p:nvPr/>
        </p:nvSpPr>
        <p:spPr>
          <a:xfrm>
            <a:off x="914400" y="4206240"/>
            <a:ext cx="466344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50" dirty="0">
                <a:solidFill>
                  <a:srgbClr val="2B2F4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Previous: “I studied Python.”</a:t>
            </a:r>
            <a:endParaRPr lang="en-US" sz="1250" dirty="0"/>
          </a:p>
        </p:txBody>
      </p:sp>
      <p:sp>
        <p:nvSpPr>
          <p:cNvPr id="10" name="Text 8"/>
          <p:cNvSpPr txBox="1"/>
          <p:nvPr/>
        </p:nvSpPr>
        <p:spPr>
          <a:xfrm>
            <a:off x="914400" y="4526280"/>
            <a:ext cx="466344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50" dirty="0">
                <a:solidFill>
                  <a:srgbClr val="2B2F4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Current: “I am learning TensorFlow.”</a:t>
            </a:r>
            <a:endParaRPr lang="en-US" sz="1250" dirty="0"/>
          </a:p>
        </p:txBody>
      </p:sp>
      <p:sp>
        <p:nvSpPr>
          <p:cNvPr id="11" name="Shape 9"/>
          <p:cNvSpPr/>
          <p:nvPr/>
        </p:nvSpPr>
        <p:spPr>
          <a:xfrm>
            <a:off x="914400" y="4983480"/>
            <a:ext cx="4480560" cy="9144"/>
          </a:xfrm>
          <a:prstGeom prst="rect">
            <a:avLst/>
          </a:prstGeom>
          <a:solidFill>
            <a:srgbClr val="D5DDEC"/>
          </a:solidFill>
          <a:ln/>
        </p:spPr>
      </p:sp>
      <p:sp>
        <p:nvSpPr>
          <p:cNvPr id="12" name="Text 10"/>
          <p:cNvSpPr txBox="1"/>
          <p:nvPr/>
        </p:nvSpPr>
        <p:spPr>
          <a:xfrm>
            <a:off x="914400" y="5120640"/>
            <a:ext cx="274320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00" dirty="0">
                <a:solidFill>
                  <a:srgbClr val="6B729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Keep old information?</a:t>
            </a:r>
            <a:endParaRPr lang="en-US" sz="1200" dirty="0"/>
          </a:p>
        </p:txBody>
      </p:sp>
      <p:sp>
        <p:nvSpPr>
          <p:cNvPr id="13" name="Text 11"/>
          <p:cNvSpPr txBox="1"/>
          <p:nvPr/>
        </p:nvSpPr>
        <p:spPr>
          <a:xfrm>
            <a:off x="3840480" y="5120640"/>
            <a:ext cx="118872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50" b="1" dirty="0">
                <a:solidFill>
                  <a:srgbClr val="1A8F84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Yes</a:t>
            </a:r>
            <a:endParaRPr lang="en-US" sz="1250" dirty="0"/>
          </a:p>
        </p:txBody>
      </p:sp>
      <p:sp>
        <p:nvSpPr>
          <p:cNvPr id="14" name="Text 12"/>
          <p:cNvSpPr txBox="1"/>
          <p:nvPr/>
        </p:nvSpPr>
        <p:spPr>
          <a:xfrm>
            <a:off x="914400" y="5468112"/>
            <a:ext cx="274320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00" dirty="0">
                <a:solidFill>
                  <a:srgbClr val="6B729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Replace with new info?</a:t>
            </a:r>
            <a:endParaRPr lang="en-US" sz="1200" dirty="0"/>
          </a:p>
        </p:txBody>
      </p:sp>
      <p:sp>
        <p:nvSpPr>
          <p:cNvPr id="15" name="Text 13"/>
          <p:cNvSpPr txBox="1"/>
          <p:nvPr/>
        </p:nvSpPr>
        <p:spPr>
          <a:xfrm>
            <a:off x="3840480" y="5468112"/>
            <a:ext cx="118872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50" b="1" dirty="0">
                <a:solidFill>
                  <a:srgbClr val="C9780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Partially</a:t>
            </a:r>
            <a:endParaRPr lang="en-US" sz="1250" dirty="0"/>
          </a:p>
        </p:txBody>
      </p:sp>
      <p:sp>
        <p:nvSpPr>
          <p:cNvPr id="16" name="Shape 14"/>
          <p:cNvSpPr/>
          <p:nvPr/>
        </p:nvSpPr>
        <p:spPr>
          <a:xfrm>
            <a:off x="6309360" y="1691640"/>
            <a:ext cx="5257800" cy="4343400"/>
          </a:xfrm>
          <a:prstGeom prst="roundRect">
            <a:avLst>
              <a:gd name="adj" fmla="val 1895"/>
            </a:avLst>
          </a:prstGeom>
          <a:solidFill>
            <a:srgbClr val="1B1F3B"/>
          </a:solidFill>
          <a:ln/>
        </p:spPr>
      </p:sp>
      <p:sp>
        <p:nvSpPr>
          <p:cNvPr id="17" name="Text 15"/>
          <p:cNvSpPr txBox="1"/>
          <p:nvPr/>
        </p:nvSpPr>
        <p:spPr>
          <a:xfrm>
            <a:off x="6583680" y="1920240"/>
            <a:ext cx="466344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50" b="1" spc="150" kern="0" dirty="0">
                <a:solidFill>
                  <a:srgbClr val="FF9F1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KEY INSIGHT</a:t>
            </a:r>
            <a:endParaRPr lang="en-US" sz="1050" dirty="0"/>
          </a:p>
        </p:txBody>
      </p:sp>
      <p:sp>
        <p:nvSpPr>
          <p:cNvPr id="18" name="Text 16"/>
          <p:cNvSpPr txBox="1"/>
          <p:nvPr/>
        </p:nvSpPr>
        <p:spPr>
          <a:xfrm>
            <a:off x="6583680" y="2286000"/>
            <a:ext cx="4709160" cy="10972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lnSpc>
                <a:spcPct val="130000"/>
              </a:lnSpc>
              <a:buNone/>
            </a:pPr>
            <a:r>
              <a:rPr lang="en-US" sz="1400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The update gate acts like a combination of LSTM's forget gate and input gate — one mechanism doing both jobs.</a:t>
            </a:r>
            <a:endParaRPr lang="en-US" sz="1400" dirty="0"/>
          </a:p>
        </p:txBody>
      </p:sp>
      <p:sp>
        <p:nvSpPr>
          <p:cNvPr id="19" name="Shape 17"/>
          <p:cNvSpPr/>
          <p:nvPr/>
        </p:nvSpPr>
        <p:spPr>
          <a:xfrm>
            <a:off x="6583680" y="3520440"/>
            <a:ext cx="4709160" cy="9144"/>
          </a:xfrm>
          <a:prstGeom prst="rect">
            <a:avLst/>
          </a:prstGeom>
          <a:solidFill>
            <a:srgbClr val="3A4070"/>
          </a:solidFill>
          <a:ln/>
        </p:spPr>
      </p:sp>
      <p:sp>
        <p:nvSpPr>
          <p:cNvPr id="20" name="Text 18"/>
          <p:cNvSpPr txBox="1"/>
          <p:nvPr/>
        </p:nvSpPr>
        <p:spPr>
          <a:xfrm>
            <a:off x="6583680" y="3794760"/>
            <a:ext cx="27432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800" b="1" i="1" dirty="0">
                <a:solidFill>
                  <a:srgbClr val="2EC4B6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z</a:t>
            </a:r>
            <a:endParaRPr lang="en-US" sz="1800" dirty="0"/>
          </a:p>
        </p:txBody>
      </p:sp>
      <p:sp>
        <p:nvSpPr>
          <p:cNvPr id="21" name="Text 19"/>
          <p:cNvSpPr txBox="1"/>
          <p:nvPr/>
        </p:nvSpPr>
        <p:spPr>
          <a:xfrm>
            <a:off x="6784848" y="3977640"/>
            <a:ext cx="27432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00" i="1" dirty="0">
                <a:solidFill>
                  <a:srgbClr val="2EC4B6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t</a:t>
            </a:r>
            <a:endParaRPr lang="en-US" sz="1100" dirty="0"/>
          </a:p>
        </p:txBody>
      </p:sp>
      <p:sp>
        <p:nvSpPr>
          <p:cNvPr id="22" name="Text 20"/>
          <p:cNvSpPr txBox="1"/>
          <p:nvPr/>
        </p:nvSpPr>
        <p:spPr>
          <a:xfrm>
            <a:off x="6995160" y="3794760"/>
            <a:ext cx="118872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800" b="1" i="1" dirty="0">
                <a:solidFill>
                  <a:srgbClr val="FFFFFF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= σ(W</a:t>
            </a:r>
            <a:endParaRPr lang="en-US" sz="1800" dirty="0"/>
          </a:p>
        </p:txBody>
      </p:sp>
      <p:sp>
        <p:nvSpPr>
          <p:cNvPr id="23" name="Text 21"/>
          <p:cNvSpPr txBox="1"/>
          <p:nvPr/>
        </p:nvSpPr>
        <p:spPr>
          <a:xfrm>
            <a:off x="7772400" y="3977640"/>
            <a:ext cx="2286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00" i="1" dirty="0">
                <a:solidFill>
                  <a:srgbClr val="FFFFFF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z</a:t>
            </a:r>
            <a:endParaRPr lang="en-US" sz="1100" dirty="0"/>
          </a:p>
        </p:txBody>
      </p:sp>
      <p:sp>
        <p:nvSpPr>
          <p:cNvPr id="24" name="Text 22"/>
          <p:cNvSpPr txBox="1"/>
          <p:nvPr/>
        </p:nvSpPr>
        <p:spPr>
          <a:xfrm>
            <a:off x="8001000" y="3794760"/>
            <a:ext cx="310896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800" b="1" i="1" dirty="0">
                <a:solidFill>
                  <a:srgbClr val="FFFFFF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xₜ + Uz hₜ₋₁)</a:t>
            </a:r>
            <a:endParaRPr lang="en-US" sz="1800" dirty="0"/>
          </a:p>
        </p:txBody>
      </p:sp>
      <p:sp>
        <p:nvSpPr>
          <p:cNvPr id="25" name="Text 23"/>
          <p:cNvSpPr txBox="1"/>
          <p:nvPr/>
        </p:nvSpPr>
        <p:spPr>
          <a:xfrm>
            <a:off x="6583680" y="4343400"/>
            <a:ext cx="4709160" cy="6400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lnSpc>
                <a:spcPct val="130000"/>
              </a:lnSpc>
              <a:buNone/>
            </a:pPr>
            <a:r>
              <a:rPr lang="en-US" sz="1200" i="1" dirty="0">
                <a:solidFill>
                  <a:srgbClr val="AAB1D6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Output is a value between 0 and 1 — the closer to 1, the more of the past is preserved.</a:t>
            </a:r>
            <a:endParaRPr lang="en-US" sz="1200" dirty="0"/>
          </a:p>
        </p:txBody>
      </p:sp>
      <p:sp>
        <p:nvSpPr>
          <p:cNvPr id="26" name="Text 24"/>
          <p:cNvSpPr txBox="1"/>
          <p:nvPr/>
        </p:nvSpPr>
        <p:spPr>
          <a:xfrm>
            <a:off x="457200" y="6400800"/>
            <a:ext cx="64008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900" spc="150" kern="0" dirty="0">
                <a:solidFill>
                  <a:srgbClr val="6B729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GRU · GATED RECURRENT UNIT</a:t>
            </a:r>
            <a:endParaRPr lang="en-US" sz="900" dirty="0"/>
          </a:p>
        </p:txBody>
      </p:sp>
      <p:sp>
        <p:nvSpPr>
          <p:cNvPr id="27" name="Text 25"/>
          <p:cNvSpPr txBox="1"/>
          <p:nvPr/>
        </p:nvSpPr>
        <p:spPr>
          <a:xfrm>
            <a:off x="11277295" y="6400800"/>
            <a:ext cx="4572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900" dirty="0">
                <a:solidFill>
                  <a:srgbClr val="6B729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07</a:t>
            </a:r>
            <a:endParaRPr lang="en-US" sz="900" dirty="0"/>
          </a:p>
        </p:txBody>
      </p:sp>
    </p:spTree>
  </p:cSld>
  <p:clrMapOvr>
    <a:masterClrMapping/>
  </p:clrMapOvr>
</p:sld>
</file>

<file path=ppt/slides/slide8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8"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 txBox="1"/>
          <p:nvPr/>
        </p:nvSpPr>
        <p:spPr>
          <a:xfrm>
            <a:off x="640080" y="457200"/>
            <a:ext cx="731520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00" b="1" spc="200" kern="0" dirty="0">
                <a:solidFill>
                  <a:srgbClr val="FF9F1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06 · RESET GATE</a:t>
            </a:r>
            <a:endParaRPr lang="en-US" sz="1200" dirty="0"/>
          </a:p>
        </p:txBody>
      </p:sp>
      <p:sp>
        <p:nvSpPr>
          <p:cNvPr id="3" name="Text 1"/>
          <p:cNvSpPr txBox="1"/>
          <p:nvPr/>
        </p:nvSpPr>
        <p:spPr>
          <a:xfrm>
            <a:off x="640080" y="749808"/>
            <a:ext cx="9601200" cy="7772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3000" b="1" dirty="0">
                <a:solidFill>
                  <a:srgbClr val="1B1F3B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The Reset Gate</a:t>
            </a:r>
            <a:endParaRPr lang="en-US" sz="3000" dirty="0"/>
          </a:p>
        </p:txBody>
      </p:sp>
      <p:sp>
        <p:nvSpPr>
          <p:cNvPr id="4" name="Shape 2"/>
          <p:cNvSpPr/>
          <p:nvPr/>
        </p:nvSpPr>
        <p:spPr>
          <a:xfrm>
            <a:off x="640080" y="1691640"/>
            <a:ext cx="5212080" cy="1005840"/>
          </a:xfrm>
          <a:prstGeom prst="roundRect">
            <a:avLst>
              <a:gd name="adj" fmla="val 8182"/>
            </a:avLst>
          </a:prstGeom>
          <a:solidFill>
            <a:srgbClr val="FF9F1C"/>
          </a:solidFill>
          <a:ln/>
        </p:spPr>
      </p:sp>
      <p:sp>
        <p:nvSpPr>
          <p:cNvPr id="5" name="Text 3"/>
          <p:cNvSpPr txBox="1"/>
          <p:nvPr/>
        </p:nvSpPr>
        <p:spPr>
          <a:xfrm>
            <a:off x="914400" y="1691640"/>
            <a:ext cx="4663440" cy="10058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1700" b="1" i="1" dirty="0">
                <a:solidFill>
                  <a:srgbClr val="1B1F3B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How much of the past should I ignore right now?</a:t>
            </a:r>
            <a:endParaRPr lang="en-US" sz="1700" dirty="0"/>
          </a:p>
        </p:txBody>
      </p:sp>
      <p:sp>
        <p:nvSpPr>
          <p:cNvPr id="6" name="Text 4"/>
          <p:cNvSpPr txBox="1"/>
          <p:nvPr/>
        </p:nvSpPr>
        <p:spPr>
          <a:xfrm>
            <a:off x="640080" y="2880360"/>
            <a:ext cx="5212080" cy="7315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lnSpc>
                <a:spcPct val="130000"/>
              </a:lnSpc>
              <a:buNone/>
            </a:pPr>
            <a:r>
              <a:rPr lang="en-US" sz="1300" dirty="0">
                <a:solidFill>
                  <a:srgbClr val="2B2F4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The reset gate decides how much of the previous hidden state should be ignored when processing the current input.</a:t>
            </a:r>
            <a:endParaRPr lang="en-US" sz="1300" dirty="0"/>
          </a:p>
        </p:txBody>
      </p:sp>
      <p:sp>
        <p:nvSpPr>
          <p:cNvPr id="7" name="Shape 5"/>
          <p:cNvSpPr/>
          <p:nvPr/>
        </p:nvSpPr>
        <p:spPr>
          <a:xfrm>
            <a:off x="640080" y="3703320"/>
            <a:ext cx="5212080" cy="2331720"/>
          </a:xfrm>
          <a:prstGeom prst="roundRect">
            <a:avLst>
              <a:gd name="adj" fmla="val 3529"/>
            </a:avLst>
          </a:prstGeom>
          <a:solidFill>
            <a:srgbClr val="F2F5FA"/>
          </a:solidFill>
          <a:ln/>
        </p:spPr>
      </p:sp>
      <p:sp>
        <p:nvSpPr>
          <p:cNvPr id="8" name="Text 6"/>
          <p:cNvSpPr txBox="1"/>
          <p:nvPr/>
        </p:nvSpPr>
        <p:spPr>
          <a:xfrm>
            <a:off x="914400" y="3886200"/>
            <a:ext cx="45720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00" b="1" spc="150" kern="0" dirty="0">
                <a:solidFill>
                  <a:srgbClr val="6B729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EXAMPLE</a:t>
            </a:r>
            <a:endParaRPr lang="en-US" sz="1000" dirty="0"/>
          </a:p>
        </p:txBody>
      </p:sp>
      <p:sp>
        <p:nvSpPr>
          <p:cNvPr id="9" name="Text 7"/>
          <p:cNvSpPr txBox="1"/>
          <p:nvPr/>
        </p:nvSpPr>
        <p:spPr>
          <a:xfrm>
            <a:off x="914400" y="4206240"/>
            <a:ext cx="4663440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lnSpc>
                <a:spcPct val="115000"/>
              </a:lnSpc>
              <a:buNone/>
            </a:pPr>
            <a:r>
              <a:rPr lang="en-US" sz="1250" dirty="0">
                <a:solidFill>
                  <a:srgbClr val="2B2F4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Previous: “The weather yesterday was terrible.”</a:t>
            </a:r>
            <a:endParaRPr lang="en-US" sz="1250" dirty="0"/>
          </a:p>
        </p:txBody>
      </p:sp>
      <p:sp>
        <p:nvSpPr>
          <p:cNvPr id="10" name="Text 8"/>
          <p:cNvSpPr txBox="1"/>
          <p:nvPr/>
        </p:nvSpPr>
        <p:spPr>
          <a:xfrm>
            <a:off x="914400" y="4736592"/>
            <a:ext cx="466344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50" dirty="0">
                <a:solidFill>
                  <a:srgbClr val="2B2F4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Current: “Today I am learning Python.”</a:t>
            </a:r>
            <a:endParaRPr lang="en-US" sz="1250" dirty="0"/>
          </a:p>
        </p:txBody>
      </p:sp>
      <p:sp>
        <p:nvSpPr>
          <p:cNvPr id="11" name="Shape 9"/>
          <p:cNvSpPr/>
          <p:nvPr/>
        </p:nvSpPr>
        <p:spPr>
          <a:xfrm>
            <a:off x="914400" y="5166360"/>
            <a:ext cx="4480560" cy="9144"/>
          </a:xfrm>
          <a:prstGeom prst="rect">
            <a:avLst/>
          </a:prstGeom>
          <a:solidFill>
            <a:srgbClr val="D5DDEC"/>
          </a:solidFill>
          <a:ln/>
        </p:spPr>
      </p:sp>
      <p:sp>
        <p:nvSpPr>
          <p:cNvPr id="12" name="Text 10"/>
          <p:cNvSpPr txBox="1"/>
          <p:nvPr/>
        </p:nvSpPr>
        <p:spPr>
          <a:xfrm>
            <a:off x="914400" y="5321808"/>
            <a:ext cx="4663440" cy="5943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lnSpc>
                <a:spcPct val="125000"/>
              </a:lnSpc>
              <a:buNone/>
            </a:pPr>
            <a:r>
              <a:rPr lang="en-US" sz="1200" i="1" dirty="0">
                <a:solidFill>
                  <a:srgbClr val="6B729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The old weather info isn't useful here — the reset gate reduces its influence on the new candidate state.</a:t>
            </a:r>
            <a:endParaRPr lang="en-US" sz="1200" dirty="0"/>
          </a:p>
        </p:txBody>
      </p:sp>
      <p:sp>
        <p:nvSpPr>
          <p:cNvPr id="13" name="Shape 11"/>
          <p:cNvSpPr/>
          <p:nvPr/>
        </p:nvSpPr>
        <p:spPr>
          <a:xfrm>
            <a:off x="6309360" y="1691640"/>
            <a:ext cx="5257800" cy="4343400"/>
          </a:xfrm>
          <a:prstGeom prst="roundRect">
            <a:avLst>
              <a:gd name="adj" fmla="val 1895"/>
            </a:avLst>
          </a:prstGeom>
          <a:solidFill>
            <a:srgbClr val="1B1F3B"/>
          </a:solidFill>
          <a:ln/>
        </p:spPr>
      </p:sp>
      <p:sp>
        <p:nvSpPr>
          <p:cNvPr id="14" name="Text 12"/>
          <p:cNvSpPr txBox="1"/>
          <p:nvPr/>
        </p:nvSpPr>
        <p:spPr>
          <a:xfrm>
            <a:off x="6583680" y="1920240"/>
            <a:ext cx="466344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50" b="1" spc="150" kern="0" dirty="0">
                <a:solidFill>
                  <a:srgbClr val="FF9F1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KEY INSIGHT</a:t>
            </a:r>
            <a:endParaRPr lang="en-US" sz="1050" dirty="0"/>
          </a:p>
        </p:txBody>
      </p:sp>
      <p:sp>
        <p:nvSpPr>
          <p:cNvPr id="15" name="Text 13"/>
          <p:cNvSpPr txBox="1"/>
          <p:nvPr/>
        </p:nvSpPr>
        <p:spPr>
          <a:xfrm>
            <a:off x="6583680" y="2286000"/>
            <a:ext cx="4709160" cy="10972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lnSpc>
                <a:spcPct val="130000"/>
              </a:lnSpc>
              <a:buNone/>
            </a:pPr>
            <a:r>
              <a:rPr lang="en-US" sz="1400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Reset gate = controls how much previous information is used when forming the new candidate memory.</a:t>
            </a:r>
            <a:endParaRPr lang="en-US" sz="1400" dirty="0"/>
          </a:p>
        </p:txBody>
      </p:sp>
      <p:sp>
        <p:nvSpPr>
          <p:cNvPr id="16" name="Shape 14"/>
          <p:cNvSpPr/>
          <p:nvPr/>
        </p:nvSpPr>
        <p:spPr>
          <a:xfrm>
            <a:off x="6583680" y="3520440"/>
            <a:ext cx="4709160" cy="9144"/>
          </a:xfrm>
          <a:prstGeom prst="rect">
            <a:avLst/>
          </a:prstGeom>
          <a:solidFill>
            <a:srgbClr val="3A4070"/>
          </a:solidFill>
          <a:ln/>
        </p:spPr>
      </p:sp>
      <p:sp>
        <p:nvSpPr>
          <p:cNvPr id="17" name="Text 15"/>
          <p:cNvSpPr txBox="1"/>
          <p:nvPr/>
        </p:nvSpPr>
        <p:spPr>
          <a:xfrm>
            <a:off x="6583680" y="3794760"/>
            <a:ext cx="22860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800" b="1" i="1" dirty="0">
                <a:solidFill>
                  <a:srgbClr val="FF9F1C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r</a:t>
            </a:r>
            <a:endParaRPr lang="en-US" sz="1800" dirty="0"/>
          </a:p>
        </p:txBody>
      </p:sp>
      <p:sp>
        <p:nvSpPr>
          <p:cNvPr id="18" name="Text 16"/>
          <p:cNvSpPr txBox="1"/>
          <p:nvPr/>
        </p:nvSpPr>
        <p:spPr>
          <a:xfrm>
            <a:off x="6739128" y="3977640"/>
            <a:ext cx="27432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00" i="1" dirty="0">
                <a:solidFill>
                  <a:srgbClr val="FF9F1C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t</a:t>
            </a:r>
            <a:endParaRPr lang="en-US" sz="1100" dirty="0"/>
          </a:p>
        </p:txBody>
      </p:sp>
      <p:sp>
        <p:nvSpPr>
          <p:cNvPr id="19" name="Text 17"/>
          <p:cNvSpPr txBox="1"/>
          <p:nvPr/>
        </p:nvSpPr>
        <p:spPr>
          <a:xfrm>
            <a:off x="6949440" y="3794760"/>
            <a:ext cx="118872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800" b="1" i="1" dirty="0">
                <a:solidFill>
                  <a:srgbClr val="FFFFFF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= σ(W</a:t>
            </a:r>
            <a:endParaRPr lang="en-US" sz="1800" dirty="0"/>
          </a:p>
        </p:txBody>
      </p:sp>
      <p:sp>
        <p:nvSpPr>
          <p:cNvPr id="20" name="Text 18"/>
          <p:cNvSpPr txBox="1"/>
          <p:nvPr/>
        </p:nvSpPr>
        <p:spPr>
          <a:xfrm>
            <a:off x="7726680" y="3977640"/>
            <a:ext cx="2286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00" i="1" dirty="0">
                <a:solidFill>
                  <a:srgbClr val="FFFFFF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r</a:t>
            </a:r>
            <a:endParaRPr lang="en-US" sz="1100" dirty="0"/>
          </a:p>
        </p:txBody>
      </p:sp>
      <p:sp>
        <p:nvSpPr>
          <p:cNvPr id="21" name="Text 19"/>
          <p:cNvSpPr txBox="1"/>
          <p:nvPr/>
        </p:nvSpPr>
        <p:spPr>
          <a:xfrm>
            <a:off x="7936992" y="3794760"/>
            <a:ext cx="310896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800" b="1" i="1" dirty="0">
                <a:solidFill>
                  <a:srgbClr val="FFFFFF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xₜ + Ur hₜ₋₁)</a:t>
            </a:r>
            <a:endParaRPr lang="en-US" sz="1800" dirty="0"/>
          </a:p>
        </p:txBody>
      </p:sp>
      <p:sp>
        <p:nvSpPr>
          <p:cNvPr id="22" name="Text 20"/>
          <p:cNvSpPr txBox="1"/>
          <p:nvPr/>
        </p:nvSpPr>
        <p:spPr>
          <a:xfrm>
            <a:off x="6583680" y="4343400"/>
            <a:ext cx="4709160" cy="6400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lnSpc>
                <a:spcPct val="130000"/>
              </a:lnSpc>
              <a:buNone/>
            </a:pPr>
            <a:r>
              <a:rPr lang="en-US" sz="1200" i="1" dirty="0">
                <a:solidFill>
                  <a:srgbClr val="AAB1D6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Determines how much previous information influences the current candidate state.</a:t>
            </a:r>
            <a:endParaRPr lang="en-US" sz="1200" dirty="0"/>
          </a:p>
        </p:txBody>
      </p:sp>
      <p:sp>
        <p:nvSpPr>
          <p:cNvPr id="23" name="Text 21"/>
          <p:cNvSpPr txBox="1"/>
          <p:nvPr/>
        </p:nvSpPr>
        <p:spPr>
          <a:xfrm>
            <a:off x="457200" y="6400800"/>
            <a:ext cx="64008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900" spc="150" kern="0" dirty="0">
                <a:solidFill>
                  <a:srgbClr val="6B729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GRU · GATED RECURRENT UNIT</a:t>
            </a:r>
            <a:endParaRPr lang="en-US" sz="900" dirty="0"/>
          </a:p>
        </p:txBody>
      </p:sp>
      <p:sp>
        <p:nvSpPr>
          <p:cNvPr id="24" name="Text 22"/>
          <p:cNvSpPr txBox="1"/>
          <p:nvPr/>
        </p:nvSpPr>
        <p:spPr>
          <a:xfrm>
            <a:off x="11277295" y="6400800"/>
            <a:ext cx="4572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900" dirty="0">
                <a:solidFill>
                  <a:srgbClr val="6B729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08</a:t>
            </a:r>
            <a:endParaRPr lang="en-US" sz="900" dirty="0"/>
          </a:p>
        </p:txBody>
      </p:sp>
    </p:spTree>
  </p:cSld>
  <p:clrMapOvr>
    <a:masterClrMapping/>
  </p:clrMapOvr>
</p:sld>
</file>

<file path=ppt/slides/slide9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9">
    <p:bg>
      <p:bgPr>
        <a:solidFill>
          <a:srgbClr val="1B1F3B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 txBox="1"/>
          <p:nvPr/>
        </p:nvSpPr>
        <p:spPr>
          <a:xfrm>
            <a:off x="640080" y="457200"/>
            <a:ext cx="731520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00" b="1" spc="200" kern="0" dirty="0">
                <a:solidFill>
                  <a:srgbClr val="FF9F1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07 · QUICK COMPARE</a:t>
            </a:r>
            <a:endParaRPr lang="en-US" sz="1200" dirty="0"/>
          </a:p>
        </p:txBody>
      </p:sp>
      <p:sp>
        <p:nvSpPr>
          <p:cNvPr id="3" name="Text 1"/>
          <p:cNvSpPr txBox="1"/>
          <p:nvPr/>
        </p:nvSpPr>
        <p:spPr>
          <a:xfrm>
            <a:off x="640080" y="749808"/>
            <a:ext cx="9601200" cy="7772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3000" b="1" dirty="0">
                <a:solidFill>
                  <a:srgbClr val="FFFFFF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Update Gate vs Reset Gate</a:t>
            </a:r>
            <a:endParaRPr lang="en-US" sz="3000" dirty="0"/>
          </a:p>
        </p:txBody>
      </p:sp>
      <p:sp>
        <p:nvSpPr>
          <p:cNvPr id="4" name="Shape 2"/>
          <p:cNvSpPr/>
          <p:nvPr/>
        </p:nvSpPr>
        <p:spPr>
          <a:xfrm>
            <a:off x="777240" y="1920240"/>
            <a:ext cx="5120640" cy="2926080"/>
          </a:xfrm>
          <a:prstGeom prst="roundRect">
            <a:avLst>
              <a:gd name="adj" fmla="val 3125"/>
            </a:avLst>
          </a:prstGeom>
          <a:solidFill>
            <a:srgbClr val="2EC4B6"/>
          </a:solidFill>
          <a:ln/>
        </p:spPr>
      </p:sp>
      <p:sp>
        <p:nvSpPr>
          <p:cNvPr id="5" name="Text 3"/>
          <p:cNvSpPr txBox="1"/>
          <p:nvPr/>
        </p:nvSpPr>
        <p:spPr>
          <a:xfrm>
            <a:off x="1143000" y="2240280"/>
            <a:ext cx="438912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2200" b="1" dirty="0">
                <a:solidFill>
                  <a:srgbClr val="1B1F3B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Update Gate</a:t>
            </a:r>
            <a:endParaRPr lang="en-US" sz="2200" dirty="0"/>
          </a:p>
        </p:txBody>
      </p:sp>
      <p:sp>
        <p:nvSpPr>
          <p:cNvPr id="6" name="Text 4"/>
          <p:cNvSpPr txBox="1"/>
          <p:nvPr/>
        </p:nvSpPr>
        <p:spPr>
          <a:xfrm>
            <a:off x="1143000" y="2834640"/>
            <a:ext cx="4389120" cy="8229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lnSpc>
                <a:spcPct val="120000"/>
              </a:lnSpc>
              <a:buNone/>
            </a:pPr>
            <a:r>
              <a:rPr lang="en-US" sz="1600" b="1" i="1" dirty="0">
                <a:solidFill>
                  <a:srgbClr val="1B1F3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What information should I KEEP?</a:t>
            </a:r>
            <a:endParaRPr lang="en-US" sz="1600" dirty="0"/>
          </a:p>
        </p:txBody>
      </p:sp>
      <p:sp>
        <p:nvSpPr>
          <p:cNvPr id="7" name="Shape 5"/>
          <p:cNvSpPr/>
          <p:nvPr/>
        </p:nvSpPr>
        <p:spPr>
          <a:xfrm>
            <a:off x="1143000" y="3703320"/>
            <a:ext cx="4389120" cy="9144"/>
          </a:xfrm>
          <a:prstGeom prst="rect">
            <a:avLst/>
          </a:prstGeom>
          <a:solidFill>
            <a:srgbClr val="1B1F3B"/>
          </a:solidFill>
          <a:ln/>
        </p:spPr>
      </p:sp>
      <p:sp>
        <p:nvSpPr>
          <p:cNvPr id="8" name="Text 6"/>
          <p:cNvSpPr txBox="1"/>
          <p:nvPr/>
        </p:nvSpPr>
        <p:spPr>
          <a:xfrm>
            <a:off x="1143000" y="3886200"/>
            <a:ext cx="4389120" cy="8229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lnSpc>
                <a:spcPct val="125000"/>
              </a:lnSpc>
              <a:buNone/>
            </a:pPr>
            <a:r>
              <a:rPr lang="en-US" sz="1300" dirty="0">
                <a:solidFill>
                  <a:srgbClr val="1B1F3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Keep / replace information across time steps</a:t>
            </a:r>
            <a:endParaRPr lang="en-US" sz="1300" dirty="0"/>
          </a:p>
        </p:txBody>
      </p:sp>
      <p:sp>
        <p:nvSpPr>
          <p:cNvPr id="9" name="Shape 7"/>
          <p:cNvSpPr/>
          <p:nvPr/>
        </p:nvSpPr>
        <p:spPr>
          <a:xfrm>
            <a:off x="6355080" y="1920240"/>
            <a:ext cx="5120640" cy="2926080"/>
          </a:xfrm>
          <a:prstGeom prst="roundRect">
            <a:avLst>
              <a:gd name="adj" fmla="val 3125"/>
            </a:avLst>
          </a:prstGeom>
          <a:solidFill>
            <a:srgbClr val="FF9F1C"/>
          </a:solidFill>
          <a:ln/>
        </p:spPr>
      </p:sp>
      <p:sp>
        <p:nvSpPr>
          <p:cNvPr id="10" name="Text 8"/>
          <p:cNvSpPr txBox="1"/>
          <p:nvPr/>
        </p:nvSpPr>
        <p:spPr>
          <a:xfrm>
            <a:off x="6720840" y="2240280"/>
            <a:ext cx="438912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2200" b="1" dirty="0">
                <a:solidFill>
                  <a:srgbClr val="1B1F3B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Reset Gate</a:t>
            </a:r>
            <a:endParaRPr lang="en-US" sz="2200" dirty="0"/>
          </a:p>
        </p:txBody>
      </p:sp>
      <p:sp>
        <p:nvSpPr>
          <p:cNvPr id="11" name="Text 9"/>
          <p:cNvSpPr txBox="1"/>
          <p:nvPr/>
        </p:nvSpPr>
        <p:spPr>
          <a:xfrm>
            <a:off x="6720840" y="2834640"/>
            <a:ext cx="4389120" cy="8229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lnSpc>
                <a:spcPct val="120000"/>
              </a:lnSpc>
              <a:buNone/>
            </a:pPr>
            <a:r>
              <a:rPr lang="en-US" sz="1600" b="1" i="1" dirty="0">
                <a:solidFill>
                  <a:srgbClr val="1B1F3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What previous information should I IGNORE?</a:t>
            </a:r>
            <a:endParaRPr lang="en-US" sz="1600" dirty="0"/>
          </a:p>
        </p:txBody>
      </p:sp>
      <p:sp>
        <p:nvSpPr>
          <p:cNvPr id="12" name="Shape 10"/>
          <p:cNvSpPr/>
          <p:nvPr/>
        </p:nvSpPr>
        <p:spPr>
          <a:xfrm>
            <a:off x="6720840" y="3703320"/>
            <a:ext cx="4389120" cy="9144"/>
          </a:xfrm>
          <a:prstGeom prst="rect">
            <a:avLst/>
          </a:prstGeom>
          <a:solidFill>
            <a:srgbClr val="1B1F3B"/>
          </a:solidFill>
          <a:ln/>
        </p:spPr>
      </p:sp>
      <p:sp>
        <p:nvSpPr>
          <p:cNvPr id="13" name="Text 11"/>
          <p:cNvSpPr txBox="1"/>
          <p:nvPr/>
        </p:nvSpPr>
        <p:spPr>
          <a:xfrm>
            <a:off x="6720840" y="3886200"/>
            <a:ext cx="4389120" cy="8229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lnSpc>
                <a:spcPct val="125000"/>
              </a:lnSpc>
              <a:buNone/>
            </a:pPr>
            <a:r>
              <a:rPr lang="en-US" sz="1300" dirty="0">
                <a:solidFill>
                  <a:srgbClr val="1B1F3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Forget old information that's not relevant now</a:t>
            </a:r>
            <a:endParaRPr lang="en-US" sz="1300" dirty="0"/>
          </a:p>
        </p:txBody>
      </p:sp>
      <p:sp>
        <p:nvSpPr>
          <p:cNvPr id="14" name="Text 12"/>
          <p:cNvSpPr txBox="1"/>
          <p:nvPr/>
        </p:nvSpPr>
        <p:spPr>
          <a:xfrm>
            <a:off x="777240" y="5166360"/>
            <a:ext cx="1060704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400" b="1" i="1" dirty="0">
                <a:solidFill>
                  <a:srgbClr val="C7D3E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Easy way to remember:  UPDATE → keep / replace   ·   RESET → forget old</a:t>
            </a:r>
            <a:endParaRPr lang="en-US" sz="1400" dirty="0"/>
          </a:p>
        </p:txBody>
      </p:sp>
      <p:sp>
        <p:nvSpPr>
          <p:cNvPr id="15" name="Text 13"/>
          <p:cNvSpPr txBox="1"/>
          <p:nvPr/>
        </p:nvSpPr>
        <p:spPr>
          <a:xfrm>
            <a:off x="457200" y="6400800"/>
            <a:ext cx="64008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900" spc="150" kern="0" dirty="0">
                <a:solidFill>
                  <a:srgbClr val="AAB1D6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GRU · GATED RECURRENT UNIT</a:t>
            </a:r>
            <a:endParaRPr lang="en-US" sz="900" dirty="0"/>
          </a:p>
        </p:txBody>
      </p:sp>
      <p:sp>
        <p:nvSpPr>
          <p:cNvPr id="16" name="Text 14"/>
          <p:cNvSpPr txBox="1"/>
          <p:nvPr/>
        </p:nvSpPr>
        <p:spPr>
          <a:xfrm>
            <a:off x="11277295" y="6400800"/>
            <a:ext cx="4572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900" dirty="0">
                <a:solidFill>
                  <a:srgbClr val="AAB1D6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09</a:t>
            </a:r>
            <a:endParaRPr lang="en-US" sz="900" dirty="0"/>
          </a:p>
        </p:txBody>
      </p:sp>
    </p:spTree>
  </p:cSld>
  <p:clrMapOvr>
    <a:masterClrMapping/>
  </p:clrMapOvr>
</p:sld>
</file>

<file path=ppt/slides/slide10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0"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 txBox="1"/>
          <p:nvPr/>
        </p:nvSpPr>
        <p:spPr>
          <a:xfrm>
            <a:off x="640080" y="457200"/>
            <a:ext cx="731520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00" b="1" spc="200" kern="0" dirty="0">
                <a:solidFill>
                  <a:srgbClr val="FF9F1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08 · SEQUENCE PROCESSING</a:t>
            </a:r>
            <a:endParaRPr lang="en-US" sz="1200" dirty="0"/>
          </a:p>
        </p:txBody>
      </p:sp>
      <p:sp>
        <p:nvSpPr>
          <p:cNvPr id="3" name="Text 1"/>
          <p:cNvSpPr txBox="1"/>
          <p:nvPr/>
        </p:nvSpPr>
        <p:spPr>
          <a:xfrm>
            <a:off x="640080" y="749808"/>
            <a:ext cx="10058400" cy="7772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3000" b="1" dirty="0">
                <a:solidFill>
                  <a:srgbClr val="1B1F3B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How Information Flows Through GRU</a:t>
            </a:r>
            <a:endParaRPr lang="en-US" sz="3000" dirty="0"/>
          </a:p>
        </p:txBody>
      </p:sp>
      <p:sp>
        <p:nvSpPr>
          <p:cNvPr id="4" name="Text 2"/>
          <p:cNvSpPr txBox="1"/>
          <p:nvPr/>
        </p:nvSpPr>
        <p:spPr>
          <a:xfrm>
            <a:off x="640080" y="1664208"/>
            <a:ext cx="914400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300" dirty="0">
                <a:solidFill>
                  <a:srgbClr val="6B729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The GRU processes one token at a time, carrying a hidden state forward through the sequence.</a:t>
            </a:r>
            <a:endParaRPr lang="en-US" sz="1300" dirty="0"/>
          </a:p>
        </p:txBody>
      </p:sp>
      <p:sp>
        <p:nvSpPr>
          <p:cNvPr id="5" name="Shape 3"/>
          <p:cNvSpPr/>
          <p:nvPr/>
        </p:nvSpPr>
        <p:spPr>
          <a:xfrm>
            <a:off x="685800" y="2331720"/>
            <a:ext cx="2423160" cy="3246120"/>
          </a:xfrm>
          <a:prstGeom prst="roundRect">
            <a:avLst>
              <a:gd name="adj" fmla="val 3396"/>
            </a:avLst>
          </a:prstGeom>
          <a:solidFill>
            <a:srgbClr val="F2F5FA"/>
          </a:solidFill>
          <a:ln/>
        </p:spPr>
      </p:sp>
      <p:sp>
        <p:nvSpPr>
          <p:cNvPr id="6" name="Text 4"/>
          <p:cNvSpPr txBox="1"/>
          <p:nvPr/>
        </p:nvSpPr>
        <p:spPr>
          <a:xfrm>
            <a:off x="868680" y="2514600"/>
            <a:ext cx="20574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00" b="1" spc="150" kern="0" dirty="0">
                <a:solidFill>
                  <a:srgbClr val="6B729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STEP 1</a:t>
            </a:r>
            <a:endParaRPr lang="en-US" sz="1000" dirty="0"/>
          </a:p>
        </p:txBody>
      </p:sp>
      <p:sp>
        <p:nvSpPr>
          <p:cNvPr id="7" name="Shape 5"/>
          <p:cNvSpPr/>
          <p:nvPr/>
        </p:nvSpPr>
        <p:spPr>
          <a:xfrm>
            <a:off x="868680" y="2880360"/>
            <a:ext cx="2057400" cy="502920"/>
          </a:xfrm>
          <a:prstGeom prst="roundRect">
            <a:avLst>
              <a:gd name="adj" fmla="val 14545"/>
            </a:avLst>
          </a:prstGeom>
          <a:solidFill>
            <a:srgbClr val="1B1F3B"/>
          </a:solidFill>
          <a:ln/>
        </p:spPr>
      </p:sp>
      <p:sp>
        <p:nvSpPr>
          <p:cNvPr id="8" name="Text 6"/>
          <p:cNvSpPr txBox="1"/>
          <p:nvPr/>
        </p:nvSpPr>
        <p:spPr>
          <a:xfrm>
            <a:off x="868680" y="2880360"/>
            <a:ext cx="2057400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3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"I"</a:t>
            </a:r>
            <a:endParaRPr lang="en-US" sz="1300" dirty="0"/>
          </a:p>
        </p:txBody>
      </p:sp>
      <p:sp>
        <p:nvSpPr>
          <p:cNvPr id="9" name="Shape 7"/>
          <p:cNvSpPr/>
          <p:nvPr/>
        </p:nvSpPr>
        <p:spPr>
          <a:xfrm rot="5400000">
            <a:off x="1760220" y="3813048"/>
            <a:ext cx="274320" cy="219456"/>
          </a:xfrm>
          <a:prstGeom prst="chevron">
            <a:avLst/>
          </a:prstGeom>
          <a:solidFill>
            <a:srgbClr val="2EC4B6"/>
          </a:solidFill>
          <a:ln/>
        </p:spPr>
      </p:sp>
      <p:sp>
        <p:nvSpPr>
          <p:cNvPr id="10" name="Shape 8"/>
          <p:cNvSpPr/>
          <p:nvPr/>
        </p:nvSpPr>
        <p:spPr>
          <a:xfrm>
            <a:off x="868680" y="4114800"/>
            <a:ext cx="2057400" cy="502920"/>
          </a:xfrm>
          <a:prstGeom prst="roundRect">
            <a:avLst>
              <a:gd name="adj" fmla="val 14545"/>
            </a:avLst>
          </a:prstGeom>
          <a:solidFill>
            <a:srgbClr val="2EC4B6"/>
          </a:solidFill>
          <a:ln/>
        </p:spPr>
      </p:sp>
      <p:sp>
        <p:nvSpPr>
          <p:cNvPr id="11" name="Text 9"/>
          <p:cNvSpPr txBox="1"/>
          <p:nvPr/>
        </p:nvSpPr>
        <p:spPr>
          <a:xfrm>
            <a:off x="868680" y="4114800"/>
            <a:ext cx="2057400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300" b="1" dirty="0">
                <a:solidFill>
                  <a:srgbClr val="1B1F3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GRU</a:t>
            </a:r>
            <a:endParaRPr lang="en-US" sz="1300" dirty="0"/>
          </a:p>
        </p:txBody>
      </p:sp>
      <p:sp>
        <p:nvSpPr>
          <p:cNvPr id="12" name="Shape 10"/>
          <p:cNvSpPr/>
          <p:nvPr/>
        </p:nvSpPr>
        <p:spPr>
          <a:xfrm rot="5400000">
            <a:off x="1760220" y="4681728"/>
            <a:ext cx="274320" cy="219456"/>
          </a:xfrm>
          <a:prstGeom prst="chevron">
            <a:avLst/>
          </a:prstGeom>
          <a:solidFill>
            <a:srgbClr val="2EC4B6"/>
          </a:solidFill>
          <a:ln/>
        </p:spPr>
      </p:sp>
      <p:sp>
        <p:nvSpPr>
          <p:cNvPr id="13" name="Shape 11"/>
          <p:cNvSpPr/>
          <p:nvPr/>
        </p:nvSpPr>
        <p:spPr>
          <a:xfrm>
            <a:off x="868680" y="4983480"/>
            <a:ext cx="2057400" cy="457200"/>
          </a:xfrm>
          <a:prstGeom prst="roundRect">
            <a:avLst>
              <a:gd name="adj" fmla="val 16000"/>
            </a:avLst>
          </a:prstGeom>
          <a:solidFill>
            <a:srgbClr val="FFFFFF"/>
          </a:solidFill>
          <a:ln w="15875">
            <a:solidFill>
              <a:srgbClr val="1B1F3B"/>
            </a:solidFill>
            <a:prstDash val="solid"/>
          </a:ln>
        </p:spPr>
      </p:sp>
      <p:sp>
        <p:nvSpPr>
          <p:cNvPr id="14" name="Text 12"/>
          <p:cNvSpPr txBox="1"/>
          <p:nvPr/>
        </p:nvSpPr>
        <p:spPr>
          <a:xfrm>
            <a:off x="868680" y="4983480"/>
            <a:ext cx="205740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300" b="1" i="1" dirty="0">
                <a:solidFill>
                  <a:srgbClr val="1B1F3B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h₁</a:t>
            </a:r>
            <a:endParaRPr lang="en-US" sz="1300" dirty="0"/>
          </a:p>
        </p:txBody>
      </p:sp>
      <p:sp>
        <p:nvSpPr>
          <p:cNvPr id="15" name="Shape 13"/>
          <p:cNvSpPr/>
          <p:nvPr/>
        </p:nvSpPr>
        <p:spPr>
          <a:xfrm>
            <a:off x="3127248" y="3794760"/>
            <a:ext cx="219456" cy="274320"/>
          </a:xfrm>
          <a:prstGeom prst="chevron">
            <a:avLst/>
          </a:prstGeom>
          <a:solidFill>
            <a:srgbClr val="6B7290"/>
          </a:solidFill>
          <a:ln/>
        </p:spPr>
      </p:sp>
      <p:sp>
        <p:nvSpPr>
          <p:cNvPr id="16" name="Shape 14"/>
          <p:cNvSpPr/>
          <p:nvPr/>
        </p:nvSpPr>
        <p:spPr>
          <a:xfrm>
            <a:off x="3364992" y="2331720"/>
            <a:ext cx="2423160" cy="3246120"/>
          </a:xfrm>
          <a:prstGeom prst="roundRect">
            <a:avLst>
              <a:gd name="adj" fmla="val 3396"/>
            </a:avLst>
          </a:prstGeom>
          <a:solidFill>
            <a:srgbClr val="E8EEF7"/>
          </a:solidFill>
          <a:ln/>
        </p:spPr>
      </p:sp>
      <p:sp>
        <p:nvSpPr>
          <p:cNvPr id="17" name="Text 15"/>
          <p:cNvSpPr txBox="1"/>
          <p:nvPr/>
        </p:nvSpPr>
        <p:spPr>
          <a:xfrm>
            <a:off x="3547872" y="2514600"/>
            <a:ext cx="20574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00" b="1" spc="150" kern="0" dirty="0">
                <a:solidFill>
                  <a:srgbClr val="6B729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STEP 2</a:t>
            </a:r>
            <a:endParaRPr lang="en-US" sz="1000" dirty="0"/>
          </a:p>
        </p:txBody>
      </p:sp>
      <p:sp>
        <p:nvSpPr>
          <p:cNvPr id="18" name="Shape 16"/>
          <p:cNvSpPr/>
          <p:nvPr/>
        </p:nvSpPr>
        <p:spPr>
          <a:xfrm>
            <a:off x="3547872" y="2880360"/>
            <a:ext cx="2057400" cy="502920"/>
          </a:xfrm>
          <a:prstGeom prst="roundRect">
            <a:avLst>
              <a:gd name="adj" fmla="val 14545"/>
            </a:avLst>
          </a:prstGeom>
          <a:solidFill>
            <a:srgbClr val="1B1F3B"/>
          </a:solidFill>
          <a:ln/>
        </p:spPr>
      </p:sp>
      <p:sp>
        <p:nvSpPr>
          <p:cNvPr id="19" name="Text 17"/>
          <p:cNvSpPr txBox="1"/>
          <p:nvPr/>
        </p:nvSpPr>
        <p:spPr>
          <a:xfrm>
            <a:off x="3547872" y="2880360"/>
            <a:ext cx="2057400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3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"love"</a:t>
            </a:r>
            <a:endParaRPr lang="en-US" sz="1300" dirty="0"/>
          </a:p>
        </p:txBody>
      </p:sp>
      <p:sp>
        <p:nvSpPr>
          <p:cNvPr id="20" name="Text 18"/>
          <p:cNvSpPr txBox="1"/>
          <p:nvPr/>
        </p:nvSpPr>
        <p:spPr>
          <a:xfrm>
            <a:off x="3547872" y="3447288"/>
            <a:ext cx="20574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100" i="1" dirty="0">
                <a:solidFill>
                  <a:srgbClr val="6B729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+ h₁</a:t>
            </a:r>
            <a:endParaRPr lang="en-US" sz="1100" dirty="0"/>
          </a:p>
        </p:txBody>
      </p:sp>
      <p:sp>
        <p:nvSpPr>
          <p:cNvPr id="21" name="Shape 19"/>
          <p:cNvSpPr/>
          <p:nvPr/>
        </p:nvSpPr>
        <p:spPr>
          <a:xfrm rot="5400000">
            <a:off x="4439412" y="3813048"/>
            <a:ext cx="274320" cy="219456"/>
          </a:xfrm>
          <a:prstGeom prst="chevron">
            <a:avLst/>
          </a:prstGeom>
          <a:solidFill>
            <a:srgbClr val="2EC4B6"/>
          </a:solidFill>
          <a:ln/>
        </p:spPr>
      </p:sp>
      <p:sp>
        <p:nvSpPr>
          <p:cNvPr id="22" name="Shape 20"/>
          <p:cNvSpPr/>
          <p:nvPr/>
        </p:nvSpPr>
        <p:spPr>
          <a:xfrm>
            <a:off x="3547872" y="4114800"/>
            <a:ext cx="2057400" cy="502920"/>
          </a:xfrm>
          <a:prstGeom prst="roundRect">
            <a:avLst>
              <a:gd name="adj" fmla="val 14545"/>
            </a:avLst>
          </a:prstGeom>
          <a:solidFill>
            <a:srgbClr val="2EC4B6"/>
          </a:solidFill>
          <a:ln/>
        </p:spPr>
      </p:sp>
      <p:sp>
        <p:nvSpPr>
          <p:cNvPr id="23" name="Text 21"/>
          <p:cNvSpPr txBox="1"/>
          <p:nvPr/>
        </p:nvSpPr>
        <p:spPr>
          <a:xfrm>
            <a:off x="3547872" y="4114800"/>
            <a:ext cx="2057400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300" b="1" dirty="0">
                <a:solidFill>
                  <a:srgbClr val="1B1F3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GRU</a:t>
            </a:r>
            <a:endParaRPr lang="en-US" sz="1300" dirty="0"/>
          </a:p>
        </p:txBody>
      </p:sp>
      <p:sp>
        <p:nvSpPr>
          <p:cNvPr id="24" name="Shape 22"/>
          <p:cNvSpPr/>
          <p:nvPr/>
        </p:nvSpPr>
        <p:spPr>
          <a:xfrm rot="5400000">
            <a:off x="4439412" y="4681728"/>
            <a:ext cx="274320" cy="219456"/>
          </a:xfrm>
          <a:prstGeom prst="chevron">
            <a:avLst/>
          </a:prstGeom>
          <a:solidFill>
            <a:srgbClr val="2EC4B6"/>
          </a:solidFill>
          <a:ln/>
        </p:spPr>
      </p:sp>
      <p:sp>
        <p:nvSpPr>
          <p:cNvPr id="25" name="Shape 23"/>
          <p:cNvSpPr/>
          <p:nvPr/>
        </p:nvSpPr>
        <p:spPr>
          <a:xfrm>
            <a:off x="3547872" y="4983480"/>
            <a:ext cx="2057400" cy="457200"/>
          </a:xfrm>
          <a:prstGeom prst="roundRect">
            <a:avLst>
              <a:gd name="adj" fmla="val 16000"/>
            </a:avLst>
          </a:prstGeom>
          <a:solidFill>
            <a:srgbClr val="FFFFFF"/>
          </a:solidFill>
          <a:ln w="15875">
            <a:solidFill>
              <a:srgbClr val="1B1F3B"/>
            </a:solidFill>
            <a:prstDash val="solid"/>
          </a:ln>
        </p:spPr>
      </p:sp>
      <p:sp>
        <p:nvSpPr>
          <p:cNvPr id="26" name="Text 24"/>
          <p:cNvSpPr txBox="1"/>
          <p:nvPr/>
        </p:nvSpPr>
        <p:spPr>
          <a:xfrm>
            <a:off x="3547872" y="4983480"/>
            <a:ext cx="205740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300" b="1" i="1" dirty="0">
                <a:solidFill>
                  <a:srgbClr val="1B1F3B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h₂</a:t>
            </a:r>
            <a:endParaRPr lang="en-US" sz="1300" dirty="0"/>
          </a:p>
        </p:txBody>
      </p:sp>
      <p:sp>
        <p:nvSpPr>
          <p:cNvPr id="27" name="Shape 25"/>
          <p:cNvSpPr/>
          <p:nvPr/>
        </p:nvSpPr>
        <p:spPr>
          <a:xfrm>
            <a:off x="5806440" y="3794760"/>
            <a:ext cx="219456" cy="274320"/>
          </a:xfrm>
          <a:prstGeom prst="chevron">
            <a:avLst/>
          </a:prstGeom>
          <a:solidFill>
            <a:srgbClr val="6B7290"/>
          </a:solidFill>
          <a:ln/>
        </p:spPr>
      </p:sp>
      <p:sp>
        <p:nvSpPr>
          <p:cNvPr id="28" name="Shape 26"/>
          <p:cNvSpPr/>
          <p:nvPr/>
        </p:nvSpPr>
        <p:spPr>
          <a:xfrm>
            <a:off x="6044184" y="2331720"/>
            <a:ext cx="2423160" cy="3246120"/>
          </a:xfrm>
          <a:prstGeom prst="roundRect">
            <a:avLst>
              <a:gd name="adj" fmla="val 3396"/>
            </a:avLst>
          </a:prstGeom>
          <a:solidFill>
            <a:srgbClr val="F2F5FA"/>
          </a:solidFill>
          <a:ln/>
        </p:spPr>
      </p:sp>
      <p:sp>
        <p:nvSpPr>
          <p:cNvPr id="29" name="Text 27"/>
          <p:cNvSpPr txBox="1"/>
          <p:nvPr/>
        </p:nvSpPr>
        <p:spPr>
          <a:xfrm>
            <a:off x="6227064" y="2514600"/>
            <a:ext cx="20574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00" b="1" spc="150" kern="0" dirty="0">
                <a:solidFill>
                  <a:srgbClr val="6B729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STEP 3</a:t>
            </a:r>
            <a:endParaRPr lang="en-US" sz="1000" dirty="0"/>
          </a:p>
        </p:txBody>
      </p:sp>
      <p:sp>
        <p:nvSpPr>
          <p:cNvPr id="30" name="Shape 28"/>
          <p:cNvSpPr/>
          <p:nvPr/>
        </p:nvSpPr>
        <p:spPr>
          <a:xfrm>
            <a:off x="6227064" y="2880360"/>
            <a:ext cx="2057400" cy="502920"/>
          </a:xfrm>
          <a:prstGeom prst="roundRect">
            <a:avLst>
              <a:gd name="adj" fmla="val 14545"/>
            </a:avLst>
          </a:prstGeom>
          <a:solidFill>
            <a:srgbClr val="1B1F3B"/>
          </a:solidFill>
          <a:ln/>
        </p:spPr>
      </p:sp>
      <p:sp>
        <p:nvSpPr>
          <p:cNvPr id="31" name="Text 29"/>
          <p:cNvSpPr txBox="1"/>
          <p:nvPr/>
        </p:nvSpPr>
        <p:spPr>
          <a:xfrm>
            <a:off x="6227064" y="2880360"/>
            <a:ext cx="2057400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3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"machine"</a:t>
            </a:r>
            <a:endParaRPr lang="en-US" sz="1300" dirty="0"/>
          </a:p>
        </p:txBody>
      </p:sp>
      <p:sp>
        <p:nvSpPr>
          <p:cNvPr id="32" name="Text 30"/>
          <p:cNvSpPr txBox="1"/>
          <p:nvPr/>
        </p:nvSpPr>
        <p:spPr>
          <a:xfrm>
            <a:off x="6227064" y="3447288"/>
            <a:ext cx="20574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100" i="1" dirty="0">
                <a:solidFill>
                  <a:srgbClr val="6B729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+ h₂</a:t>
            </a:r>
            <a:endParaRPr lang="en-US" sz="1100" dirty="0"/>
          </a:p>
        </p:txBody>
      </p:sp>
      <p:sp>
        <p:nvSpPr>
          <p:cNvPr id="33" name="Shape 31"/>
          <p:cNvSpPr/>
          <p:nvPr/>
        </p:nvSpPr>
        <p:spPr>
          <a:xfrm rot="5400000">
            <a:off x="7118604" y="3813048"/>
            <a:ext cx="274320" cy="219456"/>
          </a:xfrm>
          <a:prstGeom prst="chevron">
            <a:avLst/>
          </a:prstGeom>
          <a:solidFill>
            <a:srgbClr val="2EC4B6"/>
          </a:solidFill>
          <a:ln/>
        </p:spPr>
      </p:sp>
      <p:sp>
        <p:nvSpPr>
          <p:cNvPr id="34" name="Shape 32"/>
          <p:cNvSpPr/>
          <p:nvPr/>
        </p:nvSpPr>
        <p:spPr>
          <a:xfrm>
            <a:off x="6227064" y="4114800"/>
            <a:ext cx="2057400" cy="502920"/>
          </a:xfrm>
          <a:prstGeom prst="roundRect">
            <a:avLst>
              <a:gd name="adj" fmla="val 14545"/>
            </a:avLst>
          </a:prstGeom>
          <a:solidFill>
            <a:srgbClr val="2EC4B6"/>
          </a:solidFill>
          <a:ln/>
        </p:spPr>
      </p:sp>
      <p:sp>
        <p:nvSpPr>
          <p:cNvPr id="35" name="Text 33"/>
          <p:cNvSpPr txBox="1"/>
          <p:nvPr/>
        </p:nvSpPr>
        <p:spPr>
          <a:xfrm>
            <a:off x="6227064" y="4114800"/>
            <a:ext cx="2057400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300" b="1" dirty="0">
                <a:solidFill>
                  <a:srgbClr val="1B1F3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GRU</a:t>
            </a:r>
            <a:endParaRPr lang="en-US" sz="1300" dirty="0"/>
          </a:p>
        </p:txBody>
      </p:sp>
      <p:sp>
        <p:nvSpPr>
          <p:cNvPr id="36" name="Shape 34"/>
          <p:cNvSpPr/>
          <p:nvPr/>
        </p:nvSpPr>
        <p:spPr>
          <a:xfrm rot="5400000">
            <a:off x="7118604" y="4681728"/>
            <a:ext cx="274320" cy="219456"/>
          </a:xfrm>
          <a:prstGeom prst="chevron">
            <a:avLst/>
          </a:prstGeom>
          <a:solidFill>
            <a:srgbClr val="2EC4B6"/>
          </a:solidFill>
          <a:ln/>
        </p:spPr>
      </p:sp>
      <p:sp>
        <p:nvSpPr>
          <p:cNvPr id="37" name="Shape 35"/>
          <p:cNvSpPr/>
          <p:nvPr/>
        </p:nvSpPr>
        <p:spPr>
          <a:xfrm>
            <a:off x="6227064" y="4983480"/>
            <a:ext cx="2057400" cy="457200"/>
          </a:xfrm>
          <a:prstGeom prst="roundRect">
            <a:avLst>
              <a:gd name="adj" fmla="val 16000"/>
            </a:avLst>
          </a:prstGeom>
          <a:solidFill>
            <a:srgbClr val="FFFFFF"/>
          </a:solidFill>
          <a:ln w="15875">
            <a:solidFill>
              <a:srgbClr val="1B1F3B"/>
            </a:solidFill>
            <a:prstDash val="solid"/>
          </a:ln>
        </p:spPr>
      </p:sp>
      <p:sp>
        <p:nvSpPr>
          <p:cNvPr id="38" name="Text 36"/>
          <p:cNvSpPr txBox="1"/>
          <p:nvPr/>
        </p:nvSpPr>
        <p:spPr>
          <a:xfrm>
            <a:off x="6227064" y="4983480"/>
            <a:ext cx="205740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300" b="1" i="1" dirty="0">
                <a:solidFill>
                  <a:srgbClr val="1B1F3B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h₃</a:t>
            </a:r>
            <a:endParaRPr lang="en-US" sz="1300" dirty="0"/>
          </a:p>
        </p:txBody>
      </p:sp>
      <p:sp>
        <p:nvSpPr>
          <p:cNvPr id="39" name="Shape 37"/>
          <p:cNvSpPr/>
          <p:nvPr/>
        </p:nvSpPr>
        <p:spPr>
          <a:xfrm>
            <a:off x="8485632" y="3794760"/>
            <a:ext cx="219456" cy="274320"/>
          </a:xfrm>
          <a:prstGeom prst="chevron">
            <a:avLst/>
          </a:prstGeom>
          <a:solidFill>
            <a:srgbClr val="6B7290"/>
          </a:solidFill>
          <a:ln/>
        </p:spPr>
      </p:sp>
      <p:sp>
        <p:nvSpPr>
          <p:cNvPr id="40" name="Shape 38"/>
          <p:cNvSpPr/>
          <p:nvPr/>
        </p:nvSpPr>
        <p:spPr>
          <a:xfrm>
            <a:off x="8723376" y="2331720"/>
            <a:ext cx="2423160" cy="3246120"/>
          </a:xfrm>
          <a:prstGeom prst="roundRect">
            <a:avLst>
              <a:gd name="adj" fmla="val 3396"/>
            </a:avLst>
          </a:prstGeom>
          <a:solidFill>
            <a:srgbClr val="E8EEF7"/>
          </a:solidFill>
          <a:ln/>
        </p:spPr>
      </p:sp>
      <p:sp>
        <p:nvSpPr>
          <p:cNvPr id="41" name="Text 39"/>
          <p:cNvSpPr txBox="1"/>
          <p:nvPr/>
        </p:nvSpPr>
        <p:spPr>
          <a:xfrm>
            <a:off x="8906256" y="2514600"/>
            <a:ext cx="20574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00" b="1" spc="150" kern="0" dirty="0">
                <a:solidFill>
                  <a:srgbClr val="6B729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STEP 4</a:t>
            </a:r>
            <a:endParaRPr lang="en-US" sz="1000" dirty="0"/>
          </a:p>
        </p:txBody>
      </p:sp>
      <p:sp>
        <p:nvSpPr>
          <p:cNvPr id="42" name="Shape 40"/>
          <p:cNvSpPr/>
          <p:nvPr/>
        </p:nvSpPr>
        <p:spPr>
          <a:xfrm>
            <a:off x="8906256" y="2880360"/>
            <a:ext cx="2057400" cy="502920"/>
          </a:xfrm>
          <a:prstGeom prst="roundRect">
            <a:avLst>
              <a:gd name="adj" fmla="val 14545"/>
            </a:avLst>
          </a:prstGeom>
          <a:solidFill>
            <a:srgbClr val="1B1F3B"/>
          </a:solidFill>
          <a:ln/>
        </p:spPr>
      </p:sp>
      <p:sp>
        <p:nvSpPr>
          <p:cNvPr id="43" name="Text 41"/>
          <p:cNvSpPr txBox="1"/>
          <p:nvPr/>
        </p:nvSpPr>
        <p:spPr>
          <a:xfrm>
            <a:off x="8906256" y="2880360"/>
            <a:ext cx="2057400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3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"learning"</a:t>
            </a:r>
            <a:endParaRPr lang="en-US" sz="1300" dirty="0"/>
          </a:p>
        </p:txBody>
      </p:sp>
      <p:sp>
        <p:nvSpPr>
          <p:cNvPr id="44" name="Text 42"/>
          <p:cNvSpPr txBox="1"/>
          <p:nvPr/>
        </p:nvSpPr>
        <p:spPr>
          <a:xfrm>
            <a:off x="8906256" y="3447288"/>
            <a:ext cx="20574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100" i="1" dirty="0">
                <a:solidFill>
                  <a:srgbClr val="6B729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+ h₃</a:t>
            </a:r>
            <a:endParaRPr lang="en-US" sz="1100" dirty="0"/>
          </a:p>
        </p:txBody>
      </p:sp>
      <p:sp>
        <p:nvSpPr>
          <p:cNvPr id="45" name="Shape 43"/>
          <p:cNvSpPr/>
          <p:nvPr/>
        </p:nvSpPr>
        <p:spPr>
          <a:xfrm rot="5400000">
            <a:off x="9797796" y="3813048"/>
            <a:ext cx="274320" cy="219456"/>
          </a:xfrm>
          <a:prstGeom prst="chevron">
            <a:avLst/>
          </a:prstGeom>
          <a:solidFill>
            <a:srgbClr val="2EC4B6"/>
          </a:solidFill>
          <a:ln/>
        </p:spPr>
      </p:sp>
      <p:sp>
        <p:nvSpPr>
          <p:cNvPr id="46" name="Shape 44"/>
          <p:cNvSpPr/>
          <p:nvPr/>
        </p:nvSpPr>
        <p:spPr>
          <a:xfrm>
            <a:off x="8906256" y="4114800"/>
            <a:ext cx="2057400" cy="502920"/>
          </a:xfrm>
          <a:prstGeom prst="roundRect">
            <a:avLst>
              <a:gd name="adj" fmla="val 14545"/>
            </a:avLst>
          </a:prstGeom>
          <a:solidFill>
            <a:srgbClr val="2EC4B6"/>
          </a:solidFill>
          <a:ln/>
        </p:spPr>
      </p:sp>
      <p:sp>
        <p:nvSpPr>
          <p:cNvPr id="47" name="Text 45"/>
          <p:cNvSpPr txBox="1"/>
          <p:nvPr/>
        </p:nvSpPr>
        <p:spPr>
          <a:xfrm>
            <a:off x="8906256" y="4114800"/>
            <a:ext cx="2057400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300" b="1" dirty="0">
                <a:solidFill>
                  <a:srgbClr val="1B1F3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GRU</a:t>
            </a:r>
            <a:endParaRPr lang="en-US" sz="1300" dirty="0"/>
          </a:p>
        </p:txBody>
      </p:sp>
      <p:sp>
        <p:nvSpPr>
          <p:cNvPr id="48" name="Shape 46"/>
          <p:cNvSpPr/>
          <p:nvPr/>
        </p:nvSpPr>
        <p:spPr>
          <a:xfrm rot="5400000">
            <a:off x="9797796" y="4681728"/>
            <a:ext cx="274320" cy="219456"/>
          </a:xfrm>
          <a:prstGeom prst="chevron">
            <a:avLst/>
          </a:prstGeom>
          <a:solidFill>
            <a:srgbClr val="2EC4B6"/>
          </a:solidFill>
          <a:ln/>
        </p:spPr>
      </p:sp>
      <p:sp>
        <p:nvSpPr>
          <p:cNvPr id="49" name="Shape 47"/>
          <p:cNvSpPr/>
          <p:nvPr/>
        </p:nvSpPr>
        <p:spPr>
          <a:xfrm>
            <a:off x="8906256" y="4983480"/>
            <a:ext cx="2057400" cy="457200"/>
          </a:xfrm>
          <a:prstGeom prst="roundRect">
            <a:avLst>
              <a:gd name="adj" fmla="val 16000"/>
            </a:avLst>
          </a:prstGeom>
          <a:solidFill>
            <a:srgbClr val="FFFFFF"/>
          </a:solidFill>
          <a:ln w="15875">
            <a:solidFill>
              <a:srgbClr val="1B1F3B"/>
            </a:solidFill>
            <a:prstDash val="solid"/>
          </a:ln>
        </p:spPr>
      </p:sp>
      <p:sp>
        <p:nvSpPr>
          <p:cNvPr id="50" name="Text 48"/>
          <p:cNvSpPr txBox="1"/>
          <p:nvPr/>
        </p:nvSpPr>
        <p:spPr>
          <a:xfrm>
            <a:off x="8906256" y="4983480"/>
            <a:ext cx="205740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300" b="1" i="1" dirty="0">
                <a:solidFill>
                  <a:srgbClr val="1B1F3B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h₄</a:t>
            </a:r>
            <a:endParaRPr lang="en-US" sz="1300" dirty="0"/>
          </a:p>
        </p:txBody>
      </p:sp>
      <p:sp>
        <p:nvSpPr>
          <p:cNvPr id="51" name="Text 49"/>
          <p:cNvSpPr txBox="1"/>
          <p:nvPr/>
        </p:nvSpPr>
        <p:spPr>
          <a:xfrm>
            <a:off x="640080" y="5806440"/>
            <a:ext cx="1005840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00" i="1" dirty="0">
                <a:solidFill>
                  <a:srgbClr val="6B729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Each hidden state carries forward the useful information the gates decided to keep.</a:t>
            </a:r>
            <a:endParaRPr lang="en-US" sz="1200" dirty="0"/>
          </a:p>
        </p:txBody>
      </p:sp>
      <p:sp>
        <p:nvSpPr>
          <p:cNvPr id="52" name="Text 50"/>
          <p:cNvSpPr txBox="1"/>
          <p:nvPr/>
        </p:nvSpPr>
        <p:spPr>
          <a:xfrm>
            <a:off x="457200" y="6400800"/>
            <a:ext cx="64008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900" spc="150" kern="0" dirty="0">
                <a:solidFill>
                  <a:srgbClr val="6B729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GRU · GATED RECURRENT UNIT</a:t>
            </a:r>
            <a:endParaRPr lang="en-US" sz="900" dirty="0"/>
          </a:p>
        </p:txBody>
      </p:sp>
      <p:sp>
        <p:nvSpPr>
          <p:cNvPr id="53" name="Text 51"/>
          <p:cNvSpPr txBox="1"/>
          <p:nvPr/>
        </p:nvSpPr>
        <p:spPr>
          <a:xfrm>
            <a:off x="11277295" y="6400800"/>
            <a:ext cx="4572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900" dirty="0">
                <a:solidFill>
                  <a:srgbClr val="6B729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10</a:t>
            </a:r>
            <a:endParaRPr lang="en-US" sz="900" dirty="0"/>
          </a:p>
        </p:txBody>
      </p:sp>
    </p:spTree>
  </p:cSld>
  <p:clrMapOvr>
    <a:masterClrMapping/>
  </p:clrMapOvr>
</p:sld>
</file>

<file path=ppt/slides/slide11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1"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 txBox="1"/>
          <p:nvPr/>
        </p:nvSpPr>
        <p:spPr>
          <a:xfrm>
            <a:off x="640080" y="457200"/>
            <a:ext cx="731520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00" b="1" spc="200" kern="0" dirty="0">
                <a:solidFill>
                  <a:srgbClr val="FF9F1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09 · THE MATH</a:t>
            </a:r>
            <a:endParaRPr lang="en-US" sz="1200" dirty="0"/>
          </a:p>
        </p:txBody>
      </p:sp>
      <p:sp>
        <p:nvSpPr>
          <p:cNvPr id="3" name="Text 1"/>
          <p:cNvSpPr txBox="1"/>
          <p:nvPr/>
        </p:nvSpPr>
        <p:spPr>
          <a:xfrm>
            <a:off x="640080" y="749808"/>
            <a:ext cx="9601200" cy="7772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3000" b="1" dirty="0">
                <a:solidFill>
                  <a:srgbClr val="1B1F3B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GRU: The Mathematical Idea</a:t>
            </a:r>
            <a:endParaRPr lang="en-US" sz="3000" dirty="0"/>
          </a:p>
        </p:txBody>
      </p:sp>
      <p:sp>
        <p:nvSpPr>
          <p:cNvPr id="4" name="Text 2"/>
          <p:cNvSpPr txBox="1"/>
          <p:nvPr/>
        </p:nvSpPr>
        <p:spPr>
          <a:xfrm>
            <a:off x="640080" y="1664208"/>
            <a:ext cx="1051560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300" dirty="0">
                <a:solidFill>
                  <a:srgbClr val="6B729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Both gates share the same shape — a weighted mix of the current input and previous state, squashed through a sigmoid.</a:t>
            </a:r>
            <a:endParaRPr lang="en-US" sz="1300" dirty="0"/>
          </a:p>
        </p:txBody>
      </p:sp>
      <p:sp>
        <p:nvSpPr>
          <p:cNvPr id="5" name="Shape 3"/>
          <p:cNvSpPr/>
          <p:nvPr/>
        </p:nvSpPr>
        <p:spPr>
          <a:xfrm>
            <a:off x="640080" y="2194560"/>
            <a:ext cx="5029200" cy="960120"/>
          </a:xfrm>
          <a:prstGeom prst="roundRect">
            <a:avLst>
              <a:gd name="adj" fmla="val 7619"/>
            </a:avLst>
          </a:prstGeom>
          <a:solidFill>
            <a:srgbClr val="F2F5FA"/>
          </a:solidFill>
          <a:ln/>
        </p:spPr>
      </p:sp>
      <p:sp>
        <p:nvSpPr>
          <p:cNvPr id="6" name="Text 4"/>
          <p:cNvSpPr txBox="1"/>
          <p:nvPr/>
        </p:nvSpPr>
        <p:spPr>
          <a:xfrm>
            <a:off x="914400" y="2194560"/>
            <a:ext cx="4572000" cy="9601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550" b="1" i="1" dirty="0">
                <a:solidFill>
                  <a:srgbClr val="1B1F3B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Update gate:   zₜ = σ(Wz xₜ + Uz hₜ₋₁)</a:t>
            </a:r>
            <a:endParaRPr lang="en-US" sz="1550" dirty="0"/>
          </a:p>
        </p:txBody>
      </p:sp>
      <p:sp>
        <p:nvSpPr>
          <p:cNvPr id="7" name="Shape 5"/>
          <p:cNvSpPr/>
          <p:nvPr/>
        </p:nvSpPr>
        <p:spPr>
          <a:xfrm>
            <a:off x="640080" y="3291840"/>
            <a:ext cx="5029200" cy="960120"/>
          </a:xfrm>
          <a:prstGeom prst="roundRect">
            <a:avLst>
              <a:gd name="adj" fmla="val 7619"/>
            </a:avLst>
          </a:prstGeom>
          <a:solidFill>
            <a:srgbClr val="F2F5FA"/>
          </a:solidFill>
          <a:ln/>
        </p:spPr>
      </p:sp>
      <p:sp>
        <p:nvSpPr>
          <p:cNvPr id="8" name="Text 6"/>
          <p:cNvSpPr txBox="1"/>
          <p:nvPr/>
        </p:nvSpPr>
        <p:spPr>
          <a:xfrm>
            <a:off x="914400" y="3291840"/>
            <a:ext cx="4572000" cy="9601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550" b="1" i="1" dirty="0">
                <a:solidFill>
                  <a:srgbClr val="1B1F3B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Reset gate:   rₜ = σ(Wr xₜ + Ur hₜ₋₁)</a:t>
            </a:r>
            <a:endParaRPr lang="en-US" sz="1550" dirty="0"/>
          </a:p>
        </p:txBody>
      </p:sp>
      <p:sp>
        <p:nvSpPr>
          <p:cNvPr id="9" name="Text 7"/>
          <p:cNvSpPr txBox="1"/>
          <p:nvPr/>
        </p:nvSpPr>
        <p:spPr>
          <a:xfrm>
            <a:off x="640080" y="4480560"/>
            <a:ext cx="100584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300" b="1" i="1" dirty="0">
                <a:solidFill>
                  <a:srgbClr val="1A8F84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xₜ</a:t>
            </a:r>
            <a:endParaRPr lang="en-US" sz="1300" dirty="0"/>
          </a:p>
        </p:txBody>
      </p:sp>
      <p:sp>
        <p:nvSpPr>
          <p:cNvPr id="10" name="Text 8"/>
          <p:cNvSpPr txBox="1"/>
          <p:nvPr/>
        </p:nvSpPr>
        <p:spPr>
          <a:xfrm>
            <a:off x="1600200" y="4480560"/>
            <a:ext cx="402336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00" dirty="0">
                <a:solidFill>
                  <a:srgbClr val="2B2F4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current input</a:t>
            </a:r>
            <a:endParaRPr lang="en-US" sz="1200" dirty="0"/>
          </a:p>
        </p:txBody>
      </p:sp>
      <p:sp>
        <p:nvSpPr>
          <p:cNvPr id="11" name="Text 9"/>
          <p:cNvSpPr txBox="1"/>
          <p:nvPr/>
        </p:nvSpPr>
        <p:spPr>
          <a:xfrm>
            <a:off x="640080" y="4846320"/>
            <a:ext cx="100584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300" b="1" i="1" dirty="0">
                <a:solidFill>
                  <a:srgbClr val="1A8F84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hₜ₋₁</a:t>
            </a:r>
            <a:endParaRPr lang="en-US" sz="1300" dirty="0"/>
          </a:p>
        </p:txBody>
      </p:sp>
      <p:sp>
        <p:nvSpPr>
          <p:cNvPr id="12" name="Text 10"/>
          <p:cNvSpPr txBox="1"/>
          <p:nvPr/>
        </p:nvSpPr>
        <p:spPr>
          <a:xfrm>
            <a:off x="1600200" y="4846320"/>
            <a:ext cx="402336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00" dirty="0">
                <a:solidFill>
                  <a:srgbClr val="2B2F4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previous hidden state</a:t>
            </a:r>
            <a:endParaRPr lang="en-US" sz="1200" dirty="0"/>
          </a:p>
        </p:txBody>
      </p:sp>
      <p:sp>
        <p:nvSpPr>
          <p:cNvPr id="13" name="Text 11"/>
          <p:cNvSpPr txBox="1"/>
          <p:nvPr/>
        </p:nvSpPr>
        <p:spPr>
          <a:xfrm>
            <a:off x="640080" y="5212080"/>
            <a:ext cx="100584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300" b="1" i="1" dirty="0">
                <a:solidFill>
                  <a:srgbClr val="1A8F84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zₜ / rₜ</a:t>
            </a:r>
            <a:endParaRPr lang="en-US" sz="1300" dirty="0"/>
          </a:p>
        </p:txBody>
      </p:sp>
      <p:sp>
        <p:nvSpPr>
          <p:cNvPr id="14" name="Text 12"/>
          <p:cNvSpPr txBox="1"/>
          <p:nvPr/>
        </p:nvSpPr>
        <p:spPr>
          <a:xfrm>
            <a:off x="1600200" y="5212080"/>
            <a:ext cx="402336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00" dirty="0">
                <a:solidFill>
                  <a:srgbClr val="2B2F4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update / reset gate</a:t>
            </a:r>
            <a:endParaRPr lang="en-US" sz="1200" dirty="0"/>
          </a:p>
        </p:txBody>
      </p:sp>
      <p:sp>
        <p:nvSpPr>
          <p:cNvPr id="15" name="Text 13"/>
          <p:cNvSpPr txBox="1"/>
          <p:nvPr/>
        </p:nvSpPr>
        <p:spPr>
          <a:xfrm>
            <a:off x="640080" y="5577840"/>
            <a:ext cx="100584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300" b="1" i="1" dirty="0">
                <a:solidFill>
                  <a:srgbClr val="1A8F84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σ</a:t>
            </a:r>
            <a:endParaRPr lang="en-US" sz="1300" dirty="0"/>
          </a:p>
        </p:txBody>
      </p:sp>
      <p:sp>
        <p:nvSpPr>
          <p:cNvPr id="16" name="Text 14"/>
          <p:cNvSpPr txBox="1"/>
          <p:nvPr/>
        </p:nvSpPr>
        <p:spPr>
          <a:xfrm>
            <a:off x="1600200" y="5577840"/>
            <a:ext cx="402336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00" dirty="0">
                <a:solidFill>
                  <a:srgbClr val="2B2F4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sigmoid activation</a:t>
            </a:r>
            <a:endParaRPr lang="en-US" sz="1200" dirty="0"/>
          </a:p>
        </p:txBody>
      </p:sp>
      <p:sp>
        <p:nvSpPr>
          <p:cNvPr id="17" name="Shape 15"/>
          <p:cNvSpPr/>
          <p:nvPr/>
        </p:nvSpPr>
        <p:spPr>
          <a:xfrm>
            <a:off x="5989320" y="2194560"/>
            <a:ext cx="5577840" cy="3931920"/>
          </a:xfrm>
          <a:prstGeom prst="roundRect">
            <a:avLst>
              <a:gd name="adj" fmla="val 2093"/>
            </a:avLst>
          </a:prstGeom>
          <a:solidFill>
            <a:srgbClr val="1B1F3B"/>
          </a:solidFill>
          <a:ln/>
        </p:spPr>
      </p:sp>
      <p:sp>
        <p:nvSpPr>
          <p:cNvPr id="18" name="Text 16"/>
          <p:cNvSpPr txBox="1"/>
          <p:nvPr/>
        </p:nvSpPr>
        <p:spPr>
          <a:xfrm>
            <a:off x="6263640" y="2377440"/>
            <a:ext cx="50292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50" b="1" spc="150" kern="0" dirty="0">
                <a:solidFill>
                  <a:srgbClr val="2EC4B6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SIGMOID OUTPUT RANGE</a:t>
            </a:r>
            <a:endParaRPr lang="en-US" sz="1050" dirty="0"/>
          </a:p>
        </p:txBody>
      </p:sp>
      <p:pic>
        <p:nvPicPr>
          <p:cNvPr id="19" name="Image 0" descr="sigmoid.png">    </p:cNvPr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6172200" y="2697480"/>
            <a:ext cx="5212080" cy="3246120"/>
          </a:xfrm>
          <a:prstGeom prst="rect">
            <a:avLst/>
          </a:prstGeom>
        </p:spPr>
      </p:pic>
      <p:sp>
        <p:nvSpPr>
          <p:cNvPr id="20" name="Text 17"/>
          <p:cNvSpPr txBox="1"/>
          <p:nvPr/>
        </p:nvSpPr>
        <p:spPr>
          <a:xfrm>
            <a:off x="457200" y="6400800"/>
            <a:ext cx="64008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900" spc="150" kern="0" dirty="0">
                <a:solidFill>
                  <a:srgbClr val="6B729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GRU · GATED RECURRENT UNIT</a:t>
            </a:r>
            <a:endParaRPr lang="en-US" sz="900" dirty="0"/>
          </a:p>
        </p:txBody>
      </p:sp>
      <p:sp>
        <p:nvSpPr>
          <p:cNvPr id="21" name="Text 18"/>
          <p:cNvSpPr txBox="1"/>
          <p:nvPr/>
        </p:nvSpPr>
        <p:spPr>
          <a:xfrm>
            <a:off x="11277295" y="6400800"/>
            <a:ext cx="4572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900" dirty="0">
                <a:solidFill>
                  <a:srgbClr val="6B729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11</a:t>
            </a:r>
            <a:endParaRPr lang="en-US" sz="900" dirty="0"/>
          </a:p>
        </p:txBody>
      </p:sp>
    </p:spTree>
  </p:cSld>
  <p:clrMapOvr>
    <a:masterClrMapping/>
  </p:clrMapOvr>
</p:sld>
</file>

<file path=ppt/slides/slide12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2"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 txBox="1"/>
          <p:nvPr/>
        </p:nvSpPr>
        <p:spPr>
          <a:xfrm>
            <a:off x="640080" y="457200"/>
            <a:ext cx="731520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00" b="1" spc="200" kern="0" dirty="0">
                <a:solidFill>
                  <a:srgbClr val="FF9F1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10 · COMPARISON</a:t>
            </a:r>
            <a:endParaRPr lang="en-US" sz="1200" dirty="0"/>
          </a:p>
        </p:txBody>
      </p:sp>
      <p:sp>
        <p:nvSpPr>
          <p:cNvPr id="3" name="Text 1"/>
          <p:cNvSpPr txBox="1"/>
          <p:nvPr/>
        </p:nvSpPr>
        <p:spPr>
          <a:xfrm>
            <a:off x="640080" y="749808"/>
            <a:ext cx="9601200" cy="7772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3000" b="1" dirty="0">
                <a:solidFill>
                  <a:srgbClr val="1B1F3B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RNN vs LSTM vs GRU</a:t>
            </a:r>
            <a:endParaRPr lang="en-US" sz="3000" dirty="0"/>
          </a:p>
        </p:txBody>
      </p:sp>
      <p:sp>
        <p:nvSpPr>
          <p:cNvPr id="4" name="Shape 2"/>
          <p:cNvSpPr/>
          <p:nvPr/>
        </p:nvSpPr>
        <p:spPr>
          <a:xfrm>
            <a:off x="640080" y="1783080"/>
            <a:ext cx="10908792" cy="502920"/>
          </a:xfrm>
          <a:prstGeom prst="roundRect">
            <a:avLst>
              <a:gd name="adj" fmla="val 10909"/>
            </a:avLst>
          </a:prstGeom>
          <a:solidFill>
            <a:srgbClr val="1B1F3B"/>
          </a:solidFill>
          <a:ln/>
        </p:spPr>
      </p:sp>
      <p:sp>
        <p:nvSpPr>
          <p:cNvPr id="5" name="Text 3"/>
          <p:cNvSpPr txBox="1"/>
          <p:nvPr/>
        </p:nvSpPr>
        <p:spPr>
          <a:xfrm>
            <a:off x="822960" y="1783080"/>
            <a:ext cx="3017520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35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Feature</a:t>
            </a:r>
            <a:endParaRPr lang="en-US" sz="1350" dirty="0"/>
          </a:p>
        </p:txBody>
      </p:sp>
      <p:sp>
        <p:nvSpPr>
          <p:cNvPr id="6" name="Text 4"/>
          <p:cNvSpPr txBox="1"/>
          <p:nvPr/>
        </p:nvSpPr>
        <p:spPr>
          <a:xfrm>
            <a:off x="4114800" y="1783080"/>
            <a:ext cx="2011680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35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RNN</a:t>
            </a:r>
            <a:endParaRPr lang="en-US" sz="1350" dirty="0"/>
          </a:p>
        </p:txBody>
      </p:sp>
      <p:sp>
        <p:nvSpPr>
          <p:cNvPr id="7" name="Text 5"/>
          <p:cNvSpPr txBox="1"/>
          <p:nvPr/>
        </p:nvSpPr>
        <p:spPr>
          <a:xfrm>
            <a:off x="6400800" y="1783080"/>
            <a:ext cx="2103120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35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LSTM</a:t>
            </a:r>
            <a:endParaRPr lang="en-US" sz="1350" dirty="0"/>
          </a:p>
        </p:txBody>
      </p:sp>
      <p:sp>
        <p:nvSpPr>
          <p:cNvPr id="8" name="Text 6"/>
          <p:cNvSpPr txBox="1"/>
          <p:nvPr/>
        </p:nvSpPr>
        <p:spPr>
          <a:xfrm>
            <a:off x="8778240" y="1783080"/>
            <a:ext cx="2679192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350" b="1" dirty="0">
                <a:solidFill>
                  <a:srgbClr val="2EC4B6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GRU</a:t>
            </a:r>
            <a:endParaRPr lang="en-US" sz="1350" dirty="0"/>
          </a:p>
        </p:txBody>
      </p:sp>
      <p:sp>
        <p:nvSpPr>
          <p:cNvPr id="9" name="Shape 7"/>
          <p:cNvSpPr/>
          <p:nvPr/>
        </p:nvSpPr>
        <p:spPr>
          <a:xfrm>
            <a:off x="640080" y="2286000"/>
            <a:ext cx="10908792" cy="530352"/>
          </a:xfrm>
          <a:prstGeom prst="rect">
            <a:avLst/>
          </a:prstGeom>
          <a:solidFill>
            <a:srgbClr val="F2F5FA"/>
          </a:solidFill>
          <a:ln/>
        </p:spPr>
      </p:sp>
      <p:sp>
        <p:nvSpPr>
          <p:cNvPr id="10" name="Text 8"/>
          <p:cNvSpPr txBox="1"/>
          <p:nvPr/>
        </p:nvSpPr>
        <p:spPr>
          <a:xfrm>
            <a:off x="822960" y="2286000"/>
            <a:ext cx="3017520" cy="53035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50" b="1" dirty="0">
                <a:solidFill>
                  <a:srgbClr val="1B1F3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Long-term memory</a:t>
            </a:r>
            <a:endParaRPr lang="en-US" sz="1250" dirty="0"/>
          </a:p>
        </p:txBody>
      </p:sp>
      <p:sp>
        <p:nvSpPr>
          <p:cNvPr id="11" name="Text 9"/>
          <p:cNvSpPr txBox="1"/>
          <p:nvPr/>
        </p:nvSpPr>
        <p:spPr>
          <a:xfrm>
            <a:off x="4114800" y="2286000"/>
            <a:ext cx="2011680" cy="53035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50" dirty="0">
                <a:solidFill>
                  <a:srgbClr val="2B2F4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Poor</a:t>
            </a:r>
            <a:endParaRPr lang="en-US" sz="1250" dirty="0"/>
          </a:p>
        </p:txBody>
      </p:sp>
      <p:sp>
        <p:nvSpPr>
          <p:cNvPr id="12" name="Text 10"/>
          <p:cNvSpPr txBox="1"/>
          <p:nvPr/>
        </p:nvSpPr>
        <p:spPr>
          <a:xfrm>
            <a:off x="6400800" y="2286000"/>
            <a:ext cx="2103120" cy="53035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50" dirty="0">
                <a:solidFill>
                  <a:srgbClr val="2B2F4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Excellent</a:t>
            </a:r>
            <a:endParaRPr lang="en-US" sz="1250" dirty="0"/>
          </a:p>
        </p:txBody>
      </p:sp>
      <p:sp>
        <p:nvSpPr>
          <p:cNvPr id="13" name="Text 11"/>
          <p:cNvSpPr txBox="1"/>
          <p:nvPr/>
        </p:nvSpPr>
        <p:spPr>
          <a:xfrm>
            <a:off x="8778240" y="2286000"/>
            <a:ext cx="2679192" cy="53035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50" dirty="0">
                <a:solidFill>
                  <a:srgbClr val="1A8F84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Good</a:t>
            </a:r>
            <a:endParaRPr lang="en-US" sz="1250" dirty="0"/>
          </a:p>
        </p:txBody>
      </p:sp>
      <p:sp>
        <p:nvSpPr>
          <p:cNvPr id="14" name="Text 12"/>
          <p:cNvSpPr txBox="1"/>
          <p:nvPr/>
        </p:nvSpPr>
        <p:spPr>
          <a:xfrm>
            <a:off x="822960" y="2816352"/>
            <a:ext cx="3017520" cy="53035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50" b="1" dirty="0">
                <a:solidFill>
                  <a:srgbClr val="1B1F3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Gates</a:t>
            </a:r>
            <a:endParaRPr lang="en-US" sz="1250" dirty="0"/>
          </a:p>
        </p:txBody>
      </p:sp>
      <p:sp>
        <p:nvSpPr>
          <p:cNvPr id="15" name="Text 13"/>
          <p:cNvSpPr txBox="1"/>
          <p:nvPr/>
        </p:nvSpPr>
        <p:spPr>
          <a:xfrm>
            <a:off x="4114800" y="2816352"/>
            <a:ext cx="2011680" cy="53035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50" dirty="0">
                <a:solidFill>
                  <a:srgbClr val="2B2F4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None</a:t>
            </a:r>
            <a:endParaRPr lang="en-US" sz="1250" dirty="0"/>
          </a:p>
        </p:txBody>
      </p:sp>
      <p:sp>
        <p:nvSpPr>
          <p:cNvPr id="16" name="Text 14"/>
          <p:cNvSpPr txBox="1"/>
          <p:nvPr/>
        </p:nvSpPr>
        <p:spPr>
          <a:xfrm>
            <a:off x="6400800" y="2816352"/>
            <a:ext cx="2103120" cy="53035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50" dirty="0">
                <a:solidFill>
                  <a:srgbClr val="2B2F4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3 main gates</a:t>
            </a:r>
            <a:endParaRPr lang="en-US" sz="1250" dirty="0"/>
          </a:p>
        </p:txBody>
      </p:sp>
      <p:sp>
        <p:nvSpPr>
          <p:cNvPr id="17" name="Text 15"/>
          <p:cNvSpPr txBox="1"/>
          <p:nvPr/>
        </p:nvSpPr>
        <p:spPr>
          <a:xfrm>
            <a:off x="8778240" y="2816352"/>
            <a:ext cx="2679192" cy="53035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50" dirty="0">
                <a:solidFill>
                  <a:srgbClr val="1A8F84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2 gates</a:t>
            </a:r>
            <a:endParaRPr lang="en-US" sz="1250" dirty="0"/>
          </a:p>
        </p:txBody>
      </p:sp>
      <p:sp>
        <p:nvSpPr>
          <p:cNvPr id="18" name="Shape 16"/>
          <p:cNvSpPr/>
          <p:nvPr/>
        </p:nvSpPr>
        <p:spPr>
          <a:xfrm>
            <a:off x="640080" y="3346704"/>
            <a:ext cx="10908792" cy="530352"/>
          </a:xfrm>
          <a:prstGeom prst="rect">
            <a:avLst/>
          </a:prstGeom>
          <a:solidFill>
            <a:srgbClr val="F2F5FA"/>
          </a:solidFill>
          <a:ln/>
        </p:spPr>
      </p:sp>
      <p:sp>
        <p:nvSpPr>
          <p:cNvPr id="19" name="Text 17"/>
          <p:cNvSpPr txBox="1"/>
          <p:nvPr/>
        </p:nvSpPr>
        <p:spPr>
          <a:xfrm>
            <a:off x="822960" y="3346704"/>
            <a:ext cx="3017520" cy="53035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50" b="1" dirty="0">
                <a:solidFill>
                  <a:srgbClr val="1B1F3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Cell state</a:t>
            </a:r>
            <a:endParaRPr lang="en-US" sz="1250" dirty="0"/>
          </a:p>
        </p:txBody>
      </p:sp>
      <p:sp>
        <p:nvSpPr>
          <p:cNvPr id="20" name="Text 18"/>
          <p:cNvSpPr txBox="1"/>
          <p:nvPr/>
        </p:nvSpPr>
        <p:spPr>
          <a:xfrm>
            <a:off x="4114800" y="3346704"/>
            <a:ext cx="2011680" cy="53035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50" dirty="0">
                <a:solidFill>
                  <a:srgbClr val="2B2F4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No</a:t>
            </a:r>
            <a:endParaRPr lang="en-US" sz="1250" dirty="0"/>
          </a:p>
        </p:txBody>
      </p:sp>
      <p:sp>
        <p:nvSpPr>
          <p:cNvPr id="21" name="Text 19"/>
          <p:cNvSpPr txBox="1"/>
          <p:nvPr/>
        </p:nvSpPr>
        <p:spPr>
          <a:xfrm>
            <a:off x="6400800" y="3346704"/>
            <a:ext cx="2103120" cy="53035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50" dirty="0">
                <a:solidFill>
                  <a:srgbClr val="2B2F4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Yes</a:t>
            </a:r>
            <a:endParaRPr lang="en-US" sz="1250" dirty="0"/>
          </a:p>
        </p:txBody>
      </p:sp>
      <p:sp>
        <p:nvSpPr>
          <p:cNvPr id="22" name="Text 20"/>
          <p:cNvSpPr txBox="1"/>
          <p:nvPr/>
        </p:nvSpPr>
        <p:spPr>
          <a:xfrm>
            <a:off x="8778240" y="3346704"/>
            <a:ext cx="2679192" cy="53035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50" dirty="0">
                <a:solidFill>
                  <a:srgbClr val="1A8F84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No</a:t>
            </a:r>
            <a:endParaRPr lang="en-US" sz="1250" dirty="0"/>
          </a:p>
        </p:txBody>
      </p:sp>
      <p:sp>
        <p:nvSpPr>
          <p:cNvPr id="23" name="Text 21"/>
          <p:cNvSpPr txBox="1"/>
          <p:nvPr/>
        </p:nvSpPr>
        <p:spPr>
          <a:xfrm>
            <a:off x="822960" y="3877056"/>
            <a:ext cx="3017520" cy="53035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50" b="1" dirty="0">
                <a:solidFill>
                  <a:srgbClr val="1B1F3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Hidden state</a:t>
            </a:r>
            <a:endParaRPr lang="en-US" sz="1250" dirty="0"/>
          </a:p>
        </p:txBody>
      </p:sp>
      <p:sp>
        <p:nvSpPr>
          <p:cNvPr id="24" name="Text 22"/>
          <p:cNvSpPr txBox="1"/>
          <p:nvPr/>
        </p:nvSpPr>
        <p:spPr>
          <a:xfrm>
            <a:off x="4114800" y="3877056"/>
            <a:ext cx="2011680" cy="53035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50" dirty="0">
                <a:solidFill>
                  <a:srgbClr val="2B2F4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Yes</a:t>
            </a:r>
            <a:endParaRPr lang="en-US" sz="1250" dirty="0"/>
          </a:p>
        </p:txBody>
      </p:sp>
      <p:sp>
        <p:nvSpPr>
          <p:cNvPr id="25" name="Text 23"/>
          <p:cNvSpPr txBox="1"/>
          <p:nvPr/>
        </p:nvSpPr>
        <p:spPr>
          <a:xfrm>
            <a:off x="6400800" y="3877056"/>
            <a:ext cx="2103120" cy="53035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50" dirty="0">
                <a:solidFill>
                  <a:srgbClr val="2B2F4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Yes</a:t>
            </a:r>
            <a:endParaRPr lang="en-US" sz="1250" dirty="0"/>
          </a:p>
        </p:txBody>
      </p:sp>
      <p:sp>
        <p:nvSpPr>
          <p:cNvPr id="26" name="Text 24"/>
          <p:cNvSpPr txBox="1"/>
          <p:nvPr/>
        </p:nvSpPr>
        <p:spPr>
          <a:xfrm>
            <a:off x="8778240" y="3877056"/>
            <a:ext cx="2679192" cy="53035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50" dirty="0">
                <a:solidFill>
                  <a:srgbClr val="1A8F84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Yes</a:t>
            </a:r>
            <a:endParaRPr lang="en-US" sz="1250" dirty="0"/>
          </a:p>
        </p:txBody>
      </p:sp>
      <p:sp>
        <p:nvSpPr>
          <p:cNvPr id="27" name="Shape 25"/>
          <p:cNvSpPr/>
          <p:nvPr/>
        </p:nvSpPr>
        <p:spPr>
          <a:xfrm>
            <a:off x="640080" y="4407408"/>
            <a:ext cx="10908792" cy="530352"/>
          </a:xfrm>
          <a:prstGeom prst="rect">
            <a:avLst/>
          </a:prstGeom>
          <a:solidFill>
            <a:srgbClr val="F2F5FA"/>
          </a:solidFill>
          <a:ln/>
        </p:spPr>
      </p:sp>
      <p:sp>
        <p:nvSpPr>
          <p:cNvPr id="28" name="Text 26"/>
          <p:cNvSpPr txBox="1"/>
          <p:nvPr/>
        </p:nvSpPr>
        <p:spPr>
          <a:xfrm>
            <a:off x="822960" y="4407408"/>
            <a:ext cx="3017520" cy="53035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50" b="1" dirty="0">
                <a:solidFill>
                  <a:srgbClr val="1B1F3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Complexity</a:t>
            </a:r>
            <a:endParaRPr lang="en-US" sz="1250" dirty="0"/>
          </a:p>
        </p:txBody>
      </p:sp>
      <p:sp>
        <p:nvSpPr>
          <p:cNvPr id="29" name="Text 27"/>
          <p:cNvSpPr txBox="1"/>
          <p:nvPr/>
        </p:nvSpPr>
        <p:spPr>
          <a:xfrm>
            <a:off x="4114800" y="4407408"/>
            <a:ext cx="2011680" cy="53035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50" dirty="0">
                <a:solidFill>
                  <a:srgbClr val="2B2F4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Low</a:t>
            </a:r>
            <a:endParaRPr lang="en-US" sz="1250" dirty="0"/>
          </a:p>
        </p:txBody>
      </p:sp>
      <p:sp>
        <p:nvSpPr>
          <p:cNvPr id="30" name="Text 28"/>
          <p:cNvSpPr txBox="1"/>
          <p:nvPr/>
        </p:nvSpPr>
        <p:spPr>
          <a:xfrm>
            <a:off x="6400800" y="4407408"/>
            <a:ext cx="2103120" cy="53035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50" dirty="0">
                <a:solidFill>
                  <a:srgbClr val="2B2F4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High</a:t>
            </a:r>
            <a:endParaRPr lang="en-US" sz="1250" dirty="0"/>
          </a:p>
        </p:txBody>
      </p:sp>
      <p:sp>
        <p:nvSpPr>
          <p:cNvPr id="31" name="Text 29"/>
          <p:cNvSpPr txBox="1"/>
          <p:nvPr/>
        </p:nvSpPr>
        <p:spPr>
          <a:xfrm>
            <a:off x="8778240" y="4407408"/>
            <a:ext cx="2679192" cy="53035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50" dirty="0">
                <a:solidFill>
                  <a:srgbClr val="1A8F84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Medium / Low</a:t>
            </a:r>
            <a:endParaRPr lang="en-US" sz="1250" dirty="0"/>
          </a:p>
        </p:txBody>
      </p:sp>
      <p:sp>
        <p:nvSpPr>
          <p:cNvPr id="32" name="Text 30"/>
          <p:cNvSpPr txBox="1"/>
          <p:nvPr/>
        </p:nvSpPr>
        <p:spPr>
          <a:xfrm>
            <a:off x="822960" y="4937760"/>
            <a:ext cx="3017520" cy="53035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50" b="1" dirty="0">
                <a:solidFill>
                  <a:srgbClr val="1B1F3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Training speed</a:t>
            </a:r>
            <a:endParaRPr lang="en-US" sz="1250" dirty="0"/>
          </a:p>
        </p:txBody>
      </p:sp>
      <p:sp>
        <p:nvSpPr>
          <p:cNvPr id="33" name="Text 31"/>
          <p:cNvSpPr txBox="1"/>
          <p:nvPr/>
        </p:nvSpPr>
        <p:spPr>
          <a:xfrm>
            <a:off x="4114800" y="4937760"/>
            <a:ext cx="2011680" cy="53035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50" dirty="0">
                <a:solidFill>
                  <a:srgbClr val="2B2F4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Fast</a:t>
            </a:r>
            <a:endParaRPr lang="en-US" sz="1250" dirty="0"/>
          </a:p>
        </p:txBody>
      </p:sp>
      <p:sp>
        <p:nvSpPr>
          <p:cNvPr id="34" name="Text 32"/>
          <p:cNvSpPr txBox="1"/>
          <p:nvPr/>
        </p:nvSpPr>
        <p:spPr>
          <a:xfrm>
            <a:off x="6400800" y="4937760"/>
            <a:ext cx="2103120" cy="53035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50" dirty="0">
                <a:solidFill>
                  <a:srgbClr val="2B2F4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Slower</a:t>
            </a:r>
            <a:endParaRPr lang="en-US" sz="1250" dirty="0"/>
          </a:p>
        </p:txBody>
      </p:sp>
      <p:sp>
        <p:nvSpPr>
          <p:cNvPr id="35" name="Text 33"/>
          <p:cNvSpPr txBox="1"/>
          <p:nvPr/>
        </p:nvSpPr>
        <p:spPr>
          <a:xfrm>
            <a:off x="8778240" y="4937760"/>
            <a:ext cx="2679192" cy="53035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50" dirty="0">
                <a:solidFill>
                  <a:srgbClr val="1A8F84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Usually faster than LSTM</a:t>
            </a:r>
            <a:endParaRPr lang="en-US" sz="1250" dirty="0"/>
          </a:p>
        </p:txBody>
      </p:sp>
      <p:sp>
        <p:nvSpPr>
          <p:cNvPr id="36" name="Shape 34"/>
          <p:cNvSpPr/>
          <p:nvPr/>
        </p:nvSpPr>
        <p:spPr>
          <a:xfrm>
            <a:off x="640080" y="5468112"/>
            <a:ext cx="10908792" cy="530352"/>
          </a:xfrm>
          <a:prstGeom prst="rect">
            <a:avLst/>
          </a:prstGeom>
          <a:solidFill>
            <a:srgbClr val="F2F5FA"/>
          </a:solidFill>
          <a:ln/>
        </p:spPr>
      </p:sp>
      <p:sp>
        <p:nvSpPr>
          <p:cNvPr id="37" name="Text 35"/>
          <p:cNvSpPr txBox="1"/>
          <p:nvPr/>
        </p:nvSpPr>
        <p:spPr>
          <a:xfrm>
            <a:off x="822960" y="5468112"/>
            <a:ext cx="3017520" cy="53035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50" b="1" dirty="0">
                <a:solidFill>
                  <a:srgbClr val="1B1F3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Parameters</a:t>
            </a:r>
            <a:endParaRPr lang="en-US" sz="1250" dirty="0"/>
          </a:p>
        </p:txBody>
      </p:sp>
      <p:sp>
        <p:nvSpPr>
          <p:cNvPr id="38" name="Text 36"/>
          <p:cNvSpPr txBox="1"/>
          <p:nvPr/>
        </p:nvSpPr>
        <p:spPr>
          <a:xfrm>
            <a:off x="4114800" y="5468112"/>
            <a:ext cx="2011680" cy="53035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50" dirty="0">
                <a:solidFill>
                  <a:srgbClr val="2B2F4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Few</a:t>
            </a:r>
            <a:endParaRPr lang="en-US" sz="1250" dirty="0"/>
          </a:p>
        </p:txBody>
      </p:sp>
      <p:sp>
        <p:nvSpPr>
          <p:cNvPr id="39" name="Text 37"/>
          <p:cNvSpPr txBox="1"/>
          <p:nvPr/>
        </p:nvSpPr>
        <p:spPr>
          <a:xfrm>
            <a:off x="6400800" y="5468112"/>
            <a:ext cx="2103120" cy="53035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50" dirty="0">
                <a:solidFill>
                  <a:srgbClr val="2B2F4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More</a:t>
            </a:r>
            <a:endParaRPr lang="en-US" sz="1250" dirty="0"/>
          </a:p>
        </p:txBody>
      </p:sp>
      <p:sp>
        <p:nvSpPr>
          <p:cNvPr id="40" name="Text 38"/>
          <p:cNvSpPr txBox="1"/>
          <p:nvPr/>
        </p:nvSpPr>
        <p:spPr>
          <a:xfrm>
            <a:off x="8778240" y="5468112"/>
            <a:ext cx="2679192" cy="53035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50" dirty="0">
                <a:solidFill>
                  <a:srgbClr val="1A8F84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Fewer than LSTM</a:t>
            </a:r>
            <a:endParaRPr lang="en-US" sz="1250" dirty="0"/>
          </a:p>
        </p:txBody>
      </p:sp>
      <p:sp>
        <p:nvSpPr>
          <p:cNvPr id="41" name="Shape 39"/>
          <p:cNvSpPr/>
          <p:nvPr/>
        </p:nvSpPr>
        <p:spPr>
          <a:xfrm>
            <a:off x="8567928" y="1783080"/>
            <a:ext cx="27432" cy="4215384"/>
          </a:xfrm>
          <a:prstGeom prst="rect">
            <a:avLst/>
          </a:prstGeom>
          <a:solidFill>
            <a:srgbClr val="2EC4B6"/>
          </a:solidFill>
          <a:ln/>
        </p:spPr>
      </p:sp>
      <p:sp>
        <p:nvSpPr>
          <p:cNvPr id="42" name="Text 40"/>
          <p:cNvSpPr txBox="1"/>
          <p:nvPr/>
        </p:nvSpPr>
        <p:spPr>
          <a:xfrm>
            <a:off x="457200" y="6400800"/>
            <a:ext cx="64008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900" spc="150" kern="0" dirty="0">
                <a:solidFill>
                  <a:srgbClr val="6B729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GRU · GATED RECURRENT UNIT</a:t>
            </a:r>
            <a:endParaRPr lang="en-US" sz="900" dirty="0"/>
          </a:p>
        </p:txBody>
      </p:sp>
      <p:sp>
        <p:nvSpPr>
          <p:cNvPr id="43" name="Text 41"/>
          <p:cNvSpPr txBox="1"/>
          <p:nvPr/>
        </p:nvSpPr>
        <p:spPr>
          <a:xfrm>
            <a:off x="11277295" y="6400800"/>
            <a:ext cx="4572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900" dirty="0">
                <a:solidFill>
                  <a:srgbClr val="6B729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12</a:t>
            </a:r>
            <a:endParaRPr lang="en-US" sz="900" dirty="0"/>
          </a:p>
        </p:txBody>
      </p:sp>
    </p:spTree>
  </p:cSld>
  <p:clrMapOvr>
    <a:masterClrMapping/>
  </p:clrMapOvr>
</p:sld>
</file>

<file path=ppt/slides/slide13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3">
    <p:bg>
      <p:bgPr>
        <a:solidFill>
          <a:srgbClr val="1B1F3B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 txBox="1"/>
          <p:nvPr/>
        </p:nvSpPr>
        <p:spPr>
          <a:xfrm>
            <a:off x="640080" y="457200"/>
            <a:ext cx="731520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00" b="1" spc="200" kern="0" dirty="0">
                <a:solidFill>
                  <a:srgbClr val="FF9F1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11 · EFFICIENCY</a:t>
            </a:r>
            <a:endParaRPr lang="en-US" sz="1200" dirty="0"/>
          </a:p>
        </p:txBody>
      </p:sp>
      <p:sp>
        <p:nvSpPr>
          <p:cNvPr id="3" name="Text 1"/>
          <p:cNvSpPr txBox="1"/>
          <p:nvPr/>
        </p:nvSpPr>
        <p:spPr>
          <a:xfrm>
            <a:off x="640080" y="749808"/>
            <a:ext cx="9601200" cy="7772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3000" b="1" dirty="0">
                <a:solidFill>
                  <a:srgbClr val="FFFFFF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Why Does GRU Train Faster?</a:t>
            </a:r>
            <a:endParaRPr lang="en-US" sz="3000" dirty="0"/>
          </a:p>
        </p:txBody>
      </p:sp>
      <p:sp>
        <p:nvSpPr>
          <p:cNvPr id="4" name="Text 2"/>
          <p:cNvSpPr txBox="1"/>
          <p:nvPr/>
        </p:nvSpPr>
        <p:spPr>
          <a:xfrm>
            <a:off x="640080" y="1691640"/>
            <a:ext cx="914400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350" dirty="0">
                <a:solidFill>
                  <a:srgbClr val="AAB1D6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GRU has a simpler architecture, which cascades into real training-time savings.</a:t>
            </a:r>
            <a:endParaRPr lang="en-US" sz="1350" dirty="0"/>
          </a:p>
        </p:txBody>
      </p:sp>
      <p:sp>
        <p:nvSpPr>
          <p:cNvPr id="5" name="Shape 3"/>
          <p:cNvSpPr/>
          <p:nvPr/>
        </p:nvSpPr>
        <p:spPr>
          <a:xfrm>
            <a:off x="777240" y="2286000"/>
            <a:ext cx="5120640" cy="3520440"/>
          </a:xfrm>
          <a:prstGeom prst="roundRect">
            <a:avLst>
              <a:gd name="adj" fmla="val 2597"/>
            </a:avLst>
          </a:prstGeom>
          <a:solidFill>
            <a:srgbClr val="252B52"/>
          </a:solidFill>
          <a:ln/>
        </p:spPr>
      </p:sp>
      <p:sp>
        <p:nvSpPr>
          <p:cNvPr id="6" name="Text 4"/>
          <p:cNvSpPr txBox="1"/>
          <p:nvPr/>
        </p:nvSpPr>
        <p:spPr>
          <a:xfrm>
            <a:off x="1097280" y="2514600"/>
            <a:ext cx="448056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2000" b="1" dirty="0">
                <a:solidFill>
                  <a:srgbClr val="AAB1D6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LSTM</a:t>
            </a:r>
            <a:endParaRPr lang="en-US" sz="2000" dirty="0"/>
          </a:p>
        </p:txBody>
      </p:sp>
      <p:sp>
        <p:nvSpPr>
          <p:cNvPr id="7" name="Text 5"/>
          <p:cNvSpPr txBox="1"/>
          <p:nvPr/>
        </p:nvSpPr>
        <p:spPr>
          <a:xfrm>
            <a:off x="1097280" y="3154680"/>
            <a:ext cx="448056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400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More gates</a:t>
            </a:r>
            <a:endParaRPr lang="en-US" sz="1400" dirty="0"/>
          </a:p>
        </p:txBody>
      </p:sp>
      <p:sp>
        <p:nvSpPr>
          <p:cNvPr id="8" name="Shape 6"/>
          <p:cNvSpPr/>
          <p:nvPr/>
        </p:nvSpPr>
        <p:spPr>
          <a:xfrm rot="5400000">
            <a:off x="1143000" y="3538728"/>
            <a:ext cx="201168" cy="164592"/>
          </a:xfrm>
          <a:prstGeom prst="chevron">
            <a:avLst/>
          </a:prstGeom>
          <a:solidFill>
            <a:srgbClr val="FFFFFF"/>
          </a:solidFill>
          <a:ln/>
        </p:spPr>
      </p:sp>
      <p:sp>
        <p:nvSpPr>
          <p:cNvPr id="9" name="Text 7"/>
          <p:cNvSpPr txBox="1"/>
          <p:nvPr/>
        </p:nvSpPr>
        <p:spPr>
          <a:xfrm>
            <a:off x="1097280" y="3776472"/>
            <a:ext cx="448056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400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More parameters</a:t>
            </a:r>
            <a:endParaRPr lang="en-US" sz="1400" dirty="0"/>
          </a:p>
        </p:txBody>
      </p:sp>
      <p:sp>
        <p:nvSpPr>
          <p:cNvPr id="10" name="Shape 8"/>
          <p:cNvSpPr/>
          <p:nvPr/>
        </p:nvSpPr>
        <p:spPr>
          <a:xfrm rot="5400000">
            <a:off x="1143000" y="4160520"/>
            <a:ext cx="201168" cy="164592"/>
          </a:xfrm>
          <a:prstGeom prst="chevron">
            <a:avLst/>
          </a:prstGeom>
          <a:solidFill>
            <a:srgbClr val="FFFFFF"/>
          </a:solidFill>
          <a:ln/>
        </p:spPr>
      </p:sp>
      <p:sp>
        <p:nvSpPr>
          <p:cNvPr id="11" name="Text 9"/>
          <p:cNvSpPr txBox="1"/>
          <p:nvPr/>
        </p:nvSpPr>
        <p:spPr>
          <a:xfrm>
            <a:off x="1097280" y="4398264"/>
            <a:ext cx="448056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400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More calculations</a:t>
            </a:r>
            <a:endParaRPr lang="en-US" sz="1400" dirty="0"/>
          </a:p>
        </p:txBody>
      </p:sp>
      <p:sp>
        <p:nvSpPr>
          <p:cNvPr id="12" name="Shape 10"/>
          <p:cNvSpPr/>
          <p:nvPr/>
        </p:nvSpPr>
        <p:spPr>
          <a:xfrm rot="5400000">
            <a:off x="1143000" y="4782312"/>
            <a:ext cx="201168" cy="164592"/>
          </a:xfrm>
          <a:prstGeom prst="chevron">
            <a:avLst/>
          </a:prstGeom>
          <a:solidFill>
            <a:srgbClr val="FFFFFF"/>
          </a:solidFill>
          <a:ln/>
        </p:spPr>
      </p:sp>
      <p:sp>
        <p:nvSpPr>
          <p:cNvPr id="13" name="Text 11"/>
          <p:cNvSpPr txBox="1"/>
          <p:nvPr/>
        </p:nvSpPr>
        <p:spPr>
          <a:xfrm>
            <a:off x="1097280" y="5020056"/>
            <a:ext cx="448056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4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More computational cost</a:t>
            </a:r>
            <a:endParaRPr lang="en-US" sz="1400" dirty="0"/>
          </a:p>
        </p:txBody>
      </p:sp>
      <p:sp>
        <p:nvSpPr>
          <p:cNvPr id="14" name="Shape 12"/>
          <p:cNvSpPr/>
          <p:nvPr/>
        </p:nvSpPr>
        <p:spPr>
          <a:xfrm>
            <a:off x="6400800" y="2286000"/>
            <a:ext cx="5120640" cy="3520440"/>
          </a:xfrm>
          <a:prstGeom prst="roundRect">
            <a:avLst>
              <a:gd name="adj" fmla="val 2597"/>
            </a:avLst>
          </a:prstGeom>
          <a:solidFill>
            <a:srgbClr val="2EC4B6"/>
          </a:solidFill>
          <a:ln/>
        </p:spPr>
      </p:sp>
      <p:sp>
        <p:nvSpPr>
          <p:cNvPr id="15" name="Text 13"/>
          <p:cNvSpPr txBox="1"/>
          <p:nvPr/>
        </p:nvSpPr>
        <p:spPr>
          <a:xfrm>
            <a:off x="6720840" y="2514600"/>
            <a:ext cx="448056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2000" b="1" dirty="0">
                <a:solidFill>
                  <a:srgbClr val="1B1F3B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GRU</a:t>
            </a:r>
            <a:endParaRPr lang="en-US" sz="2000" dirty="0"/>
          </a:p>
        </p:txBody>
      </p:sp>
      <p:sp>
        <p:nvSpPr>
          <p:cNvPr id="16" name="Text 14"/>
          <p:cNvSpPr txBox="1"/>
          <p:nvPr/>
        </p:nvSpPr>
        <p:spPr>
          <a:xfrm>
            <a:off x="6720840" y="3154680"/>
            <a:ext cx="448056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400" dirty="0">
                <a:solidFill>
                  <a:srgbClr val="1B1F3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Fewer gates</a:t>
            </a:r>
            <a:endParaRPr lang="en-US" sz="1400" dirty="0"/>
          </a:p>
        </p:txBody>
      </p:sp>
      <p:sp>
        <p:nvSpPr>
          <p:cNvPr id="17" name="Shape 15"/>
          <p:cNvSpPr/>
          <p:nvPr/>
        </p:nvSpPr>
        <p:spPr>
          <a:xfrm rot="5400000">
            <a:off x="6766560" y="3538728"/>
            <a:ext cx="201168" cy="164592"/>
          </a:xfrm>
          <a:prstGeom prst="chevron">
            <a:avLst/>
          </a:prstGeom>
          <a:solidFill>
            <a:srgbClr val="1B1F3B"/>
          </a:solidFill>
          <a:ln/>
        </p:spPr>
      </p:sp>
      <p:sp>
        <p:nvSpPr>
          <p:cNvPr id="18" name="Text 16"/>
          <p:cNvSpPr txBox="1"/>
          <p:nvPr/>
        </p:nvSpPr>
        <p:spPr>
          <a:xfrm>
            <a:off x="6720840" y="3776472"/>
            <a:ext cx="448056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400" dirty="0">
                <a:solidFill>
                  <a:srgbClr val="1B1F3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Fewer parameters</a:t>
            </a:r>
            <a:endParaRPr lang="en-US" sz="1400" dirty="0"/>
          </a:p>
        </p:txBody>
      </p:sp>
      <p:sp>
        <p:nvSpPr>
          <p:cNvPr id="19" name="Shape 17"/>
          <p:cNvSpPr/>
          <p:nvPr/>
        </p:nvSpPr>
        <p:spPr>
          <a:xfrm rot="5400000">
            <a:off x="6766560" y="4160520"/>
            <a:ext cx="201168" cy="164592"/>
          </a:xfrm>
          <a:prstGeom prst="chevron">
            <a:avLst/>
          </a:prstGeom>
          <a:solidFill>
            <a:srgbClr val="1B1F3B"/>
          </a:solidFill>
          <a:ln/>
        </p:spPr>
      </p:sp>
      <p:sp>
        <p:nvSpPr>
          <p:cNvPr id="20" name="Text 18"/>
          <p:cNvSpPr txBox="1"/>
          <p:nvPr/>
        </p:nvSpPr>
        <p:spPr>
          <a:xfrm>
            <a:off x="6720840" y="4398264"/>
            <a:ext cx="448056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400" dirty="0">
                <a:solidFill>
                  <a:srgbClr val="1B1F3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Fewer calculations</a:t>
            </a:r>
            <a:endParaRPr lang="en-US" sz="1400" dirty="0"/>
          </a:p>
        </p:txBody>
      </p:sp>
      <p:sp>
        <p:nvSpPr>
          <p:cNvPr id="21" name="Shape 19"/>
          <p:cNvSpPr/>
          <p:nvPr/>
        </p:nvSpPr>
        <p:spPr>
          <a:xfrm rot="5400000">
            <a:off x="6766560" y="4782312"/>
            <a:ext cx="201168" cy="164592"/>
          </a:xfrm>
          <a:prstGeom prst="chevron">
            <a:avLst/>
          </a:prstGeom>
          <a:solidFill>
            <a:srgbClr val="1B1F3B"/>
          </a:solidFill>
          <a:ln/>
        </p:spPr>
      </p:sp>
      <p:sp>
        <p:nvSpPr>
          <p:cNvPr id="22" name="Text 20"/>
          <p:cNvSpPr txBox="1"/>
          <p:nvPr/>
        </p:nvSpPr>
        <p:spPr>
          <a:xfrm>
            <a:off x="6720840" y="5020056"/>
            <a:ext cx="448056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400" b="1" dirty="0">
                <a:solidFill>
                  <a:srgbClr val="1B1F3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Usually faster training</a:t>
            </a:r>
            <a:endParaRPr lang="en-US" sz="1400" dirty="0"/>
          </a:p>
        </p:txBody>
      </p:sp>
      <p:sp>
        <p:nvSpPr>
          <p:cNvPr id="23" name="Text 21"/>
          <p:cNvSpPr txBox="1"/>
          <p:nvPr/>
        </p:nvSpPr>
        <p:spPr>
          <a:xfrm>
            <a:off x="777240" y="5989320"/>
            <a:ext cx="1060704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50" i="1" dirty="0">
                <a:solidFill>
                  <a:srgbClr val="AAB1D6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Not guaranteed for every dataset, model, or hardware setup — but GRU is often faster in practice.</a:t>
            </a:r>
            <a:endParaRPr lang="en-US" sz="1150" dirty="0"/>
          </a:p>
        </p:txBody>
      </p:sp>
      <p:sp>
        <p:nvSpPr>
          <p:cNvPr id="24" name="Text 22"/>
          <p:cNvSpPr txBox="1"/>
          <p:nvPr/>
        </p:nvSpPr>
        <p:spPr>
          <a:xfrm>
            <a:off x="457200" y="6400800"/>
            <a:ext cx="64008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900" spc="150" kern="0" dirty="0">
                <a:solidFill>
                  <a:srgbClr val="AAB1D6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GRU · GATED RECURRENT UNIT</a:t>
            </a:r>
            <a:endParaRPr lang="en-US" sz="900" dirty="0"/>
          </a:p>
        </p:txBody>
      </p:sp>
      <p:sp>
        <p:nvSpPr>
          <p:cNvPr id="25" name="Text 23"/>
          <p:cNvSpPr txBox="1"/>
          <p:nvPr/>
        </p:nvSpPr>
        <p:spPr>
          <a:xfrm>
            <a:off x="11277295" y="6400800"/>
            <a:ext cx="4572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900" dirty="0">
                <a:solidFill>
                  <a:srgbClr val="AAB1D6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13</a:t>
            </a:r>
            <a:endParaRPr lang="en-US" sz="900" dirty="0"/>
          </a:p>
        </p:txBody>
      </p:sp>
    </p:spTree>
  </p:cSld>
  <p:clrMapOvr>
    <a:masterClrMapping/>
  </p:clrMapOvr>
</p:sld>
</file>

<file path=ppt/slides/slide14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4"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 txBox="1"/>
          <p:nvPr/>
        </p:nvSpPr>
        <p:spPr>
          <a:xfrm>
            <a:off x="640080" y="457200"/>
            <a:ext cx="731520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00" b="1" spc="200" kern="0" dirty="0">
                <a:solidFill>
                  <a:srgbClr val="FF9F1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12 · PRACTICAL EXAMPLE</a:t>
            </a:r>
            <a:endParaRPr lang="en-US" sz="1200" dirty="0"/>
          </a:p>
        </p:txBody>
      </p:sp>
      <p:sp>
        <p:nvSpPr>
          <p:cNvPr id="3" name="Text 1"/>
          <p:cNvSpPr txBox="1"/>
          <p:nvPr/>
        </p:nvSpPr>
        <p:spPr>
          <a:xfrm>
            <a:off x="640080" y="749808"/>
            <a:ext cx="9601200" cy="7772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3000" b="1" dirty="0">
                <a:solidFill>
                  <a:srgbClr val="1B1F3B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Temperature Prediction</a:t>
            </a:r>
            <a:endParaRPr lang="en-US" sz="3000" dirty="0"/>
          </a:p>
        </p:txBody>
      </p:sp>
      <p:sp>
        <p:nvSpPr>
          <p:cNvPr id="4" name="Text 2"/>
          <p:cNvSpPr txBox="1"/>
          <p:nvPr/>
        </p:nvSpPr>
        <p:spPr>
          <a:xfrm>
            <a:off x="640080" y="1664208"/>
            <a:ext cx="1051560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300" dirty="0">
                <a:solidFill>
                  <a:srgbClr val="6B729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Suppose we have a week of daily temperatures and want to predict the next value from the last three days.</a:t>
            </a:r>
            <a:endParaRPr lang="en-US" sz="1300" dirty="0"/>
          </a:p>
        </p:txBody>
      </p:sp>
      <p:sp>
        <p:nvSpPr>
          <p:cNvPr id="5" name="Shape 3"/>
          <p:cNvSpPr/>
          <p:nvPr/>
        </p:nvSpPr>
        <p:spPr>
          <a:xfrm>
            <a:off x="640080" y="2194560"/>
            <a:ext cx="5349240" cy="457200"/>
          </a:xfrm>
          <a:prstGeom prst="rect">
            <a:avLst/>
          </a:prstGeom>
          <a:solidFill>
            <a:srgbClr val="1B1F3B"/>
          </a:solidFill>
          <a:ln w="6350">
            <a:solidFill>
              <a:srgbClr val="FFFFFF"/>
            </a:solidFill>
            <a:prstDash val="solid"/>
          </a:ln>
        </p:spPr>
      </p:sp>
      <p:sp>
        <p:nvSpPr>
          <p:cNvPr id="6" name="Text 4"/>
          <p:cNvSpPr txBox="1"/>
          <p:nvPr/>
        </p:nvSpPr>
        <p:spPr>
          <a:xfrm>
            <a:off x="640080" y="2194560"/>
            <a:ext cx="118872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1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Day</a:t>
            </a:r>
            <a:endParaRPr lang="en-US" sz="1100" dirty="0"/>
          </a:p>
        </p:txBody>
      </p:sp>
      <p:sp>
        <p:nvSpPr>
          <p:cNvPr id="7" name="Text 5"/>
          <p:cNvSpPr txBox="1"/>
          <p:nvPr/>
        </p:nvSpPr>
        <p:spPr>
          <a:xfrm>
            <a:off x="1828800" y="2194560"/>
            <a:ext cx="59436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1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1</a:t>
            </a:r>
            <a:endParaRPr lang="en-US" sz="1100" dirty="0"/>
          </a:p>
        </p:txBody>
      </p:sp>
      <p:sp>
        <p:nvSpPr>
          <p:cNvPr id="8" name="Text 6"/>
          <p:cNvSpPr txBox="1"/>
          <p:nvPr/>
        </p:nvSpPr>
        <p:spPr>
          <a:xfrm>
            <a:off x="2423160" y="2194560"/>
            <a:ext cx="59436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1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2</a:t>
            </a:r>
            <a:endParaRPr lang="en-US" sz="1100" dirty="0"/>
          </a:p>
        </p:txBody>
      </p:sp>
      <p:sp>
        <p:nvSpPr>
          <p:cNvPr id="9" name="Text 7"/>
          <p:cNvSpPr txBox="1"/>
          <p:nvPr/>
        </p:nvSpPr>
        <p:spPr>
          <a:xfrm>
            <a:off x="3017520" y="2194560"/>
            <a:ext cx="59436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1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3</a:t>
            </a:r>
            <a:endParaRPr lang="en-US" sz="1100" dirty="0"/>
          </a:p>
        </p:txBody>
      </p:sp>
      <p:sp>
        <p:nvSpPr>
          <p:cNvPr id="10" name="Text 8"/>
          <p:cNvSpPr txBox="1"/>
          <p:nvPr/>
        </p:nvSpPr>
        <p:spPr>
          <a:xfrm>
            <a:off x="3611880" y="2194560"/>
            <a:ext cx="59436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1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4</a:t>
            </a:r>
            <a:endParaRPr lang="en-US" sz="1100" dirty="0"/>
          </a:p>
        </p:txBody>
      </p:sp>
      <p:sp>
        <p:nvSpPr>
          <p:cNvPr id="11" name="Text 9"/>
          <p:cNvSpPr txBox="1"/>
          <p:nvPr/>
        </p:nvSpPr>
        <p:spPr>
          <a:xfrm>
            <a:off x="4206240" y="2194560"/>
            <a:ext cx="59436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1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5</a:t>
            </a:r>
            <a:endParaRPr lang="en-US" sz="1100" dirty="0"/>
          </a:p>
        </p:txBody>
      </p:sp>
      <p:sp>
        <p:nvSpPr>
          <p:cNvPr id="12" name="Text 10"/>
          <p:cNvSpPr txBox="1"/>
          <p:nvPr/>
        </p:nvSpPr>
        <p:spPr>
          <a:xfrm>
            <a:off x="4800600" y="2194560"/>
            <a:ext cx="59436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1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6</a:t>
            </a:r>
            <a:endParaRPr lang="en-US" sz="1100" dirty="0"/>
          </a:p>
        </p:txBody>
      </p:sp>
      <p:sp>
        <p:nvSpPr>
          <p:cNvPr id="13" name="Text 11"/>
          <p:cNvSpPr txBox="1"/>
          <p:nvPr/>
        </p:nvSpPr>
        <p:spPr>
          <a:xfrm>
            <a:off x="5394960" y="2194560"/>
            <a:ext cx="59436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1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7</a:t>
            </a:r>
            <a:endParaRPr lang="en-US" sz="1100" dirty="0"/>
          </a:p>
        </p:txBody>
      </p:sp>
      <p:sp>
        <p:nvSpPr>
          <p:cNvPr id="14" name="Shape 12"/>
          <p:cNvSpPr/>
          <p:nvPr/>
        </p:nvSpPr>
        <p:spPr>
          <a:xfrm>
            <a:off x="640080" y="2651760"/>
            <a:ext cx="5349240" cy="457200"/>
          </a:xfrm>
          <a:prstGeom prst="rect">
            <a:avLst/>
          </a:prstGeom>
          <a:solidFill>
            <a:srgbClr val="F2F5FA"/>
          </a:solidFill>
          <a:ln w="6350">
            <a:solidFill>
              <a:srgbClr val="FFFFFF"/>
            </a:solidFill>
            <a:prstDash val="solid"/>
          </a:ln>
        </p:spPr>
      </p:sp>
      <p:sp>
        <p:nvSpPr>
          <p:cNvPr id="15" name="Text 13"/>
          <p:cNvSpPr txBox="1"/>
          <p:nvPr/>
        </p:nvSpPr>
        <p:spPr>
          <a:xfrm>
            <a:off x="640080" y="2651760"/>
            <a:ext cx="118872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100" b="1" dirty="0">
                <a:solidFill>
                  <a:srgbClr val="2B2F4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Temp (°C)</a:t>
            </a:r>
            <a:endParaRPr lang="en-US" sz="1100" dirty="0"/>
          </a:p>
        </p:txBody>
      </p:sp>
      <p:sp>
        <p:nvSpPr>
          <p:cNvPr id="16" name="Text 14"/>
          <p:cNvSpPr txBox="1"/>
          <p:nvPr/>
        </p:nvSpPr>
        <p:spPr>
          <a:xfrm>
            <a:off x="1828800" y="2651760"/>
            <a:ext cx="59436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100" dirty="0">
                <a:solidFill>
                  <a:srgbClr val="2B2F4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30</a:t>
            </a:r>
            <a:endParaRPr lang="en-US" sz="1100" dirty="0"/>
          </a:p>
        </p:txBody>
      </p:sp>
      <p:sp>
        <p:nvSpPr>
          <p:cNvPr id="17" name="Text 15"/>
          <p:cNvSpPr txBox="1"/>
          <p:nvPr/>
        </p:nvSpPr>
        <p:spPr>
          <a:xfrm>
            <a:off x="2423160" y="2651760"/>
            <a:ext cx="59436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100" dirty="0">
                <a:solidFill>
                  <a:srgbClr val="2B2F4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31</a:t>
            </a:r>
            <a:endParaRPr lang="en-US" sz="1100" dirty="0"/>
          </a:p>
        </p:txBody>
      </p:sp>
      <p:sp>
        <p:nvSpPr>
          <p:cNvPr id="18" name="Text 16"/>
          <p:cNvSpPr txBox="1"/>
          <p:nvPr/>
        </p:nvSpPr>
        <p:spPr>
          <a:xfrm>
            <a:off x="3017520" y="2651760"/>
            <a:ext cx="59436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100" dirty="0">
                <a:solidFill>
                  <a:srgbClr val="2B2F4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32</a:t>
            </a:r>
            <a:endParaRPr lang="en-US" sz="1100" dirty="0"/>
          </a:p>
        </p:txBody>
      </p:sp>
      <p:sp>
        <p:nvSpPr>
          <p:cNvPr id="19" name="Text 17"/>
          <p:cNvSpPr txBox="1"/>
          <p:nvPr/>
        </p:nvSpPr>
        <p:spPr>
          <a:xfrm>
            <a:off x="3611880" y="2651760"/>
            <a:ext cx="59436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100" dirty="0">
                <a:solidFill>
                  <a:srgbClr val="2B2F4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33</a:t>
            </a:r>
            <a:endParaRPr lang="en-US" sz="1100" dirty="0"/>
          </a:p>
        </p:txBody>
      </p:sp>
      <p:sp>
        <p:nvSpPr>
          <p:cNvPr id="20" name="Text 18"/>
          <p:cNvSpPr txBox="1"/>
          <p:nvPr/>
        </p:nvSpPr>
        <p:spPr>
          <a:xfrm>
            <a:off x="4206240" y="2651760"/>
            <a:ext cx="59436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100" dirty="0">
                <a:solidFill>
                  <a:srgbClr val="2B2F4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35</a:t>
            </a:r>
            <a:endParaRPr lang="en-US" sz="1100" dirty="0"/>
          </a:p>
        </p:txBody>
      </p:sp>
      <p:sp>
        <p:nvSpPr>
          <p:cNvPr id="21" name="Text 19"/>
          <p:cNvSpPr txBox="1"/>
          <p:nvPr/>
        </p:nvSpPr>
        <p:spPr>
          <a:xfrm>
            <a:off x="4800600" y="2651760"/>
            <a:ext cx="59436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100" dirty="0">
                <a:solidFill>
                  <a:srgbClr val="2B2F4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36</a:t>
            </a:r>
            <a:endParaRPr lang="en-US" sz="1100" dirty="0"/>
          </a:p>
        </p:txBody>
      </p:sp>
      <p:sp>
        <p:nvSpPr>
          <p:cNvPr id="22" name="Text 20"/>
          <p:cNvSpPr txBox="1"/>
          <p:nvPr/>
        </p:nvSpPr>
        <p:spPr>
          <a:xfrm>
            <a:off x="5394960" y="2651760"/>
            <a:ext cx="59436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100" dirty="0">
                <a:solidFill>
                  <a:srgbClr val="2B2F4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37</a:t>
            </a:r>
            <a:endParaRPr lang="en-US" sz="1100" dirty="0"/>
          </a:p>
        </p:txBody>
      </p:sp>
      <p:sp>
        <p:nvSpPr>
          <p:cNvPr id="23" name="Text 21"/>
          <p:cNvSpPr txBox="1"/>
          <p:nvPr/>
        </p:nvSpPr>
        <p:spPr>
          <a:xfrm>
            <a:off x="640080" y="3337560"/>
            <a:ext cx="54864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50" b="1" spc="150" kern="0" dirty="0">
                <a:solidFill>
                  <a:srgbClr val="6B729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SEQUENCES CREATED</a:t>
            </a:r>
            <a:endParaRPr lang="en-US" sz="1050" dirty="0"/>
          </a:p>
        </p:txBody>
      </p:sp>
      <p:sp>
        <p:nvSpPr>
          <p:cNvPr id="24" name="Shape 22"/>
          <p:cNvSpPr/>
          <p:nvPr/>
        </p:nvSpPr>
        <p:spPr>
          <a:xfrm>
            <a:off x="640080" y="3657600"/>
            <a:ext cx="5120640" cy="457200"/>
          </a:xfrm>
          <a:prstGeom prst="roundRect">
            <a:avLst>
              <a:gd name="adj" fmla="val 14000"/>
            </a:avLst>
          </a:prstGeom>
          <a:solidFill>
            <a:srgbClr val="F2F5FA"/>
          </a:solidFill>
          <a:ln/>
        </p:spPr>
      </p:sp>
      <p:sp>
        <p:nvSpPr>
          <p:cNvPr id="25" name="Text 23"/>
          <p:cNvSpPr txBox="1"/>
          <p:nvPr/>
        </p:nvSpPr>
        <p:spPr>
          <a:xfrm>
            <a:off x="868680" y="3657600"/>
            <a:ext cx="475488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300" dirty="0">
                <a:solidFill>
                  <a:srgbClr val="1B1F3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[30, 31, 32]  →  33</a:t>
            </a:r>
            <a:endParaRPr lang="en-US" sz="1300" dirty="0"/>
          </a:p>
        </p:txBody>
      </p:sp>
      <p:sp>
        <p:nvSpPr>
          <p:cNvPr id="26" name="Shape 24"/>
          <p:cNvSpPr/>
          <p:nvPr/>
        </p:nvSpPr>
        <p:spPr>
          <a:xfrm>
            <a:off x="640080" y="4206240"/>
            <a:ext cx="5120640" cy="457200"/>
          </a:xfrm>
          <a:prstGeom prst="roundRect">
            <a:avLst>
              <a:gd name="adj" fmla="val 14000"/>
            </a:avLst>
          </a:prstGeom>
          <a:solidFill>
            <a:srgbClr val="F2F5FA"/>
          </a:solidFill>
          <a:ln/>
        </p:spPr>
      </p:sp>
      <p:sp>
        <p:nvSpPr>
          <p:cNvPr id="27" name="Text 25"/>
          <p:cNvSpPr txBox="1"/>
          <p:nvPr/>
        </p:nvSpPr>
        <p:spPr>
          <a:xfrm>
            <a:off x="868680" y="4206240"/>
            <a:ext cx="475488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300" dirty="0">
                <a:solidFill>
                  <a:srgbClr val="1B1F3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[31, 32, 33]  →  35</a:t>
            </a:r>
            <a:endParaRPr lang="en-US" sz="1300" dirty="0"/>
          </a:p>
        </p:txBody>
      </p:sp>
      <p:sp>
        <p:nvSpPr>
          <p:cNvPr id="28" name="Shape 26"/>
          <p:cNvSpPr/>
          <p:nvPr/>
        </p:nvSpPr>
        <p:spPr>
          <a:xfrm>
            <a:off x="640080" y="4754880"/>
            <a:ext cx="5120640" cy="457200"/>
          </a:xfrm>
          <a:prstGeom prst="roundRect">
            <a:avLst>
              <a:gd name="adj" fmla="val 14000"/>
            </a:avLst>
          </a:prstGeom>
          <a:solidFill>
            <a:srgbClr val="F2F5FA"/>
          </a:solidFill>
          <a:ln/>
        </p:spPr>
      </p:sp>
      <p:sp>
        <p:nvSpPr>
          <p:cNvPr id="29" name="Text 27"/>
          <p:cNvSpPr txBox="1"/>
          <p:nvPr/>
        </p:nvSpPr>
        <p:spPr>
          <a:xfrm>
            <a:off x="868680" y="4754880"/>
            <a:ext cx="475488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300" dirty="0">
                <a:solidFill>
                  <a:srgbClr val="1B1F3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[32, 33, 35]  →  36</a:t>
            </a:r>
            <a:endParaRPr lang="en-US" sz="1300" dirty="0"/>
          </a:p>
        </p:txBody>
      </p:sp>
      <p:sp>
        <p:nvSpPr>
          <p:cNvPr id="30" name="Shape 28"/>
          <p:cNvSpPr/>
          <p:nvPr/>
        </p:nvSpPr>
        <p:spPr>
          <a:xfrm>
            <a:off x="640080" y="5303520"/>
            <a:ext cx="5120640" cy="457200"/>
          </a:xfrm>
          <a:prstGeom prst="roundRect">
            <a:avLst>
              <a:gd name="adj" fmla="val 14000"/>
            </a:avLst>
          </a:prstGeom>
          <a:solidFill>
            <a:srgbClr val="F2F5FA"/>
          </a:solidFill>
          <a:ln/>
        </p:spPr>
      </p:sp>
      <p:sp>
        <p:nvSpPr>
          <p:cNvPr id="31" name="Text 29"/>
          <p:cNvSpPr txBox="1"/>
          <p:nvPr/>
        </p:nvSpPr>
        <p:spPr>
          <a:xfrm>
            <a:off x="868680" y="5303520"/>
            <a:ext cx="475488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300" dirty="0">
                <a:solidFill>
                  <a:srgbClr val="1B1F3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[33, 35, 36]  →  37</a:t>
            </a:r>
            <a:endParaRPr lang="en-US" sz="1300" dirty="0"/>
          </a:p>
        </p:txBody>
      </p:sp>
      <p:sp>
        <p:nvSpPr>
          <p:cNvPr id="32" name="Shape 30"/>
          <p:cNvSpPr/>
          <p:nvPr/>
        </p:nvSpPr>
        <p:spPr>
          <a:xfrm>
            <a:off x="6355080" y="2194560"/>
            <a:ext cx="5212080" cy="3931920"/>
          </a:xfrm>
          <a:prstGeom prst="roundRect">
            <a:avLst>
              <a:gd name="adj" fmla="val 2093"/>
            </a:avLst>
          </a:prstGeom>
          <a:solidFill>
            <a:srgbClr val="1B1F3B"/>
          </a:solidFill>
          <a:ln/>
        </p:spPr>
      </p:sp>
      <p:sp>
        <p:nvSpPr>
          <p:cNvPr id="33" name="Text 31"/>
          <p:cNvSpPr txBox="1"/>
          <p:nvPr/>
        </p:nvSpPr>
        <p:spPr>
          <a:xfrm>
            <a:off x="6629400" y="2423160"/>
            <a:ext cx="466344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50" b="1" spc="150" kern="0" dirty="0">
                <a:solidFill>
                  <a:srgbClr val="2EC4B6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THE MODEL LEARNS</a:t>
            </a:r>
            <a:endParaRPr lang="en-US" sz="1050" dirty="0"/>
          </a:p>
        </p:txBody>
      </p:sp>
      <p:sp>
        <p:nvSpPr>
          <p:cNvPr id="34" name="Shape 32"/>
          <p:cNvSpPr/>
          <p:nvPr/>
        </p:nvSpPr>
        <p:spPr>
          <a:xfrm>
            <a:off x="6949440" y="2880360"/>
            <a:ext cx="4251960" cy="640080"/>
          </a:xfrm>
          <a:prstGeom prst="roundRect">
            <a:avLst>
              <a:gd name="adj" fmla="val 14286"/>
            </a:avLst>
          </a:prstGeom>
          <a:solidFill>
            <a:srgbClr val="252B52"/>
          </a:solidFill>
          <a:ln w="12700">
            <a:solidFill>
              <a:srgbClr val="AAB1D6"/>
            </a:solidFill>
            <a:prstDash val="solid"/>
          </a:ln>
        </p:spPr>
      </p:sp>
      <p:sp>
        <p:nvSpPr>
          <p:cNvPr id="35" name="Text 33"/>
          <p:cNvSpPr txBox="1"/>
          <p:nvPr/>
        </p:nvSpPr>
        <p:spPr>
          <a:xfrm>
            <a:off x="6949440" y="2880360"/>
            <a:ext cx="4251960" cy="6400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3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Previous Temperatures</a:t>
            </a:r>
            <a:endParaRPr lang="en-US" sz="1300" dirty="0"/>
          </a:p>
        </p:txBody>
      </p:sp>
      <p:sp>
        <p:nvSpPr>
          <p:cNvPr id="36" name="Shape 34"/>
          <p:cNvSpPr/>
          <p:nvPr/>
        </p:nvSpPr>
        <p:spPr>
          <a:xfrm rot="5400000">
            <a:off x="8915400" y="3611880"/>
            <a:ext cx="320040" cy="256032"/>
          </a:xfrm>
          <a:prstGeom prst="chevron">
            <a:avLst/>
          </a:prstGeom>
          <a:solidFill>
            <a:srgbClr val="2EC4B6"/>
          </a:solidFill>
          <a:ln/>
        </p:spPr>
      </p:sp>
      <p:sp>
        <p:nvSpPr>
          <p:cNvPr id="37" name="Shape 35"/>
          <p:cNvSpPr/>
          <p:nvPr/>
        </p:nvSpPr>
        <p:spPr>
          <a:xfrm>
            <a:off x="7680960" y="3977640"/>
            <a:ext cx="2880360" cy="640080"/>
          </a:xfrm>
          <a:prstGeom prst="roundRect">
            <a:avLst>
              <a:gd name="adj" fmla="val 14286"/>
            </a:avLst>
          </a:prstGeom>
          <a:solidFill>
            <a:srgbClr val="2EC4B6"/>
          </a:solidFill>
          <a:ln/>
        </p:spPr>
      </p:sp>
      <p:sp>
        <p:nvSpPr>
          <p:cNvPr id="38" name="Text 36"/>
          <p:cNvSpPr txBox="1"/>
          <p:nvPr/>
        </p:nvSpPr>
        <p:spPr>
          <a:xfrm>
            <a:off x="7680960" y="3977640"/>
            <a:ext cx="2880360" cy="6400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500" b="1" dirty="0">
                <a:solidFill>
                  <a:srgbClr val="1B1F3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GRU</a:t>
            </a:r>
            <a:endParaRPr lang="en-US" sz="1500" dirty="0"/>
          </a:p>
        </p:txBody>
      </p:sp>
      <p:sp>
        <p:nvSpPr>
          <p:cNvPr id="39" name="Shape 37"/>
          <p:cNvSpPr/>
          <p:nvPr/>
        </p:nvSpPr>
        <p:spPr>
          <a:xfrm rot="5400000">
            <a:off x="8915400" y="4709160"/>
            <a:ext cx="320040" cy="256032"/>
          </a:xfrm>
          <a:prstGeom prst="chevron">
            <a:avLst/>
          </a:prstGeom>
          <a:solidFill>
            <a:srgbClr val="2EC4B6"/>
          </a:solidFill>
          <a:ln/>
        </p:spPr>
      </p:sp>
      <p:sp>
        <p:nvSpPr>
          <p:cNvPr id="40" name="Shape 38"/>
          <p:cNvSpPr/>
          <p:nvPr/>
        </p:nvSpPr>
        <p:spPr>
          <a:xfrm>
            <a:off x="6949440" y="5074920"/>
            <a:ext cx="4251960" cy="640080"/>
          </a:xfrm>
          <a:prstGeom prst="roundRect">
            <a:avLst>
              <a:gd name="adj" fmla="val 14286"/>
            </a:avLst>
          </a:prstGeom>
          <a:solidFill>
            <a:srgbClr val="252B52"/>
          </a:solidFill>
          <a:ln w="12700">
            <a:solidFill>
              <a:srgbClr val="AAB1D6"/>
            </a:solidFill>
            <a:prstDash val="solid"/>
          </a:ln>
        </p:spPr>
      </p:sp>
      <p:sp>
        <p:nvSpPr>
          <p:cNvPr id="41" name="Text 39"/>
          <p:cNvSpPr txBox="1"/>
          <p:nvPr/>
        </p:nvSpPr>
        <p:spPr>
          <a:xfrm>
            <a:off x="6949440" y="5074920"/>
            <a:ext cx="4251960" cy="6400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3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Predicted Next Temperature</a:t>
            </a:r>
            <a:endParaRPr lang="en-US" sz="1300" dirty="0"/>
          </a:p>
        </p:txBody>
      </p:sp>
      <p:sp>
        <p:nvSpPr>
          <p:cNvPr id="42" name="Text 40"/>
          <p:cNvSpPr txBox="1"/>
          <p:nvPr/>
        </p:nvSpPr>
        <p:spPr>
          <a:xfrm>
            <a:off x="457200" y="6400800"/>
            <a:ext cx="64008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900" spc="150" kern="0" dirty="0">
                <a:solidFill>
                  <a:srgbClr val="6B729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GRU · GATED RECURRENT UNIT</a:t>
            </a:r>
            <a:endParaRPr lang="en-US" sz="900" dirty="0"/>
          </a:p>
        </p:txBody>
      </p:sp>
      <p:sp>
        <p:nvSpPr>
          <p:cNvPr id="43" name="Text 41"/>
          <p:cNvSpPr txBox="1"/>
          <p:nvPr/>
        </p:nvSpPr>
        <p:spPr>
          <a:xfrm>
            <a:off x="11277295" y="6400800"/>
            <a:ext cx="4572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900" dirty="0">
                <a:solidFill>
                  <a:srgbClr val="6B729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14</a:t>
            </a:r>
            <a:endParaRPr lang="en-US" sz="900" dirty="0"/>
          </a:p>
        </p:txBody>
      </p:sp>
    </p:spTree>
  </p:cSld>
  <p:clrMapOvr>
    <a:masterClrMapping/>
  </p:clrMapOvr>
</p:sld>
</file>

<file path=ppt/slides/slide15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5">
    <p:bg>
      <p:bgPr>
        <a:solidFill>
          <a:srgbClr val="1B1F3B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 txBox="1"/>
          <p:nvPr/>
        </p:nvSpPr>
        <p:spPr>
          <a:xfrm>
            <a:off x="640080" y="457200"/>
            <a:ext cx="731520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00" b="1" spc="200" kern="0" dirty="0">
                <a:solidFill>
                  <a:srgbClr val="FF9F1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13 · IMPLEMENTATION</a:t>
            </a:r>
            <a:endParaRPr lang="en-US" sz="1200" dirty="0"/>
          </a:p>
        </p:txBody>
      </p:sp>
      <p:sp>
        <p:nvSpPr>
          <p:cNvPr id="3" name="Text 1"/>
          <p:cNvSpPr txBox="1"/>
          <p:nvPr/>
        </p:nvSpPr>
        <p:spPr>
          <a:xfrm>
            <a:off x="640080" y="749808"/>
            <a:ext cx="10058400" cy="7772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3000" b="1" dirty="0">
                <a:solidFill>
                  <a:srgbClr val="FFFFFF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A Simple TensorFlow GRU Model</a:t>
            </a:r>
            <a:endParaRPr lang="en-US" sz="3000" dirty="0"/>
          </a:p>
        </p:txBody>
      </p:sp>
      <p:sp>
        <p:nvSpPr>
          <p:cNvPr id="4" name="Shape 2"/>
          <p:cNvSpPr/>
          <p:nvPr/>
        </p:nvSpPr>
        <p:spPr>
          <a:xfrm>
            <a:off x="640080" y="1691640"/>
            <a:ext cx="10881360" cy="4709160"/>
          </a:xfrm>
          <a:prstGeom prst="roundRect">
            <a:avLst>
              <a:gd name="adj" fmla="val 1553"/>
            </a:avLst>
          </a:prstGeom>
          <a:solidFill>
            <a:srgbClr val="12142B"/>
          </a:solidFill>
          <a:ln/>
        </p:spPr>
      </p:sp>
      <p:sp>
        <p:nvSpPr>
          <p:cNvPr id="5" name="Shape 3"/>
          <p:cNvSpPr/>
          <p:nvPr/>
        </p:nvSpPr>
        <p:spPr>
          <a:xfrm>
            <a:off x="868680" y="1874520"/>
            <a:ext cx="128016" cy="128016"/>
          </a:xfrm>
          <a:prstGeom prst="ellipse">
            <a:avLst/>
          </a:prstGeom>
          <a:solidFill>
            <a:srgbClr val="FF5F56"/>
          </a:solidFill>
          <a:ln/>
        </p:spPr>
      </p:sp>
      <p:sp>
        <p:nvSpPr>
          <p:cNvPr id="6" name="Shape 4"/>
          <p:cNvSpPr/>
          <p:nvPr/>
        </p:nvSpPr>
        <p:spPr>
          <a:xfrm>
            <a:off x="1069848" y="1874520"/>
            <a:ext cx="128016" cy="128016"/>
          </a:xfrm>
          <a:prstGeom prst="ellipse">
            <a:avLst/>
          </a:prstGeom>
          <a:solidFill>
            <a:srgbClr val="FFBD2E"/>
          </a:solidFill>
          <a:ln/>
        </p:spPr>
      </p:sp>
      <p:sp>
        <p:nvSpPr>
          <p:cNvPr id="7" name="Shape 5"/>
          <p:cNvSpPr/>
          <p:nvPr/>
        </p:nvSpPr>
        <p:spPr>
          <a:xfrm>
            <a:off x="1271016" y="1874520"/>
            <a:ext cx="128016" cy="128016"/>
          </a:xfrm>
          <a:prstGeom prst="ellipse">
            <a:avLst/>
          </a:prstGeom>
          <a:solidFill>
            <a:srgbClr val="27C93F"/>
          </a:solidFill>
          <a:ln/>
        </p:spPr>
      </p:sp>
      <p:sp>
        <p:nvSpPr>
          <p:cNvPr id="8" name="Text 6"/>
          <p:cNvSpPr txBox="1"/>
          <p:nvPr/>
        </p:nvSpPr>
        <p:spPr>
          <a:xfrm>
            <a:off x="868680" y="2148840"/>
            <a:ext cx="10424160" cy="41148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lnSpc>
                <a:spcPct val="115000"/>
              </a:lnSpc>
              <a:buNone/>
            </a:pPr>
            <a:r>
              <a:rPr lang="en-US" sz="1150" dirty="0">
                <a:solidFill>
                  <a:srgbClr val="D7DCEE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import numpy as np</a:t>
            </a:r>
            <a:endParaRPr lang="en-US" sz="1150" dirty="0"/>
          </a:p>
          <a:p>
            <a:pPr indent="0" marL="0">
              <a:lnSpc>
                <a:spcPct val="115000"/>
              </a:lnSpc>
              <a:buNone/>
            </a:pPr>
            <a:r>
              <a:rPr lang="en-US" sz="1150" dirty="0">
                <a:solidFill>
                  <a:srgbClr val="D7DCEE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import tensorflow as tf</a:t>
            </a:r>
            <a:endParaRPr lang="en-US" sz="1150" dirty="0"/>
          </a:p>
          <a:p>
            <a:pPr indent="0" marL="0">
              <a:lnSpc>
                <a:spcPct val="115000"/>
              </a:lnSpc>
              <a:buNone/>
            </a:pPr>
            <a:r>
              <a:rPr lang="en-US" sz="1150" dirty="0">
                <a:solidFill>
                  <a:srgbClr val="D7DCEE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from tensorflow.keras.models import Sequential</a:t>
            </a:r>
            <a:endParaRPr lang="en-US" sz="1150" dirty="0"/>
          </a:p>
          <a:p>
            <a:pPr indent="0" marL="0">
              <a:lnSpc>
                <a:spcPct val="115000"/>
              </a:lnSpc>
              <a:buNone/>
            </a:pPr>
            <a:r>
              <a:rPr lang="en-US" sz="1150" dirty="0">
                <a:solidFill>
                  <a:srgbClr val="D7DCEE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from tensorflow.keras.layers import GRU, Dense</a:t>
            </a:r>
            <a:endParaRPr lang="en-US" sz="1150" dirty="0"/>
          </a:p>
          <a:p>
            <a:pPr indent="0" marL="0">
              <a:lnSpc>
                <a:spcPct val="115000"/>
              </a:lnSpc>
              <a:buNone/>
            </a:pPr>
            <a:r>
              <a:rPr lang="en-US" sz="1150" dirty="0">
                <a:solidFill>
                  <a:srgbClr val="D7DCEE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 </a:t>
            </a:r>
            <a:endParaRPr lang="en-US" sz="1150" dirty="0"/>
          </a:p>
          <a:p>
            <a:pPr indent="0" marL="0">
              <a:lnSpc>
                <a:spcPct val="115000"/>
              </a:lnSpc>
              <a:buNone/>
            </a:pPr>
            <a:r>
              <a:rPr lang="en-US" sz="1150" dirty="0">
                <a:solidFill>
                  <a:srgbClr val="D7DCEE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# Dataset</a:t>
            </a:r>
            <a:endParaRPr lang="en-US" sz="1150" dirty="0"/>
          </a:p>
          <a:p>
            <a:pPr indent="0" marL="0">
              <a:lnSpc>
                <a:spcPct val="115000"/>
              </a:lnSpc>
              <a:buNone/>
            </a:pPr>
            <a:r>
              <a:rPr lang="en-US" sz="1150" dirty="0">
                <a:solidFill>
                  <a:srgbClr val="D7DCEE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data = np.array([30, 31, 32, 33, 35, 36, 37, 38, 40, 41], dtype=float)</a:t>
            </a:r>
            <a:endParaRPr lang="en-US" sz="1150" dirty="0"/>
          </a:p>
          <a:p>
            <a:pPr indent="0" marL="0">
              <a:lnSpc>
                <a:spcPct val="115000"/>
              </a:lnSpc>
              <a:buNone/>
            </a:pPr>
            <a:r>
              <a:rPr lang="en-US" sz="1150" dirty="0">
                <a:solidFill>
                  <a:srgbClr val="D7DCEE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 </a:t>
            </a:r>
            <a:endParaRPr lang="en-US" sz="1150" dirty="0"/>
          </a:p>
          <a:p>
            <a:pPr indent="0" marL="0">
              <a:lnSpc>
                <a:spcPct val="115000"/>
              </a:lnSpc>
              <a:buNone/>
            </a:pPr>
            <a:r>
              <a:rPr lang="en-US" sz="1150" dirty="0">
                <a:solidFill>
                  <a:srgbClr val="D7DCEE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# Create sequences of length 3</a:t>
            </a:r>
            <a:endParaRPr lang="en-US" sz="1150" dirty="0"/>
          </a:p>
          <a:p>
            <a:pPr indent="0" marL="0">
              <a:lnSpc>
                <a:spcPct val="115000"/>
              </a:lnSpc>
              <a:buNone/>
            </a:pPr>
            <a:r>
              <a:rPr lang="en-US" sz="1150" dirty="0">
                <a:solidFill>
                  <a:srgbClr val="D7DCEE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X, y = [], []</a:t>
            </a:r>
            <a:endParaRPr lang="en-US" sz="1150" dirty="0"/>
          </a:p>
          <a:p>
            <a:pPr indent="0" marL="0">
              <a:lnSpc>
                <a:spcPct val="115000"/>
              </a:lnSpc>
              <a:buNone/>
            </a:pPr>
            <a:r>
              <a:rPr lang="en-US" sz="1150" dirty="0">
                <a:solidFill>
                  <a:srgbClr val="D7DCEE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for i in range(len(data) - 3):</a:t>
            </a:r>
            <a:endParaRPr lang="en-US" sz="1150" dirty="0"/>
          </a:p>
          <a:p>
            <a:pPr indent="0" marL="0">
              <a:lnSpc>
                <a:spcPct val="115000"/>
              </a:lnSpc>
              <a:buNone/>
            </a:pPr>
            <a:r>
              <a:rPr lang="en-US" sz="1150" dirty="0">
                <a:solidFill>
                  <a:srgbClr val="D7DCEE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    X.append(data[i:i+3])</a:t>
            </a:r>
            <a:endParaRPr lang="en-US" sz="1150" dirty="0"/>
          </a:p>
          <a:p>
            <a:pPr indent="0" marL="0">
              <a:lnSpc>
                <a:spcPct val="115000"/>
              </a:lnSpc>
              <a:buNone/>
            </a:pPr>
            <a:r>
              <a:rPr lang="en-US" sz="1150" dirty="0">
                <a:solidFill>
                  <a:srgbClr val="D7DCEE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    y.append(data[i+3])</a:t>
            </a:r>
            <a:endParaRPr lang="en-US" sz="1150" dirty="0"/>
          </a:p>
          <a:p>
            <a:pPr indent="0" marL="0">
              <a:lnSpc>
                <a:spcPct val="115000"/>
              </a:lnSpc>
              <a:buNone/>
            </a:pPr>
            <a:r>
              <a:rPr lang="en-US" sz="1150" dirty="0">
                <a:solidFill>
                  <a:srgbClr val="D7DCEE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 </a:t>
            </a:r>
            <a:endParaRPr lang="en-US" sz="1150" dirty="0"/>
          </a:p>
          <a:p>
            <a:pPr indent="0" marL="0">
              <a:lnSpc>
                <a:spcPct val="115000"/>
              </a:lnSpc>
              <a:buNone/>
            </a:pPr>
            <a:r>
              <a:rPr lang="en-US" sz="1150" dirty="0">
                <a:solidFill>
                  <a:srgbClr val="D7DCEE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X = np.array(X).reshape((-1, 3, 1))</a:t>
            </a:r>
            <a:endParaRPr lang="en-US" sz="1150" dirty="0"/>
          </a:p>
          <a:p>
            <a:pPr indent="0" marL="0">
              <a:lnSpc>
                <a:spcPct val="115000"/>
              </a:lnSpc>
              <a:buNone/>
            </a:pPr>
            <a:r>
              <a:rPr lang="en-US" sz="1150" dirty="0">
                <a:solidFill>
                  <a:srgbClr val="D7DCEE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y = np.array(y)</a:t>
            </a:r>
            <a:endParaRPr lang="en-US" sz="1150" dirty="0"/>
          </a:p>
          <a:p>
            <a:pPr indent="0" marL="0">
              <a:lnSpc>
                <a:spcPct val="115000"/>
              </a:lnSpc>
              <a:buNone/>
            </a:pPr>
            <a:r>
              <a:rPr lang="en-US" sz="1150" dirty="0">
                <a:solidFill>
                  <a:srgbClr val="D7DCEE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 </a:t>
            </a:r>
            <a:endParaRPr lang="en-US" sz="1150" dirty="0"/>
          </a:p>
          <a:p>
            <a:pPr indent="0" marL="0">
              <a:lnSpc>
                <a:spcPct val="115000"/>
              </a:lnSpc>
              <a:buNone/>
            </a:pPr>
            <a:r>
              <a:rPr lang="en-US" sz="1150" dirty="0">
                <a:solidFill>
                  <a:srgbClr val="D7DCEE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# Build &amp; train the GRU model</a:t>
            </a:r>
            <a:endParaRPr lang="en-US" sz="1150" dirty="0"/>
          </a:p>
          <a:p>
            <a:pPr indent="0" marL="0">
              <a:lnSpc>
                <a:spcPct val="115000"/>
              </a:lnSpc>
              <a:buNone/>
            </a:pPr>
            <a:r>
              <a:rPr lang="en-US" sz="1150" dirty="0">
                <a:solidFill>
                  <a:srgbClr val="D7DCEE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model = Sequential([GRU(32, input_shape=(3, 1)), Dense(1)])</a:t>
            </a:r>
            <a:endParaRPr lang="en-US" sz="1150" dirty="0"/>
          </a:p>
          <a:p>
            <a:pPr indent="0" marL="0">
              <a:lnSpc>
                <a:spcPct val="115000"/>
              </a:lnSpc>
              <a:buNone/>
            </a:pPr>
            <a:r>
              <a:rPr lang="en-US" sz="1150" dirty="0">
                <a:solidFill>
                  <a:srgbClr val="D7DCEE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model.compile(optimizer="adam", loss="mse")</a:t>
            </a:r>
            <a:endParaRPr lang="en-US" sz="1150" dirty="0"/>
          </a:p>
          <a:p>
            <a:pPr indent="0" marL="0">
              <a:lnSpc>
                <a:spcPct val="115000"/>
              </a:lnSpc>
              <a:buNone/>
            </a:pPr>
            <a:r>
              <a:rPr lang="en-US" sz="1150" dirty="0">
                <a:solidFill>
                  <a:srgbClr val="D7DCEE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model.fit(X, y, epochs=100, verbose=1)</a:t>
            </a:r>
            <a:endParaRPr lang="en-US" sz="1150" dirty="0"/>
          </a:p>
        </p:txBody>
      </p:sp>
      <p:sp>
        <p:nvSpPr>
          <p:cNvPr id="9" name="Text 7"/>
          <p:cNvSpPr txBox="1"/>
          <p:nvPr/>
        </p:nvSpPr>
        <p:spPr>
          <a:xfrm>
            <a:off x="457200" y="6400800"/>
            <a:ext cx="64008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900" spc="150" kern="0" dirty="0">
                <a:solidFill>
                  <a:srgbClr val="AAB1D6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GRU · GATED RECURRENT UNIT</a:t>
            </a:r>
            <a:endParaRPr lang="en-US" sz="900" dirty="0"/>
          </a:p>
        </p:txBody>
      </p:sp>
      <p:sp>
        <p:nvSpPr>
          <p:cNvPr id="10" name="Text 8"/>
          <p:cNvSpPr txBox="1"/>
          <p:nvPr/>
        </p:nvSpPr>
        <p:spPr>
          <a:xfrm>
            <a:off x="11277295" y="6400800"/>
            <a:ext cx="4572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900" dirty="0">
                <a:solidFill>
                  <a:srgbClr val="AAB1D6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15</a:t>
            </a:r>
            <a:endParaRPr lang="en-US" sz="900" dirty="0"/>
          </a:p>
        </p:txBody>
      </p:sp>
    </p:spTree>
  </p:cSld>
  <p:clrMapOvr>
    <a:masterClrMapping/>
  </p:clrMapOvr>
</p:sld>
</file>

<file path=ppt/slides/slide16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6"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 txBox="1"/>
          <p:nvPr/>
        </p:nvSpPr>
        <p:spPr>
          <a:xfrm>
            <a:off x="640080" y="457200"/>
            <a:ext cx="731520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00" b="1" spc="200" kern="0" dirty="0">
                <a:solidFill>
                  <a:srgbClr val="FF9F1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14 · KEY DETAIL</a:t>
            </a:r>
            <a:endParaRPr lang="en-US" sz="1200" dirty="0"/>
          </a:p>
        </p:txBody>
      </p:sp>
      <p:sp>
        <p:nvSpPr>
          <p:cNvPr id="3" name="Text 1"/>
          <p:cNvSpPr txBox="1"/>
          <p:nvPr/>
        </p:nvSpPr>
        <p:spPr>
          <a:xfrm>
            <a:off x="640080" y="749808"/>
            <a:ext cx="9601200" cy="7772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3000" b="1" dirty="0">
                <a:solidFill>
                  <a:srgbClr val="1B1F3B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Understanding GRU Input Shape</a:t>
            </a:r>
            <a:endParaRPr lang="en-US" sz="3000" dirty="0"/>
          </a:p>
        </p:txBody>
      </p:sp>
      <p:sp>
        <p:nvSpPr>
          <p:cNvPr id="4" name="Text 2"/>
          <p:cNvSpPr txBox="1"/>
          <p:nvPr/>
        </p:nvSpPr>
        <p:spPr>
          <a:xfrm>
            <a:off x="640080" y="1664208"/>
            <a:ext cx="1005840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300" dirty="0">
                <a:solidFill>
                  <a:srgbClr val="6B729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This is the most important line to understand when working with RNN, LSTM, or GRU layers.</a:t>
            </a:r>
            <a:endParaRPr lang="en-US" sz="1300" dirty="0"/>
          </a:p>
        </p:txBody>
      </p:sp>
      <p:sp>
        <p:nvSpPr>
          <p:cNvPr id="5" name="Shape 3"/>
          <p:cNvSpPr/>
          <p:nvPr/>
        </p:nvSpPr>
        <p:spPr>
          <a:xfrm>
            <a:off x="640080" y="2148840"/>
            <a:ext cx="10881360" cy="685800"/>
          </a:xfrm>
          <a:prstGeom prst="roundRect">
            <a:avLst>
              <a:gd name="adj" fmla="val 10667"/>
            </a:avLst>
          </a:prstGeom>
          <a:solidFill>
            <a:srgbClr val="1B1F3B"/>
          </a:solidFill>
          <a:ln/>
        </p:spPr>
      </p:sp>
      <p:sp>
        <p:nvSpPr>
          <p:cNvPr id="6" name="Text 4"/>
          <p:cNvSpPr txBox="1"/>
          <p:nvPr/>
        </p:nvSpPr>
        <p:spPr>
          <a:xfrm>
            <a:off x="868680" y="2148840"/>
            <a:ext cx="10424160" cy="6858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700" b="1" dirty="0">
                <a:solidFill>
                  <a:srgbClr val="2EC4B6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GRU(32, input_shape=(3, 1))</a:t>
            </a:r>
            <a:endParaRPr lang="en-US" sz="1700" dirty="0"/>
          </a:p>
        </p:txBody>
      </p:sp>
      <p:sp>
        <p:nvSpPr>
          <p:cNvPr id="7" name="Shape 5"/>
          <p:cNvSpPr/>
          <p:nvPr/>
        </p:nvSpPr>
        <p:spPr>
          <a:xfrm>
            <a:off x="640080" y="3063240"/>
            <a:ext cx="54864" cy="594360"/>
          </a:xfrm>
          <a:prstGeom prst="rect">
            <a:avLst/>
          </a:prstGeom>
          <a:solidFill>
            <a:srgbClr val="2EC4B6"/>
          </a:solidFill>
          <a:ln/>
        </p:spPr>
      </p:sp>
      <p:sp>
        <p:nvSpPr>
          <p:cNvPr id="8" name="Text 6"/>
          <p:cNvSpPr txBox="1"/>
          <p:nvPr/>
        </p:nvSpPr>
        <p:spPr>
          <a:xfrm>
            <a:off x="868680" y="3035808"/>
            <a:ext cx="365760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350" b="1" dirty="0">
                <a:solidFill>
                  <a:srgbClr val="1B1F3B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GRU(32)</a:t>
            </a:r>
            <a:endParaRPr lang="en-US" sz="1350" dirty="0"/>
          </a:p>
        </p:txBody>
      </p:sp>
      <p:sp>
        <p:nvSpPr>
          <p:cNvPr id="9" name="Text 7"/>
          <p:cNvSpPr txBox="1"/>
          <p:nvPr/>
        </p:nvSpPr>
        <p:spPr>
          <a:xfrm>
            <a:off x="868680" y="3355848"/>
            <a:ext cx="987552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00" dirty="0">
                <a:solidFill>
                  <a:srgbClr val="6B729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Create a GRU layer with 32 hidden units.</a:t>
            </a:r>
            <a:endParaRPr lang="en-US" sz="1200" dirty="0"/>
          </a:p>
        </p:txBody>
      </p:sp>
      <p:sp>
        <p:nvSpPr>
          <p:cNvPr id="10" name="Shape 8"/>
          <p:cNvSpPr/>
          <p:nvPr/>
        </p:nvSpPr>
        <p:spPr>
          <a:xfrm>
            <a:off x="640080" y="3840480"/>
            <a:ext cx="54864" cy="594360"/>
          </a:xfrm>
          <a:prstGeom prst="rect">
            <a:avLst/>
          </a:prstGeom>
          <a:solidFill>
            <a:srgbClr val="FF9F1C"/>
          </a:solidFill>
          <a:ln/>
        </p:spPr>
      </p:sp>
      <p:sp>
        <p:nvSpPr>
          <p:cNvPr id="11" name="Text 9"/>
          <p:cNvSpPr txBox="1"/>
          <p:nvPr/>
        </p:nvSpPr>
        <p:spPr>
          <a:xfrm>
            <a:off x="868680" y="3813048"/>
            <a:ext cx="365760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350" b="1" dirty="0">
                <a:solidFill>
                  <a:srgbClr val="1B1F3B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input_shape=(3, 1)</a:t>
            </a:r>
            <a:endParaRPr lang="en-US" sz="1350" dirty="0"/>
          </a:p>
        </p:txBody>
      </p:sp>
      <p:sp>
        <p:nvSpPr>
          <p:cNvPr id="12" name="Text 10"/>
          <p:cNvSpPr txBox="1"/>
          <p:nvPr/>
        </p:nvSpPr>
        <p:spPr>
          <a:xfrm>
            <a:off x="868680" y="4133088"/>
            <a:ext cx="987552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00" dirty="0">
                <a:solidFill>
                  <a:srgbClr val="6B729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3 = sequence length (timesteps)  ·  1 = number of features</a:t>
            </a:r>
            <a:endParaRPr lang="en-US" sz="1200" dirty="0"/>
          </a:p>
        </p:txBody>
      </p:sp>
      <p:sp>
        <p:nvSpPr>
          <p:cNvPr id="13" name="Text 11"/>
          <p:cNvSpPr txBox="1"/>
          <p:nvPr/>
        </p:nvSpPr>
        <p:spPr>
          <a:xfrm>
            <a:off x="640080" y="4663440"/>
            <a:ext cx="45720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50" b="1" spc="150" kern="0" dirty="0">
                <a:solidFill>
                  <a:srgbClr val="6B729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THE GENERAL SHAPE</a:t>
            </a:r>
            <a:endParaRPr lang="en-US" sz="1050" dirty="0"/>
          </a:p>
        </p:txBody>
      </p:sp>
      <p:sp>
        <p:nvSpPr>
          <p:cNvPr id="14" name="Shape 12"/>
          <p:cNvSpPr/>
          <p:nvPr/>
        </p:nvSpPr>
        <p:spPr>
          <a:xfrm>
            <a:off x="640080" y="4983480"/>
            <a:ext cx="3429000" cy="960120"/>
          </a:xfrm>
          <a:prstGeom prst="roundRect">
            <a:avLst>
              <a:gd name="adj" fmla="val 7619"/>
            </a:avLst>
          </a:prstGeom>
          <a:solidFill>
            <a:srgbClr val="F2F5FA"/>
          </a:solidFill>
          <a:ln/>
        </p:spPr>
      </p:sp>
      <p:sp>
        <p:nvSpPr>
          <p:cNvPr id="15" name="Shape 13"/>
          <p:cNvSpPr/>
          <p:nvPr/>
        </p:nvSpPr>
        <p:spPr>
          <a:xfrm>
            <a:off x="640080" y="4983480"/>
            <a:ext cx="73152" cy="960120"/>
          </a:xfrm>
          <a:prstGeom prst="rect">
            <a:avLst/>
          </a:prstGeom>
          <a:solidFill>
            <a:srgbClr val="2EC4B6"/>
          </a:solidFill>
          <a:ln/>
        </p:spPr>
      </p:sp>
      <p:sp>
        <p:nvSpPr>
          <p:cNvPr id="16" name="Text 14"/>
          <p:cNvSpPr txBox="1"/>
          <p:nvPr/>
        </p:nvSpPr>
        <p:spPr>
          <a:xfrm>
            <a:off x="914400" y="5102352"/>
            <a:ext cx="297180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450" b="1" dirty="0">
                <a:solidFill>
                  <a:srgbClr val="1B1F3B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samples</a:t>
            </a:r>
            <a:endParaRPr lang="en-US" sz="1450" dirty="0"/>
          </a:p>
        </p:txBody>
      </p:sp>
      <p:sp>
        <p:nvSpPr>
          <p:cNvPr id="17" name="Text 15"/>
          <p:cNvSpPr txBox="1"/>
          <p:nvPr/>
        </p:nvSpPr>
        <p:spPr>
          <a:xfrm>
            <a:off x="914400" y="5440680"/>
            <a:ext cx="297180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lnSpc>
                <a:spcPct val="120000"/>
              </a:lnSpc>
              <a:buNone/>
            </a:pPr>
            <a:r>
              <a:rPr lang="en-US" sz="1100" dirty="0">
                <a:solidFill>
                  <a:srgbClr val="6B729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number of training sequences</a:t>
            </a:r>
            <a:endParaRPr lang="en-US" sz="1100" dirty="0"/>
          </a:p>
        </p:txBody>
      </p:sp>
      <p:sp>
        <p:nvSpPr>
          <p:cNvPr id="18" name="Shape 16"/>
          <p:cNvSpPr/>
          <p:nvPr/>
        </p:nvSpPr>
        <p:spPr>
          <a:xfrm>
            <a:off x="4389120" y="4983480"/>
            <a:ext cx="3429000" cy="960120"/>
          </a:xfrm>
          <a:prstGeom prst="roundRect">
            <a:avLst>
              <a:gd name="adj" fmla="val 7619"/>
            </a:avLst>
          </a:prstGeom>
          <a:solidFill>
            <a:srgbClr val="F2F5FA"/>
          </a:solidFill>
          <a:ln/>
        </p:spPr>
      </p:sp>
      <p:sp>
        <p:nvSpPr>
          <p:cNvPr id="19" name="Shape 17"/>
          <p:cNvSpPr/>
          <p:nvPr/>
        </p:nvSpPr>
        <p:spPr>
          <a:xfrm>
            <a:off x="4389120" y="4983480"/>
            <a:ext cx="73152" cy="960120"/>
          </a:xfrm>
          <a:prstGeom prst="rect">
            <a:avLst/>
          </a:prstGeom>
          <a:solidFill>
            <a:srgbClr val="FF9F1C"/>
          </a:solidFill>
          <a:ln/>
        </p:spPr>
      </p:sp>
      <p:sp>
        <p:nvSpPr>
          <p:cNvPr id="20" name="Text 18"/>
          <p:cNvSpPr txBox="1"/>
          <p:nvPr/>
        </p:nvSpPr>
        <p:spPr>
          <a:xfrm>
            <a:off x="4663440" y="5102352"/>
            <a:ext cx="297180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450" b="1" dirty="0">
                <a:solidFill>
                  <a:srgbClr val="1B1F3B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timesteps</a:t>
            </a:r>
            <a:endParaRPr lang="en-US" sz="1450" dirty="0"/>
          </a:p>
        </p:txBody>
      </p:sp>
      <p:sp>
        <p:nvSpPr>
          <p:cNvPr id="21" name="Text 19"/>
          <p:cNvSpPr txBox="1"/>
          <p:nvPr/>
        </p:nvSpPr>
        <p:spPr>
          <a:xfrm>
            <a:off x="4663440" y="5440680"/>
            <a:ext cx="297180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lnSpc>
                <a:spcPct val="120000"/>
              </a:lnSpc>
              <a:buNone/>
            </a:pPr>
            <a:r>
              <a:rPr lang="en-US" sz="1100" dirty="0">
                <a:solidFill>
                  <a:srgbClr val="6B729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time steps per sequence</a:t>
            </a:r>
            <a:endParaRPr lang="en-US" sz="1100" dirty="0"/>
          </a:p>
        </p:txBody>
      </p:sp>
      <p:sp>
        <p:nvSpPr>
          <p:cNvPr id="22" name="Shape 20"/>
          <p:cNvSpPr/>
          <p:nvPr/>
        </p:nvSpPr>
        <p:spPr>
          <a:xfrm>
            <a:off x="8138160" y="4983480"/>
            <a:ext cx="3429000" cy="960120"/>
          </a:xfrm>
          <a:prstGeom prst="roundRect">
            <a:avLst>
              <a:gd name="adj" fmla="val 7619"/>
            </a:avLst>
          </a:prstGeom>
          <a:solidFill>
            <a:srgbClr val="F2F5FA"/>
          </a:solidFill>
          <a:ln/>
        </p:spPr>
      </p:sp>
      <p:sp>
        <p:nvSpPr>
          <p:cNvPr id="23" name="Shape 21"/>
          <p:cNvSpPr/>
          <p:nvPr/>
        </p:nvSpPr>
        <p:spPr>
          <a:xfrm>
            <a:off x="8138160" y="4983480"/>
            <a:ext cx="73152" cy="960120"/>
          </a:xfrm>
          <a:prstGeom prst="rect">
            <a:avLst/>
          </a:prstGeom>
          <a:solidFill>
            <a:srgbClr val="8A6FD8"/>
          </a:solidFill>
          <a:ln/>
        </p:spPr>
      </p:sp>
      <p:sp>
        <p:nvSpPr>
          <p:cNvPr id="24" name="Text 22"/>
          <p:cNvSpPr txBox="1"/>
          <p:nvPr/>
        </p:nvSpPr>
        <p:spPr>
          <a:xfrm>
            <a:off x="8412480" y="5102352"/>
            <a:ext cx="297180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450" b="1" dirty="0">
                <a:solidFill>
                  <a:srgbClr val="1B1F3B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features</a:t>
            </a:r>
            <a:endParaRPr lang="en-US" sz="1450" dirty="0"/>
          </a:p>
        </p:txBody>
      </p:sp>
      <p:sp>
        <p:nvSpPr>
          <p:cNvPr id="25" name="Text 23"/>
          <p:cNvSpPr txBox="1"/>
          <p:nvPr/>
        </p:nvSpPr>
        <p:spPr>
          <a:xfrm>
            <a:off x="8412480" y="5440680"/>
            <a:ext cx="297180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lnSpc>
                <a:spcPct val="120000"/>
              </a:lnSpc>
              <a:buNone/>
            </a:pPr>
            <a:r>
              <a:rPr lang="en-US" sz="1100" dirty="0">
                <a:solidFill>
                  <a:srgbClr val="6B729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values recorded per step</a:t>
            </a:r>
            <a:endParaRPr lang="en-US" sz="1100" dirty="0"/>
          </a:p>
        </p:txBody>
      </p:sp>
      <p:sp>
        <p:nvSpPr>
          <p:cNvPr id="26" name="Text 24"/>
          <p:cNvSpPr txBox="1"/>
          <p:nvPr/>
        </p:nvSpPr>
        <p:spPr>
          <a:xfrm>
            <a:off x="640080" y="6108192"/>
            <a:ext cx="1088136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50" i="1" dirty="0">
                <a:solidFill>
                  <a:srgbClr val="6B729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Example: X.shape → (7, 3, 1)  —  7 training sequences, 3 timesteps, 1 feature (temperature)</a:t>
            </a:r>
            <a:endParaRPr lang="en-US" sz="1050" dirty="0"/>
          </a:p>
        </p:txBody>
      </p:sp>
      <p:sp>
        <p:nvSpPr>
          <p:cNvPr id="27" name="Text 25"/>
          <p:cNvSpPr txBox="1"/>
          <p:nvPr/>
        </p:nvSpPr>
        <p:spPr>
          <a:xfrm>
            <a:off x="457200" y="6400800"/>
            <a:ext cx="64008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900" spc="150" kern="0" dirty="0">
                <a:solidFill>
                  <a:srgbClr val="6B729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GRU · GATED RECURRENT UNIT</a:t>
            </a:r>
            <a:endParaRPr lang="en-US" sz="900" dirty="0"/>
          </a:p>
        </p:txBody>
      </p:sp>
      <p:sp>
        <p:nvSpPr>
          <p:cNvPr id="28" name="Text 26"/>
          <p:cNvSpPr txBox="1"/>
          <p:nvPr/>
        </p:nvSpPr>
        <p:spPr>
          <a:xfrm>
            <a:off x="11277295" y="6400800"/>
            <a:ext cx="4572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900" dirty="0">
                <a:solidFill>
                  <a:srgbClr val="6B729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16</a:t>
            </a:r>
            <a:endParaRPr lang="en-US" sz="900" dirty="0"/>
          </a:p>
        </p:txBody>
      </p:sp>
    </p:spTree>
  </p:cSld>
  <p:clrMapOvr>
    <a:masterClrMapping/>
  </p:clrMapOvr>
</p:sld>
</file>

<file path=ppt/slides/slide17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7"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 txBox="1"/>
          <p:nvPr/>
        </p:nvSpPr>
        <p:spPr>
          <a:xfrm>
            <a:off x="640080" y="457200"/>
            <a:ext cx="731520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00" b="1" spc="200" kern="0" dirty="0">
                <a:solidFill>
                  <a:srgbClr val="FF9F1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15 · APPLICATIONS</a:t>
            </a:r>
            <a:endParaRPr lang="en-US" sz="1200" dirty="0"/>
          </a:p>
        </p:txBody>
      </p:sp>
      <p:sp>
        <p:nvSpPr>
          <p:cNvPr id="3" name="Text 1"/>
          <p:cNvSpPr txBox="1"/>
          <p:nvPr/>
        </p:nvSpPr>
        <p:spPr>
          <a:xfrm>
            <a:off x="640080" y="749808"/>
            <a:ext cx="10058400" cy="7772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3000" b="1" dirty="0">
                <a:solidFill>
                  <a:srgbClr val="1B1F3B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Real-World Use &amp; When to Choose GRU</a:t>
            </a:r>
            <a:endParaRPr lang="en-US" sz="3000" dirty="0"/>
          </a:p>
        </p:txBody>
      </p:sp>
      <p:sp>
        <p:nvSpPr>
          <p:cNvPr id="4" name="Text 2"/>
          <p:cNvSpPr txBox="1"/>
          <p:nvPr/>
        </p:nvSpPr>
        <p:spPr>
          <a:xfrm>
            <a:off x="640080" y="1664208"/>
            <a:ext cx="1051560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50" dirty="0">
                <a:solidFill>
                  <a:srgbClr val="6B729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 factory temperature sensor is a good mental model — a GRU learns from past sensor values to anticipate what's next.</a:t>
            </a:r>
            <a:endParaRPr lang="en-US" sz="1250" dirty="0"/>
          </a:p>
        </p:txBody>
      </p:sp>
      <p:sp>
        <p:nvSpPr>
          <p:cNvPr id="5" name="Shape 3"/>
          <p:cNvSpPr/>
          <p:nvPr/>
        </p:nvSpPr>
        <p:spPr>
          <a:xfrm>
            <a:off x="640080" y="2194560"/>
            <a:ext cx="2606040" cy="1417320"/>
          </a:xfrm>
          <a:prstGeom prst="roundRect">
            <a:avLst>
              <a:gd name="adj" fmla="val 5806"/>
            </a:avLst>
          </a:prstGeom>
          <a:solidFill>
            <a:srgbClr val="1B1F3B"/>
          </a:solidFill>
          <a:ln/>
        </p:spPr>
      </p:sp>
      <p:sp>
        <p:nvSpPr>
          <p:cNvPr id="6" name="Text 4"/>
          <p:cNvSpPr txBox="1"/>
          <p:nvPr/>
        </p:nvSpPr>
        <p:spPr>
          <a:xfrm>
            <a:off x="822960" y="2359152"/>
            <a:ext cx="2240280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3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Predictive Maintenance</a:t>
            </a:r>
            <a:endParaRPr lang="en-US" sz="1300" dirty="0"/>
          </a:p>
        </p:txBody>
      </p:sp>
      <p:sp>
        <p:nvSpPr>
          <p:cNvPr id="7" name="Text 5"/>
          <p:cNvSpPr txBox="1"/>
          <p:nvPr/>
        </p:nvSpPr>
        <p:spPr>
          <a:xfrm>
            <a:off x="822960" y="2852928"/>
            <a:ext cx="2240280" cy="6858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lnSpc>
                <a:spcPct val="120000"/>
              </a:lnSpc>
              <a:buNone/>
            </a:pPr>
            <a:r>
              <a:rPr lang="en-US" sz="1000" dirty="0">
                <a:solidFill>
                  <a:srgbClr val="AAB1D6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Anticipate equipment failure from sensor trends</a:t>
            </a:r>
            <a:endParaRPr lang="en-US" sz="1000" dirty="0"/>
          </a:p>
        </p:txBody>
      </p:sp>
      <p:sp>
        <p:nvSpPr>
          <p:cNvPr id="8" name="Shape 6"/>
          <p:cNvSpPr/>
          <p:nvPr/>
        </p:nvSpPr>
        <p:spPr>
          <a:xfrm>
            <a:off x="3474720" y="2194560"/>
            <a:ext cx="2606040" cy="1417320"/>
          </a:xfrm>
          <a:prstGeom prst="roundRect">
            <a:avLst>
              <a:gd name="adj" fmla="val 5806"/>
            </a:avLst>
          </a:prstGeom>
          <a:solidFill>
            <a:srgbClr val="2EC4B6"/>
          </a:solidFill>
          <a:ln/>
        </p:spPr>
      </p:sp>
      <p:sp>
        <p:nvSpPr>
          <p:cNvPr id="9" name="Text 7"/>
          <p:cNvSpPr txBox="1"/>
          <p:nvPr/>
        </p:nvSpPr>
        <p:spPr>
          <a:xfrm>
            <a:off x="3657600" y="2359152"/>
            <a:ext cx="2240280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300" b="1" dirty="0">
                <a:solidFill>
                  <a:srgbClr val="1B1F3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Anomaly Detection</a:t>
            </a:r>
            <a:endParaRPr lang="en-US" sz="1300" dirty="0"/>
          </a:p>
        </p:txBody>
      </p:sp>
      <p:sp>
        <p:nvSpPr>
          <p:cNvPr id="10" name="Text 8"/>
          <p:cNvSpPr txBox="1"/>
          <p:nvPr/>
        </p:nvSpPr>
        <p:spPr>
          <a:xfrm>
            <a:off x="3657600" y="2852928"/>
            <a:ext cx="2240280" cy="6858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lnSpc>
                <a:spcPct val="120000"/>
              </a:lnSpc>
              <a:buNone/>
            </a:pPr>
            <a:r>
              <a:rPr lang="en-US" sz="1000" dirty="0">
                <a:solidFill>
                  <a:srgbClr val="16413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Flag unusual patterns in streaming data</a:t>
            </a:r>
            <a:endParaRPr lang="en-US" sz="1000" dirty="0"/>
          </a:p>
        </p:txBody>
      </p:sp>
      <p:sp>
        <p:nvSpPr>
          <p:cNvPr id="11" name="Shape 9"/>
          <p:cNvSpPr/>
          <p:nvPr/>
        </p:nvSpPr>
        <p:spPr>
          <a:xfrm>
            <a:off x="6309360" y="2194560"/>
            <a:ext cx="2606040" cy="1417320"/>
          </a:xfrm>
          <a:prstGeom prst="roundRect">
            <a:avLst>
              <a:gd name="adj" fmla="val 5806"/>
            </a:avLst>
          </a:prstGeom>
          <a:solidFill>
            <a:srgbClr val="1B1F3B"/>
          </a:solidFill>
          <a:ln/>
        </p:spPr>
      </p:sp>
      <p:sp>
        <p:nvSpPr>
          <p:cNvPr id="12" name="Text 10"/>
          <p:cNvSpPr txBox="1"/>
          <p:nvPr/>
        </p:nvSpPr>
        <p:spPr>
          <a:xfrm>
            <a:off x="6492240" y="2359152"/>
            <a:ext cx="2240280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3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Machine Monitoring</a:t>
            </a:r>
            <a:endParaRPr lang="en-US" sz="1300" dirty="0"/>
          </a:p>
        </p:txBody>
      </p:sp>
      <p:sp>
        <p:nvSpPr>
          <p:cNvPr id="13" name="Text 11"/>
          <p:cNvSpPr txBox="1"/>
          <p:nvPr/>
        </p:nvSpPr>
        <p:spPr>
          <a:xfrm>
            <a:off x="6492240" y="2852928"/>
            <a:ext cx="2240280" cy="6858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lnSpc>
                <a:spcPct val="120000"/>
              </a:lnSpc>
              <a:buNone/>
            </a:pPr>
            <a:r>
              <a:rPr lang="en-US" sz="1000" dirty="0">
                <a:solidFill>
                  <a:srgbClr val="AAB1D6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Track evolving readings from industrial systems</a:t>
            </a:r>
            <a:endParaRPr lang="en-US" sz="1000" dirty="0"/>
          </a:p>
        </p:txBody>
      </p:sp>
      <p:sp>
        <p:nvSpPr>
          <p:cNvPr id="14" name="Shape 12"/>
          <p:cNvSpPr/>
          <p:nvPr/>
        </p:nvSpPr>
        <p:spPr>
          <a:xfrm>
            <a:off x="9144000" y="2194560"/>
            <a:ext cx="2606040" cy="1417320"/>
          </a:xfrm>
          <a:prstGeom prst="roundRect">
            <a:avLst>
              <a:gd name="adj" fmla="val 5806"/>
            </a:avLst>
          </a:prstGeom>
          <a:solidFill>
            <a:srgbClr val="2EC4B6"/>
          </a:solidFill>
          <a:ln/>
        </p:spPr>
      </p:sp>
      <p:sp>
        <p:nvSpPr>
          <p:cNvPr id="15" name="Text 13"/>
          <p:cNvSpPr txBox="1"/>
          <p:nvPr/>
        </p:nvSpPr>
        <p:spPr>
          <a:xfrm>
            <a:off x="9326880" y="2359152"/>
            <a:ext cx="2240280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300" b="1" dirty="0">
                <a:solidFill>
                  <a:srgbClr val="1B1F3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Sensor Forecasting</a:t>
            </a:r>
            <a:endParaRPr lang="en-US" sz="1300" dirty="0"/>
          </a:p>
        </p:txBody>
      </p:sp>
      <p:sp>
        <p:nvSpPr>
          <p:cNvPr id="16" name="Text 14"/>
          <p:cNvSpPr txBox="1"/>
          <p:nvPr/>
        </p:nvSpPr>
        <p:spPr>
          <a:xfrm>
            <a:off x="9326880" y="2852928"/>
            <a:ext cx="2240280" cy="6858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lnSpc>
                <a:spcPct val="120000"/>
              </a:lnSpc>
              <a:buNone/>
            </a:pPr>
            <a:r>
              <a:rPr lang="en-US" sz="1000" dirty="0">
                <a:solidFill>
                  <a:srgbClr val="16413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Predict future values from historical sensor data</a:t>
            </a:r>
            <a:endParaRPr lang="en-US" sz="1000" dirty="0"/>
          </a:p>
        </p:txBody>
      </p:sp>
      <p:sp>
        <p:nvSpPr>
          <p:cNvPr id="17" name="Text 15"/>
          <p:cNvSpPr txBox="1"/>
          <p:nvPr/>
        </p:nvSpPr>
        <p:spPr>
          <a:xfrm>
            <a:off x="640080" y="3931920"/>
            <a:ext cx="73152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00" b="1" spc="120" kern="0" dirty="0">
                <a:solidFill>
                  <a:srgbClr val="6B729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USE GRU WHEN YOU HAVE SEQUENTIAL DATA</a:t>
            </a:r>
            <a:endParaRPr lang="en-US" sz="1100" dirty="0"/>
          </a:p>
        </p:txBody>
      </p:sp>
      <p:sp>
        <p:nvSpPr>
          <p:cNvPr id="18" name="Shape 16"/>
          <p:cNvSpPr/>
          <p:nvPr/>
        </p:nvSpPr>
        <p:spPr>
          <a:xfrm>
            <a:off x="640080" y="4297680"/>
            <a:ext cx="2606040" cy="777240"/>
          </a:xfrm>
          <a:prstGeom prst="roundRect">
            <a:avLst>
              <a:gd name="adj" fmla="val 9412"/>
            </a:avLst>
          </a:prstGeom>
          <a:solidFill>
            <a:srgbClr val="F2F5FA"/>
          </a:solidFill>
          <a:ln/>
        </p:spPr>
      </p:sp>
      <p:sp>
        <p:nvSpPr>
          <p:cNvPr id="19" name="Text 17"/>
          <p:cNvSpPr txBox="1"/>
          <p:nvPr/>
        </p:nvSpPr>
        <p:spPr>
          <a:xfrm>
            <a:off x="640080" y="4297680"/>
            <a:ext cx="260604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250" b="1" dirty="0">
                <a:solidFill>
                  <a:srgbClr val="1B1F3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Time series</a:t>
            </a:r>
            <a:endParaRPr lang="en-US" sz="1250" dirty="0"/>
          </a:p>
        </p:txBody>
      </p:sp>
      <p:sp>
        <p:nvSpPr>
          <p:cNvPr id="20" name="Shape 18"/>
          <p:cNvSpPr/>
          <p:nvPr/>
        </p:nvSpPr>
        <p:spPr>
          <a:xfrm rot="5400000">
            <a:off x="1833372" y="4800600"/>
            <a:ext cx="219456" cy="182880"/>
          </a:xfrm>
          <a:prstGeom prst="chevron">
            <a:avLst/>
          </a:prstGeom>
          <a:solidFill>
            <a:srgbClr val="2EC4B6"/>
          </a:solidFill>
          <a:ln/>
        </p:spPr>
      </p:sp>
      <p:sp>
        <p:nvSpPr>
          <p:cNvPr id="21" name="Shape 19"/>
          <p:cNvSpPr/>
          <p:nvPr/>
        </p:nvSpPr>
        <p:spPr>
          <a:xfrm>
            <a:off x="3474720" y="4297680"/>
            <a:ext cx="2606040" cy="777240"/>
          </a:xfrm>
          <a:prstGeom prst="roundRect">
            <a:avLst>
              <a:gd name="adj" fmla="val 9412"/>
            </a:avLst>
          </a:prstGeom>
          <a:solidFill>
            <a:srgbClr val="F2F5FA"/>
          </a:solidFill>
          <a:ln/>
        </p:spPr>
      </p:sp>
      <p:sp>
        <p:nvSpPr>
          <p:cNvPr id="22" name="Text 20"/>
          <p:cNvSpPr txBox="1"/>
          <p:nvPr/>
        </p:nvSpPr>
        <p:spPr>
          <a:xfrm>
            <a:off x="3474720" y="4297680"/>
            <a:ext cx="260604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250" b="1" dirty="0">
                <a:solidFill>
                  <a:srgbClr val="1B1F3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Text sequence</a:t>
            </a:r>
            <a:endParaRPr lang="en-US" sz="1250" dirty="0"/>
          </a:p>
        </p:txBody>
      </p:sp>
      <p:sp>
        <p:nvSpPr>
          <p:cNvPr id="23" name="Shape 21"/>
          <p:cNvSpPr/>
          <p:nvPr/>
        </p:nvSpPr>
        <p:spPr>
          <a:xfrm rot="5400000">
            <a:off x="4668012" y="4800600"/>
            <a:ext cx="219456" cy="182880"/>
          </a:xfrm>
          <a:prstGeom prst="chevron">
            <a:avLst/>
          </a:prstGeom>
          <a:solidFill>
            <a:srgbClr val="2EC4B6"/>
          </a:solidFill>
          <a:ln/>
        </p:spPr>
      </p:sp>
      <p:sp>
        <p:nvSpPr>
          <p:cNvPr id="24" name="Shape 22"/>
          <p:cNvSpPr/>
          <p:nvPr/>
        </p:nvSpPr>
        <p:spPr>
          <a:xfrm>
            <a:off x="6309360" y="4297680"/>
            <a:ext cx="2606040" cy="777240"/>
          </a:xfrm>
          <a:prstGeom prst="roundRect">
            <a:avLst>
              <a:gd name="adj" fmla="val 9412"/>
            </a:avLst>
          </a:prstGeom>
          <a:solidFill>
            <a:srgbClr val="F2F5FA"/>
          </a:solidFill>
          <a:ln/>
        </p:spPr>
      </p:sp>
      <p:sp>
        <p:nvSpPr>
          <p:cNvPr id="25" name="Text 23"/>
          <p:cNvSpPr txBox="1"/>
          <p:nvPr/>
        </p:nvSpPr>
        <p:spPr>
          <a:xfrm>
            <a:off x="6309360" y="4297680"/>
            <a:ext cx="260604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250" b="1" dirty="0">
                <a:solidFill>
                  <a:srgbClr val="1B1F3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Sensor readings</a:t>
            </a:r>
            <a:endParaRPr lang="en-US" sz="1250" dirty="0"/>
          </a:p>
        </p:txBody>
      </p:sp>
      <p:sp>
        <p:nvSpPr>
          <p:cNvPr id="26" name="Shape 24"/>
          <p:cNvSpPr/>
          <p:nvPr/>
        </p:nvSpPr>
        <p:spPr>
          <a:xfrm rot="5400000">
            <a:off x="7502652" y="4800600"/>
            <a:ext cx="219456" cy="182880"/>
          </a:xfrm>
          <a:prstGeom prst="chevron">
            <a:avLst/>
          </a:prstGeom>
          <a:solidFill>
            <a:srgbClr val="2EC4B6"/>
          </a:solidFill>
          <a:ln/>
        </p:spPr>
      </p:sp>
      <p:sp>
        <p:nvSpPr>
          <p:cNvPr id="27" name="Shape 25"/>
          <p:cNvSpPr/>
          <p:nvPr/>
        </p:nvSpPr>
        <p:spPr>
          <a:xfrm>
            <a:off x="9144000" y="4297680"/>
            <a:ext cx="2606040" cy="777240"/>
          </a:xfrm>
          <a:prstGeom prst="roundRect">
            <a:avLst>
              <a:gd name="adj" fmla="val 9412"/>
            </a:avLst>
          </a:prstGeom>
          <a:solidFill>
            <a:srgbClr val="F2F5FA"/>
          </a:solidFill>
          <a:ln/>
        </p:spPr>
      </p:sp>
      <p:sp>
        <p:nvSpPr>
          <p:cNvPr id="28" name="Text 26"/>
          <p:cNvSpPr txBox="1"/>
          <p:nvPr/>
        </p:nvSpPr>
        <p:spPr>
          <a:xfrm>
            <a:off x="9144000" y="4297680"/>
            <a:ext cx="260604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250" b="1" dirty="0">
                <a:solidFill>
                  <a:srgbClr val="1B1F3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Speech sequence</a:t>
            </a:r>
            <a:endParaRPr lang="en-US" sz="1250" dirty="0"/>
          </a:p>
        </p:txBody>
      </p:sp>
      <p:sp>
        <p:nvSpPr>
          <p:cNvPr id="29" name="Shape 27"/>
          <p:cNvSpPr/>
          <p:nvPr/>
        </p:nvSpPr>
        <p:spPr>
          <a:xfrm rot="5400000">
            <a:off x="10337292" y="4800600"/>
            <a:ext cx="219456" cy="182880"/>
          </a:xfrm>
          <a:prstGeom prst="chevron">
            <a:avLst/>
          </a:prstGeom>
          <a:solidFill>
            <a:srgbClr val="2EC4B6"/>
          </a:solidFill>
          <a:ln/>
        </p:spPr>
      </p:sp>
      <p:sp>
        <p:nvSpPr>
          <p:cNvPr id="30" name="Shape 28"/>
          <p:cNvSpPr/>
          <p:nvPr/>
        </p:nvSpPr>
        <p:spPr>
          <a:xfrm>
            <a:off x="640080" y="5166360"/>
            <a:ext cx="11109960" cy="502920"/>
          </a:xfrm>
          <a:prstGeom prst="roundRect">
            <a:avLst>
              <a:gd name="adj" fmla="val 14545"/>
            </a:avLst>
          </a:prstGeom>
          <a:solidFill>
            <a:srgbClr val="1B1F3B"/>
          </a:solidFill>
          <a:ln/>
        </p:spPr>
      </p:sp>
      <p:sp>
        <p:nvSpPr>
          <p:cNvPr id="31" name="Text 29"/>
          <p:cNvSpPr txBox="1"/>
          <p:nvPr/>
        </p:nvSpPr>
        <p:spPr>
          <a:xfrm>
            <a:off x="640080" y="5166360"/>
            <a:ext cx="11109960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250" b="1" dirty="0">
                <a:solidFill>
                  <a:srgbClr val="2EC4B6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GRU — captures dependencies without LSTM's complexity</a:t>
            </a:r>
            <a:endParaRPr lang="en-US" sz="1250" dirty="0"/>
          </a:p>
        </p:txBody>
      </p:sp>
      <p:sp>
        <p:nvSpPr>
          <p:cNvPr id="32" name="Text 30"/>
          <p:cNvSpPr txBox="1"/>
          <p:nvPr/>
        </p:nvSpPr>
        <p:spPr>
          <a:xfrm>
            <a:off x="457200" y="6400800"/>
            <a:ext cx="64008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900" spc="150" kern="0" dirty="0">
                <a:solidFill>
                  <a:srgbClr val="6B729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GRU · GATED RECURRENT UNIT</a:t>
            </a:r>
            <a:endParaRPr lang="en-US" sz="900" dirty="0"/>
          </a:p>
        </p:txBody>
      </p:sp>
      <p:sp>
        <p:nvSpPr>
          <p:cNvPr id="33" name="Text 31"/>
          <p:cNvSpPr txBox="1"/>
          <p:nvPr/>
        </p:nvSpPr>
        <p:spPr>
          <a:xfrm>
            <a:off x="11277295" y="6400800"/>
            <a:ext cx="4572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900" dirty="0">
                <a:solidFill>
                  <a:srgbClr val="6B729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17</a:t>
            </a:r>
            <a:endParaRPr lang="en-US" sz="900" dirty="0"/>
          </a:p>
        </p:txBody>
      </p:sp>
    </p:spTree>
  </p:cSld>
  <p:clrMapOvr>
    <a:masterClrMapping/>
  </p:clrMapOvr>
</p:sld>
</file>

<file path=ppt/slides/slide18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8"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 txBox="1"/>
          <p:nvPr/>
        </p:nvSpPr>
        <p:spPr>
          <a:xfrm>
            <a:off x="640080" y="457200"/>
            <a:ext cx="731520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00" b="1" spc="200" kern="0" dirty="0">
                <a:solidFill>
                  <a:srgbClr val="FF9F1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16 · INTERVIEW PREP</a:t>
            </a:r>
            <a:endParaRPr lang="en-US" sz="1200" dirty="0"/>
          </a:p>
        </p:txBody>
      </p:sp>
      <p:sp>
        <p:nvSpPr>
          <p:cNvPr id="3" name="Text 1"/>
          <p:cNvSpPr txBox="1"/>
          <p:nvPr/>
        </p:nvSpPr>
        <p:spPr>
          <a:xfrm>
            <a:off x="640080" y="749808"/>
            <a:ext cx="9601200" cy="7772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3000" b="1" dirty="0">
                <a:solidFill>
                  <a:srgbClr val="1B1F3B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Frequently Asked Questions</a:t>
            </a:r>
            <a:endParaRPr lang="en-US" sz="3000" dirty="0"/>
          </a:p>
        </p:txBody>
      </p:sp>
      <p:sp>
        <p:nvSpPr>
          <p:cNvPr id="4" name="Text 2"/>
          <p:cNvSpPr txBox="1"/>
          <p:nvPr/>
        </p:nvSpPr>
        <p:spPr>
          <a:xfrm>
            <a:off x="640080" y="1764792"/>
            <a:ext cx="502920" cy="29260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350" b="1" dirty="0">
                <a:solidFill>
                  <a:srgbClr val="1A8F84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Q1</a:t>
            </a:r>
            <a:endParaRPr lang="en-US" sz="1350" dirty="0"/>
          </a:p>
        </p:txBody>
      </p:sp>
      <p:sp>
        <p:nvSpPr>
          <p:cNvPr id="5" name="Text 3"/>
          <p:cNvSpPr txBox="1"/>
          <p:nvPr/>
        </p:nvSpPr>
        <p:spPr>
          <a:xfrm>
            <a:off x="1097280" y="1737360"/>
            <a:ext cx="480060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300" b="1" dirty="0">
                <a:solidFill>
                  <a:srgbClr val="1B1F3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What is GRU?</a:t>
            </a:r>
            <a:endParaRPr lang="en-US" sz="1300" dirty="0"/>
          </a:p>
        </p:txBody>
      </p:sp>
      <p:sp>
        <p:nvSpPr>
          <p:cNvPr id="6" name="Text 4"/>
          <p:cNvSpPr txBox="1"/>
          <p:nvPr/>
        </p:nvSpPr>
        <p:spPr>
          <a:xfrm>
            <a:off x="1097280" y="2066544"/>
            <a:ext cx="4800600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lnSpc>
                <a:spcPct val="120000"/>
              </a:lnSpc>
              <a:buNone/>
            </a:pPr>
            <a:r>
              <a:rPr lang="en-US" sz="1080" dirty="0">
                <a:solidFill>
                  <a:srgbClr val="6B729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An RNN architecture that captures short- and long-term dependencies using update and reset gates.</a:t>
            </a:r>
            <a:endParaRPr lang="en-US" sz="1080" dirty="0"/>
          </a:p>
        </p:txBody>
      </p:sp>
      <p:sp>
        <p:nvSpPr>
          <p:cNvPr id="7" name="Text 5"/>
          <p:cNvSpPr txBox="1"/>
          <p:nvPr/>
        </p:nvSpPr>
        <p:spPr>
          <a:xfrm>
            <a:off x="6309360" y="1764792"/>
            <a:ext cx="502920" cy="29260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350" b="1" dirty="0">
                <a:solidFill>
                  <a:srgbClr val="1A8F84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Q2</a:t>
            </a:r>
            <a:endParaRPr lang="en-US" sz="1350" dirty="0"/>
          </a:p>
        </p:txBody>
      </p:sp>
      <p:sp>
        <p:nvSpPr>
          <p:cNvPr id="8" name="Text 6"/>
          <p:cNvSpPr txBox="1"/>
          <p:nvPr/>
        </p:nvSpPr>
        <p:spPr>
          <a:xfrm>
            <a:off x="6766560" y="1737360"/>
            <a:ext cx="480060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300" b="1" dirty="0">
                <a:solidFill>
                  <a:srgbClr val="1B1F3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How many main gates does GRU have?</a:t>
            </a:r>
            <a:endParaRPr lang="en-US" sz="1300" dirty="0"/>
          </a:p>
        </p:txBody>
      </p:sp>
      <p:sp>
        <p:nvSpPr>
          <p:cNvPr id="9" name="Text 7"/>
          <p:cNvSpPr txBox="1"/>
          <p:nvPr/>
        </p:nvSpPr>
        <p:spPr>
          <a:xfrm>
            <a:off x="6766560" y="2066544"/>
            <a:ext cx="4800600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lnSpc>
                <a:spcPct val="120000"/>
              </a:lnSpc>
              <a:buNone/>
            </a:pPr>
            <a:r>
              <a:rPr lang="en-US" sz="1080" dirty="0">
                <a:solidFill>
                  <a:srgbClr val="6B729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Two — the Update Gate and the Reset Gate.</a:t>
            </a:r>
            <a:endParaRPr lang="en-US" sz="1080" dirty="0"/>
          </a:p>
        </p:txBody>
      </p:sp>
      <p:sp>
        <p:nvSpPr>
          <p:cNvPr id="10" name="Text 8"/>
          <p:cNvSpPr txBox="1"/>
          <p:nvPr/>
        </p:nvSpPr>
        <p:spPr>
          <a:xfrm>
            <a:off x="640080" y="2697480"/>
            <a:ext cx="502920" cy="29260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350" b="1" dirty="0">
                <a:solidFill>
                  <a:srgbClr val="1A8F84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Q3</a:t>
            </a:r>
            <a:endParaRPr lang="en-US" sz="1350" dirty="0"/>
          </a:p>
        </p:txBody>
      </p:sp>
      <p:sp>
        <p:nvSpPr>
          <p:cNvPr id="11" name="Text 9"/>
          <p:cNvSpPr txBox="1"/>
          <p:nvPr/>
        </p:nvSpPr>
        <p:spPr>
          <a:xfrm>
            <a:off x="1097280" y="2670048"/>
            <a:ext cx="480060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300" b="1" dirty="0">
                <a:solidFill>
                  <a:srgbClr val="1B1F3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What does the update gate do?</a:t>
            </a:r>
            <a:endParaRPr lang="en-US" sz="1300" dirty="0"/>
          </a:p>
        </p:txBody>
      </p:sp>
      <p:sp>
        <p:nvSpPr>
          <p:cNvPr id="12" name="Text 10"/>
          <p:cNvSpPr txBox="1"/>
          <p:nvPr/>
        </p:nvSpPr>
        <p:spPr>
          <a:xfrm>
            <a:off x="1097280" y="2999232"/>
            <a:ext cx="4800600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lnSpc>
                <a:spcPct val="120000"/>
              </a:lnSpc>
              <a:buNone/>
            </a:pPr>
            <a:r>
              <a:rPr lang="en-US" sz="1080" dirty="0">
                <a:solidFill>
                  <a:srgbClr val="6B729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Controls how much previous information is retained vs. replaced with new information.</a:t>
            </a:r>
            <a:endParaRPr lang="en-US" sz="1080" dirty="0"/>
          </a:p>
        </p:txBody>
      </p:sp>
      <p:sp>
        <p:nvSpPr>
          <p:cNvPr id="13" name="Text 11"/>
          <p:cNvSpPr txBox="1"/>
          <p:nvPr/>
        </p:nvSpPr>
        <p:spPr>
          <a:xfrm>
            <a:off x="6309360" y="2697480"/>
            <a:ext cx="502920" cy="29260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350" b="1" dirty="0">
                <a:solidFill>
                  <a:srgbClr val="1A8F84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Q4</a:t>
            </a:r>
            <a:endParaRPr lang="en-US" sz="1350" dirty="0"/>
          </a:p>
        </p:txBody>
      </p:sp>
      <p:sp>
        <p:nvSpPr>
          <p:cNvPr id="14" name="Text 12"/>
          <p:cNvSpPr txBox="1"/>
          <p:nvPr/>
        </p:nvSpPr>
        <p:spPr>
          <a:xfrm>
            <a:off x="6766560" y="2670048"/>
            <a:ext cx="480060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300" b="1" dirty="0">
                <a:solidFill>
                  <a:srgbClr val="1B1F3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What does the reset gate do?</a:t>
            </a:r>
            <a:endParaRPr lang="en-US" sz="1300" dirty="0"/>
          </a:p>
        </p:txBody>
      </p:sp>
      <p:sp>
        <p:nvSpPr>
          <p:cNvPr id="15" name="Text 13"/>
          <p:cNvSpPr txBox="1"/>
          <p:nvPr/>
        </p:nvSpPr>
        <p:spPr>
          <a:xfrm>
            <a:off x="6766560" y="2999232"/>
            <a:ext cx="4800600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lnSpc>
                <a:spcPct val="120000"/>
              </a:lnSpc>
              <a:buNone/>
            </a:pPr>
            <a:r>
              <a:rPr lang="en-US" sz="1080" dirty="0">
                <a:solidFill>
                  <a:srgbClr val="6B729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Controls how much of the previous hidden state is ignored when processing the current input.</a:t>
            </a:r>
            <a:endParaRPr lang="en-US" sz="1080" dirty="0"/>
          </a:p>
        </p:txBody>
      </p:sp>
      <p:sp>
        <p:nvSpPr>
          <p:cNvPr id="16" name="Text 14"/>
          <p:cNvSpPr txBox="1"/>
          <p:nvPr/>
        </p:nvSpPr>
        <p:spPr>
          <a:xfrm>
            <a:off x="640080" y="3630168"/>
            <a:ext cx="502920" cy="29260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350" b="1" dirty="0">
                <a:solidFill>
                  <a:srgbClr val="1A8F84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Q5</a:t>
            </a:r>
            <a:endParaRPr lang="en-US" sz="1350" dirty="0"/>
          </a:p>
        </p:txBody>
      </p:sp>
      <p:sp>
        <p:nvSpPr>
          <p:cNvPr id="17" name="Text 15"/>
          <p:cNvSpPr txBox="1"/>
          <p:nvPr/>
        </p:nvSpPr>
        <p:spPr>
          <a:xfrm>
            <a:off x="1097280" y="3602736"/>
            <a:ext cx="480060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300" b="1" dirty="0">
                <a:solidFill>
                  <a:srgbClr val="1B1F3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GRU vs LSTM?</a:t>
            </a:r>
            <a:endParaRPr lang="en-US" sz="1300" dirty="0"/>
          </a:p>
        </p:txBody>
      </p:sp>
      <p:sp>
        <p:nvSpPr>
          <p:cNvPr id="18" name="Text 16"/>
          <p:cNvSpPr txBox="1"/>
          <p:nvPr/>
        </p:nvSpPr>
        <p:spPr>
          <a:xfrm>
            <a:off x="1097280" y="3931920"/>
            <a:ext cx="4800600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lnSpc>
                <a:spcPct val="120000"/>
              </a:lnSpc>
              <a:buNone/>
            </a:pPr>
            <a:r>
              <a:rPr lang="en-US" sz="1080" dirty="0">
                <a:solidFill>
                  <a:srgbClr val="6B729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GRU is simpler, with fewer gates and parameters, and often trains faster; LSTM has a separate cell state and more gating.</a:t>
            </a:r>
            <a:endParaRPr lang="en-US" sz="1080" dirty="0"/>
          </a:p>
        </p:txBody>
      </p:sp>
      <p:sp>
        <p:nvSpPr>
          <p:cNvPr id="19" name="Text 17"/>
          <p:cNvSpPr txBox="1"/>
          <p:nvPr/>
        </p:nvSpPr>
        <p:spPr>
          <a:xfrm>
            <a:off x="457200" y="6400800"/>
            <a:ext cx="64008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900" spc="150" kern="0" dirty="0">
                <a:solidFill>
                  <a:srgbClr val="6B729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GRU · GATED RECURRENT UNIT</a:t>
            </a:r>
            <a:endParaRPr lang="en-US" sz="900" dirty="0"/>
          </a:p>
        </p:txBody>
      </p:sp>
      <p:sp>
        <p:nvSpPr>
          <p:cNvPr id="20" name="Text 18"/>
          <p:cNvSpPr txBox="1"/>
          <p:nvPr/>
        </p:nvSpPr>
        <p:spPr>
          <a:xfrm>
            <a:off x="11277295" y="6400800"/>
            <a:ext cx="4572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900" dirty="0">
                <a:solidFill>
                  <a:srgbClr val="6B729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18</a:t>
            </a:r>
            <a:endParaRPr lang="en-US" sz="900" dirty="0"/>
          </a:p>
        </p:txBody>
      </p:sp>
    </p:spTree>
  </p:cSld>
  <p:clrMapOvr>
    <a:masterClrMapping/>
  </p:clrMapOvr>
</p:sld>
</file>

<file path=ppt/slides/slide19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9">
    <p:bg>
      <p:bgPr>
        <a:solidFill>
          <a:srgbClr val="1B1F3B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640080" y="548640"/>
            <a:ext cx="10881360" cy="5760720"/>
          </a:xfrm>
          <a:prstGeom prst="roundRect">
            <a:avLst>
              <a:gd name="adj" fmla="val 1587"/>
            </a:avLst>
          </a:prstGeom>
          <a:solidFill>
            <a:srgbClr val="252B52"/>
          </a:solidFill>
          <a:ln/>
        </p:spPr>
      </p:sp>
      <p:sp>
        <p:nvSpPr>
          <p:cNvPr id="3" name="Text 1"/>
          <p:cNvSpPr txBox="1"/>
          <p:nvPr/>
        </p:nvSpPr>
        <p:spPr>
          <a:xfrm>
            <a:off x="1051560" y="960120"/>
            <a:ext cx="548640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00" b="1" spc="200" kern="0" dirty="0">
                <a:solidFill>
                  <a:srgbClr val="FF9F1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SUMMARY</a:t>
            </a:r>
            <a:endParaRPr lang="en-US" sz="1200" dirty="0"/>
          </a:p>
        </p:txBody>
      </p:sp>
      <p:sp>
        <p:nvSpPr>
          <p:cNvPr id="4" name="Text 2"/>
          <p:cNvSpPr txBox="1"/>
          <p:nvPr/>
        </p:nvSpPr>
        <p:spPr>
          <a:xfrm>
            <a:off x="1051560" y="1280160"/>
            <a:ext cx="7315200" cy="6400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3000" b="1" dirty="0">
                <a:solidFill>
                  <a:srgbClr val="FFFFFF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Key Takeaways</a:t>
            </a:r>
            <a:endParaRPr lang="en-US" sz="3000" dirty="0"/>
          </a:p>
        </p:txBody>
      </p:sp>
      <p:sp>
        <p:nvSpPr>
          <p:cNvPr id="5" name="Shape 3"/>
          <p:cNvSpPr/>
          <p:nvPr/>
        </p:nvSpPr>
        <p:spPr>
          <a:xfrm>
            <a:off x="1051560" y="2203704"/>
            <a:ext cx="118872" cy="118872"/>
          </a:xfrm>
          <a:prstGeom prst="ellipse">
            <a:avLst/>
          </a:prstGeom>
          <a:solidFill>
            <a:srgbClr val="2EC4B6"/>
          </a:solidFill>
          <a:ln/>
        </p:spPr>
      </p:sp>
      <p:sp>
        <p:nvSpPr>
          <p:cNvPr id="6" name="Text 4"/>
          <p:cNvSpPr txBox="1"/>
          <p:nvPr/>
        </p:nvSpPr>
        <p:spPr>
          <a:xfrm>
            <a:off x="1325880" y="2075688"/>
            <a:ext cx="969264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lnSpc>
                <a:spcPct val="120000"/>
              </a:lnSpc>
              <a:buNone/>
            </a:pPr>
            <a:r>
              <a:rPr lang="en-US" sz="1350" dirty="0">
                <a:solidFill>
                  <a:srgbClr val="D7DCE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GRU is a simplified RNN that uses two gates — Update and Reset — to manage long-term dependencies.</a:t>
            </a:r>
            <a:endParaRPr lang="en-US" sz="1350" dirty="0"/>
          </a:p>
        </p:txBody>
      </p:sp>
      <p:sp>
        <p:nvSpPr>
          <p:cNvPr id="7" name="Shape 5"/>
          <p:cNvSpPr/>
          <p:nvPr/>
        </p:nvSpPr>
        <p:spPr>
          <a:xfrm>
            <a:off x="1051560" y="2770632"/>
            <a:ext cx="118872" cy="118872"/>
          </a:xfrm>
          <a:prstGeom prst="ellipse">
            <a:avLst/>
          </a:prstGeom>
          <a:solidFill>
            <a:srgbClr val="2EC4B6"/>
          </a:solidFill>
          <a:ln/>
        </p:spPr>
      </p:sp>
      <p:sp>
        <p:nvSpPr>
          <p:cNvPr id="8" name="Text 6"/>
          <p:cNvSpPr txBox="1"/>
          <p:nvPr/>
        </p:nvSpPr>
        <p:spPr>
          <a:xfrm>
            <a:off x="1325880" y="2642616"/>
            <a:ext cx="969264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lnSpc>
                <a:spcPct val="120000"/>
              </a:lnSpc>
              <a:buNone/>
            </a:pPr>
            <a:r>
              <a:rPr lang="en-US" sz="1350" dirty="0">
                <a:solidFill>
                  <a:srgbClr val="D7DCE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The update gate decides what to keep; the reset gate decides what previous context to ignore.</a:t>
            </a:r>
            <a:endParaRPr lang="en-US" sz="1350" dirty="0"/>
          </a:p>
        </p:txBody>
      </p:sp>
      <p:sp>
        <p:nvSpPr>
          <p:cNvPr id="9" name="Shape 7"/>
          <p:cNvSpPr/>
          <p:nvPr/>
        </p:nvSpPr>
        <p:spPr>
          <a:xfrm>
            <a:off x="1051560" y="3337560"/>
            <a:ext cx="118872" cy="118872"/>
          </a:xfrm>
          <a:prstGeom prst="ellipse">
            <a:avLst/>
          </a:prstGeom>
          <a:solidFill>
            <a:srgbClr val="2EC4B6"/>
          </a:solidFill>
          <a:ln/>
        </p:spPr>
      </p:sp>
      <p:sp>
        <p:nvSpPr>
          <p:cNvPr id="10" name="Text 8"/>
          <p:cNvSpPr txBox="1"/>
          <p:nvPr/>
        </p:nvSpPr>
        <p:spPr>
          <a:xfrm>
            <a:off x="1325880" y="3209544"/>
            <a:ext cx="969264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lnSpc>
                <a:spcPct val="120000"/>
              </a:lnSpc>
              <a:buNone/>
            </a:pPr>
            <a:r>
              <a:rPr lang="en-US" sz="1350" dirty="0">
                <a:solidFill>
                  <a:srgbClr val="D7DCE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GRU trades some of LSTM's power for fewer parameters and usually faster training.</a:t>
            </a:r>
            <a:endParaRPr lang="en-US" sz="1350" dirty="0"/>
          </a:p>
        </p:txBody>
      </p:sp>
      <p:sp>
        <p:nvSpPr>
          <p:cNvPr id="11" name="Shape 9"/>
          <p:cNvSpPr/>
          <p:nvPr/>
        </p:nvSpPr>
        <p:spPr>
          <a:xfrm>
            <a:off x="1051560" y="3904488"/>
            <a:ext cx="118872" cy="118872"/>
          </a:xfrm>
          <a:prstGeom prst="ellipse">
            <a:avLst/>
          </a:prstGeom>
          <a:solidFill>
            <a:srgbClr val="2EC4B6"/>
          </a:solidFill>
          <a:ln/>
        </p:spPr>
      </p:sp>
      <p:sp>
        <p:nvSpPr>
          <p:cNvPr id="12" name="Text 10"/>
          <p:cNvSpPr txBox="1"/>
          <p:nvPr/>
        </p:nvSpPr>
        <p:spPr>
          <a:xfrm>
            <a:off x="1325880" y="3776472"/>
            <a:ext cx="969264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lnSpc>
                <a:spcPct val="120000"/>
              </a:lnSpc>
              <a:buNone/>
            </a:pPr>
            <a:r>
              <a:rPr lang="en-US" sz="1350" dirty="0">
                <a:solidFill>
                  <a:srgbClr val="D7DCE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It expects input shaped as (samples, timesteps, features).</a:t>
            </a:r>
            <a:endParaRPr lang="en-US" sz="1350" dirty="0"/>
          </a:p>
        </p:txBody>
      </p:sp>
      <p:sp>
        <p:nvSpPr>
          <p:cNvPr id="13" name="Shape 11"/>
          <p:cNvSpPr/>
          <p:nvPr/>
        </p:nvSpPr>
        <p:spPr>
          <a:xfrm>
            <a:off x="1051560" y="4471416"/>
            <a:ext cx="118872" cy="118872"/>
          </a:xfrm>
          <a:prstGeom prst="ellipse">
            <a:avLst/>
          </a:prstGeom>
          <a:solidFill>
            <a:srgbClr val="2EC4B6"/>
          </a:solidFill>
          <a:ln/>
        </p:spPr>
      </p:sp>
      <p:sp>
        <p:nvSpPr>
          <p:cNvPr id="14" name="Text 12"/>
          <p:cNvSpPr txBox="1"/>
          <p:nvPr/>
        </p:nvSpPr>
        <p:spPr>
          <a:xfrm>
            <a:off x="1325880" y="4343400"/>
            <a:ext cx="969264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lnSpc>
                <a:spcPct val="120000"/>
              </a:lnSpc>
              <a:buNone/>
            </a:pPr>
            <a:r>
              <a:rPr lang="en-US" sz="1350" dirty="0">
                <a:solidFill>
                  <a:srgbClr val="D7DCE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Common uses: time-series, text, speech, and sensor data — anywhere order matters.</a:t>
            </a:r>
            <a:endParaRPr lang="en-US" sz="1350" dirty="0"/>
          </a:p>
        </p:txBody>
      </p:sp>
      <p:sp>
        <p:nvSpPr>
          <p:cNvPr id="15" name="Shape 13"/>
          <p:cNvSpPr/>
          <p:nvPr/>
        </p:nvSpPr>
        <p:spPr>
          <a:xfrm>
            <a:off x="1051560" y="5623560"/>
            <a:ext cx="10058400" cy="9144"/>
          </a:xfrm>
          <a:prstGeom prst="rect">
            <a:avLst/>
          </a:prstGeom>
          <a:solidFill>
            <a:srgbClr val="3A4070"/>
          </a:solidFill>
          <a:ln/>
        </p:spPr>
      </p:sp>
      <p:sp>
        <p:nvSpPr>
          <p:cNvPr id="16" name="Text 14"/>
          <p:cNvSpPr txBox="1"/>
          <p:nvPr/>
        </p:nvSpPr>
        <p:spPr>
          <a:xfrm>
            <a:off x="1051560" y="5742432"/>
            <a:ext cx="914400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50" i="1" dirty="0">
                <a:solidFill>
                  <a:srgbClr val="AAB1D6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Next: Bidirectional &amp; Stacked GRU architectures</a:t>
            </a:r>
            <a:endParaRPr lang="en-US" sz="1150" dirty="0"/>
          </a:p>
        </p:txBody>
      </p:sp>
      <p:sp>
        <p:nvSpPr>
          <p:cNvPr id="17" name="Text 15"/>
          <p:cNvSpPr txBox="1"/>
          <p:nvPr/>
        </p:nvSpPr>
        <p:spPr>
          <a:xfrm>
            <a:off x="457200" y="6400800"/>
            <a:ext cx="64008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900" spc="150" kern="0" dirty="0">
                <a:solidFill>
                  <a:srgbClr val="AAB1D6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GRU · GATED RECURRENT UNIT</a:t>
            </a:r>
            <a:endParaRPr lang="en-US" sz="900" dirty="0"/>
          </a:p>
        </p:txBody>
      </p:sp>
      <p:sp>
        <p:nvSpPr>
          <p:cNvPr id="18" name="Text 16"/>
          <p:cNvSpPr txBox="1"/>
          <p:nvPr/>
        </p:nvSpPr>
        <p:spPr>
          <a:xfrm>
            <a:off x="11277295" y="6400800"/>
            <a:ext cx="4572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900" dirty="0">
                <a:solidFill>
                  <a:srgbClr val="AAB1D6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19</a:t>
            </a:r>
            <a:endParaRPr lang="en-US" sz="900" dirty="0"/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4472C4"/>
      </a:accent1>
      <a:accent2>
        <a:srgbClr val="ED7D31"/>
      </a:accent2>
      <a:accent3>
        <a:srgbClr val="A5A5A5"/>
      </a:accent3>
      <a:accent4>
        <a:srgbClr val="FFC000"/>
      </a:accent4>
      <a:accent5>
        <a:srgbClr val="5B9BD5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">
      <a:majorFont>
        <a:latin typeface="Calibri Light" panose="020F030202020403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Calibri" panose="020F050202020403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docProps/app.xml><?xml version="1.0" encoding="utf-8"?>
<Properties xmlns="http://schemas.openxmlformats.org/officeDocument/2006/extended-properties" xmlns:vt="http://schemas.openxmlformats.org/officeDocument/2006/docPropsVTypes">
  <TotalTime>0</TotalTime>
  <Words>0</Words>
  <Application>Microsoft Office PowerPoint</Application>
  <PresentationFormat>On-screen Show (16:9)</PresentationFormat>
  <Paragraphs>0</Paragraphs>
  <Slides>19</Slides>
  <Notes>19</Notes>
  <HiddenSlides>0</HiddenSlides>
  <MMClips>0</MMClips>
  <ScaleCrop>false</ScaleCrop>
  <HeadingPairs>
    <vt:vector size="6" baseType="variant">
      <vt:variant>
        <vt:lpstr>Fonts Used</vt:lpstr>
      </vt:variant>
      <vt:variant>
        <vt:i4>2</vt:i4>
      </vt:variant>
      <vt:variant>
        <vt:lpstr>Theme</vt:lpstr>
      </vt:variant>
      <vt:variant>
        <vt:i4>1</vt:i4>
      </vt:variant>
      <vt:variant>
        <vt:lpstr>Slide Titles</vt:lpstr>
      </vt:variant>
      <vt:variant>
        <vt:i4>19</vt:i4>
      </vt:variant>
    </vt:vector>
  </HeadingPairs>
  <TitlesOfParts>
    <vt:vector size="22" baseType="lpstr">
      <vt:lpstr>Arial</vt:lpstr>
      <vt:lpstr>Calibri</vt:lpstr>
      <vt:lpstr>Office Theme</vt:lpstr>
      <vt:lpstr>Slide 1</vt:lpstr>
      <vt:lpstr>Slide 2</vt:lpstr>
      <vt:lpstr>Slide 3</vt:lpstr>
      <vt:lpstr>Slide 4</vt:lpstr>
      <vt:lpstr>Slide 5</vt:lpstr>
      <vt:lpstr>Slide 6</vt:lpstr>
      <vt:lpstr>Slide 7</vt:lpstr>
      <vt:lpstr>Slide 8</vt:lpstr>
      <vt:lpstr>Slide 9</vt:lpstr>
      <vt:lpstr>Slide 10</vt:lpstr>
      <vt:lpstr>Slide 11</vt:lpstr>
      <vt:lpstr>Slide 12</vt:lpstr>
      <vt:lpstr>Slide 13</vt:lpstr>
      <vt:lpstr>Slide 14</vt:lpstr>
      <vt:lpstr>Slide 15</vt:lpstr>
      <vt:lpstr>Slide 16</vt:lpstr>
      <vt:lpstr>Slide 17</vt:lpstr>
      <vt:lpstr>Slide 18</vt:lpstr>
      <vt:lpstr>Slide 19</vt:lpstr>
    </vt:vector>
  </TitlesOfParts>
  <Company>PptxGenJS</Company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>PptxGenJS Presentation</dc:title>
  <dc:subject>PptxGenJS Presentation</dc:subject>
  <dc:creator>PptxGenJS</dc:creator>
  <cp:lastModifiedBy>PptxGenJS</cp:lastModifiedBy>
  <cp:revision>1</cp:revision>
  <dcterms:created xsi:type="dcterms:W3CDTF">2026-09-02T08:37:39Z</dcterms:created>
  <dcterms:modified xsi:type="dcterms:W3CDTF">2026-09-02T08:37:39Z</dcterms:modified>
</cp:coreProperties>
</file>