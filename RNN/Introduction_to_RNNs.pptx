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822960"/>
            <a:ext cx="256032" cy="256032"/>
          </a:xfrm>
          <a:prstGeom prst="ellipse">
            <a:avLst/>
          </a:prstGeom>
          <a:solidFill>
            <a:srgbClr val="3E7391"/>
          </a:solidFill>
          <a:ln/>
        </p:spPr>
      </p:sp>
      <p:sp>
        <p:nvSpPr>
          <p:cNvPr id="3" name="Shape 1"/>
          <p:cNvSpPr/>
          <p:nvPr/>
        </p:nvSpPr>
        <p:spPr>
          <a:xfrm>
            <a:off x="9034272" y="950976"/>
            <a:ext cx="594360" cy="0"/>
          </a:xfrm>
          <a:prstGeom prst="line">
            <a:avLst/>
          </a:prstGeom>
          <a:noFill/>
          <a:ln w="22225">
            <a:solidFill>
              <a:srgbClr val="6FA8C4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9646920" y="822960"/>
            <a:ext cx="256032" cy="256032"/>
          </a:xfrm>
          <a:prstGeom prst="ellipse">
            <a:avLst/>
          </a:prstGeom>
          <a:solidFill>
            <a:srgbClr val="3E7391"/>
          </a:solidFill>
          <a:ln/>
        </p:spPr>
      </p:sp>
      <p:sp>
        <p:nvSpPr>
          <p:cNvPr id="5" name="Shape 3"/>
          <p:cNvSpPr/>
          <p:nvPr/>
        </p:nvSpPr>
        <p:spPr>
          <a:xfrm>
            <a:off x="9902952" y="950976"/>
            <a:ext cx="594360" cy="0"/>
          </a:xfrm>
          <a:prstGeom prst="line">
            <a:avLst/>
          </a:prstGeom>
          <a:noFill/>
          <a:ln w="22225">
            <a:solidFill>
              <a:srgbClr val="6FA8C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0515600" y="822960"/>
            <a:ext cx="256032" cy="256032"/>
          </a:xfrm>
          <a:prstGeom prst="ellipse">
            <a:avLst/>
          </a:prstGeom>
          <a:solidFill>
            <a:srgbClr val="3E7391"/>
          </a:solidFill>
          <a:ln/>
        </p:spPr>
      </p:sp>
      <p:sp>
        <p:nvSpPr>
          <p:cNvPr id="7" name="Shape 5"/>
          <p:cNvSpPr/>
          <p:nvPr/>
        </p:nvSpPr>
        <p:spPr>
          <a:xfrm>
            <a:off x="10771632" y="950976"/>
            <a:ext cx="594360" cy="0"/>
          </a:xfrm>
          <a:prstGeom prst="line">
            <a:avLst/>
          </a:prstGeom>
          <a:noFill/>
          <a:ln w="22225">
            <a:solidFill>
              <a:srgbClr val="6FA8C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1384280" y="822960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·  SEQUENCE MODELS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4231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RNNs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 — teaching models to remember what came before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Sequence Models?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 — meaning depends on what came before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is data where the order of information matters. Traditional neural networks treat inputs independently, but sequence models can use previous information while processing the next input.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36676" y="233172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" y="23317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74036" y="2606040"/>
            <a:ext cx="45720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31236" y="233172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31236" y="23317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68596" y="2606040"/>
            <a:ext cx="45720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25796" y="233172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25796" y="23317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63156" y="2606040"/>
            <a:ext cx="45720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20356" y="233172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0356" y="23317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57716" y="2606040"/>
            <a:ext cx="45720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14916" y="233172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00B4D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14916" y="23317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0632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meaning of "learning" depends partly on the previous words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520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SEQUENCE DATA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4F6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02336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526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77240" y="4937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price: 100 → 105 → 103 → 110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83280" y="379476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4F6"/>
          </a:solidFill>
          <a:ln/>
        </p:spPr>
      </p:sp>
      <p:sp>
        <p:nvSpPr>
          <p:cNvPr id="26" name="Shape 24"/>
          <p:cNvSpPr/>
          <p:nvPr/>
        </p:nvSpPr>
        <p:spPr>
          <a:xfrm>
            <a:off x="3611880" y="402336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4526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3611880" y="4937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love machine learning"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17920" y="379476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4F6"/>
          </a:solidFill>
          <a:ln/>
        </p:spPr>
      </p:sp>
      <p:sp>
        <p:nvSpPr>
          <p:cNvPr id="30" name="Shape 28"/>
          <p:cNvSpPr/>
          <p:nvPr/>
        </p:nvSpPr>
        <p:spPr>
          <a:xfrm>
            <a:off x="6446520" y="402336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526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446520" y="4937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signal over time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052560" y="379476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4F6"/>
          </a:solidFill>
          <a:ln/>
        </p:spPr>
      </p:sp>
      <p:sp>
        <p:nvSpPr>
          <p:cNvPr id="34" name="Shape 32"/>
          <p:cNvSpPr/>
          <p:nvPr/>
        </p:nvSpPr>
        <p:spPr>
          <a:xfrm>
            <a:off x="9281160" y="402336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9281160" y="4526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9281160" y="4937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measured every hour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RNN?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built to remember, not just react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EAF4F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6304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= Recurrent Neural Network — a neural network designed for sequential data. It processes one item at a time and maintains information from previous steps using a hidden state.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2299716" y="30632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B3D62"/>
          </a:solidFill>
          <a:ln/>
        </p:spPr>
      </p:sp>
      <p:sp>
        <p:nvSpPr>
          <p:cNvPr id="7" name="Text 5"/>
          <p:cNvSpPr/>
          <p:nvPr/>
        </p:nvSpPr>
        <p:spPr>
          <a:xfrm>
            <a:off x="2299716" y="3063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14116" y="3566160"/>
            <a:ext cx="0" cy="2286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99716" y="37947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2299716" y="3794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14116" y="4297680"/>
            <a:ext cx="0" cy="2286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299716" y="45262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99716" y="4526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28516" y="4777740"/>
            <a:ext cx="1051560" cy="0"/>
          </a:xfrm>
          <a:prstGeom prst="line">
            <a:avLst/>
          </a:prstGeom>
          <a:noFill/>
          <a:ln w="22225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80076" y="30632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B3D62"/>
          </a:solidFill>
          <a:ln/>
        </p:spPr>
      </p:sp>
      <p:sp>
        <p:nvSpPr>
          <p:cNvPr id="16" name="Text 14"/>
          <p:cNvSpPr/>
          <p:nvPr/>
        </p:nvSpPr>
        <p:spPr>
          <a:xfrm>
            <a:off x="5180076" y="3063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94476" y="3566160"/>
            <a:ext cx="0" cy="2286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80076" y="37947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5180076" y="3794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94476" y="4297680"/>
            <a:ext cx="0" cy="2286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80076" y="45262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80076" y="4526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08876" y="4777740"/>
            <a:ext cx="1051560" cy="0"/>
          </a:xfrm>
          <a:prstGeom prst="line">
            <a:avLst/>
          </a:prstGeom>
          <a:noFill/>
          <a:ln w="22225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60436" y="30632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B3D62"/>
          </a:solidFill>
          <a:ln/>
        </p:spPr>
      </p:sp>
      <p:sp>
        <p:nvSpPr>
          <p:cNvPr id="25" name="Text 23"/>
          <p:cNvSpPr/>
          <p:nvPr/>
        </p:nvSpPr>
        <p:spPr>
          <a:xfrm>
            <a:off x="8060436" y="3063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74836" y="3566160"/>
            <a:ext cx="0" cy="2286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060436" y="37947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8060436" y="3794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974836" y="4297680"/>
            <a:ext cx="0" cy="2286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060436" y="45262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60436" y="4526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state carries information from one step to the next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Hidden State — RNN's Memory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state is updated at every step: "I love machine learning"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59536" y="201168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011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48256" y="2514600"/>
            <a:ext cx="0" cy="4572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9536" y="31089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0B3D62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3108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36976" y="3360420"/>
            <a:ext cx="320040" cy="0"/>
          </a:xfrm>
          <a:prstGeom prst="line">
            <a:avLst/>
          </a:prstGeom>
          <a:noFill/>
          <a:ln w="22225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57016" y="201168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7016" y="2011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"love"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45736" y="2514600"/>
            <a:ext cx="0" cy="4572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57016" y="31089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0B3D62"/>
          </a:solidFill>
          <a:ln/>
        </p:spPr>
      </p:sp>
      <p:sp>
        <p:nvSpPr>
          <p:cNvPr id="14" name="Text 12"/>
          <p:cNvSpPr/>
          <p:nvPr/>
        </p:nvSpPr>
        <p:spPr>
          <a:xfrm>
            <a:off x="3557016" y="3108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34456" y="3360420"/>
            <a:ext cx="320040" cy="0"/>
          </a:xfrm>
          <a:prstGeom prst="line">
            <a:avLst/>
          </a:prstGeom>
          <a:noFill/>
          <a:ln w="22225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54496" y="201168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2011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"machine"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43216" y="2514600"/>
            <a:ext cx="0" cy="4572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54496" y="31089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0B3D62"/>
          </a:solidFill>
          <a:ln/>
        </p:spPr>
      </p:sp>
      <p:sp>
        <p:nvSpPr>
          <p:cNvPr id="20" name="Text 18"/>
          <p:cNvSpPr/>
          <p:nvPr/>
        </p:nvSpPr>
        <p:spPr>
          <a:xfrm>
            <a:off x="6254496" y="3108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31936" y="3360420"/>
            <a:ext cx="320040" cy="0"/>
          </a:xfrm>
          <a:prstGeom prst="line">
            <a:avLst/>
          </a:prstGeom>
          <a:noFill/>
          <a:ln w="22225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951976" y="201168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51976" y="2011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"learning"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140696" y="2514600"/>
            <a:ext cx="0" cy="4572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951976" y="31089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8951976" y="3108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3886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memory (h) passed forward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194560" y="4526280"/>
            <a:ext cx="7772400" cy="1005840"/>
          </a:xfrm>
          <a:prstGeom prst="roundRect">
            <a:avLst>
              <a:gd name="adj" fmla="val 9091"/>
            </a:avLst>
          </a:prstGeom>
          <a:solidFill>
            <a:srgbClr val="0B3D62"/>
          </a:solidFill>
          <a:ln/>
        </p:spPr>
      </p:sp>
      <p:sp>
        <p:nvSpPr>
          <p:cNvPr id="29" name="Text 27"/>
          <p:cNvSpPr/>
          <p:nvPr/>
        </p:nvSpPr>
        <p:spPr>
          <a:xfrm>
            <a:off x="2468880" y="4526280"/>
            <a:ext cx="7223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think of h as the RNN's short-term memory.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Example: Predict the Next Word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"I am learning ___", the RNN uses context to predict what comes next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310896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1089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 am  learning"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931920" y="3497580"/>
            <a:ext cx="82296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754880" y="297180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0B3D62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297180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583680" y="3497580"/>
            <a:ext cx="822960" cy="0"/>
          </a:xfrm>
          <a:prstGeom prst="line">
            <a:avLst/>
          </a:prstGeom>
          <a:noFill/>
          <a:ln w="22225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406640" y="310896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31089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06640" y="2651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371600" y="44805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type of idea is used in text prediction, autocomplete, and language modeling.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Unrolling Through Time (BPTT)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RNN is reused across time steps, then errors flow backward to update it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002536" y="1325880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 →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002536" y="210312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B3D62"/>
          </a:solidFill>
          <a:ln/>
        </p:spPr>
      </p:sp>
      <p:sp>
        <p:nvSpPr>
          <p:cNvPr id="6" name="Text 4"/>
          <p:cNvSpPr/>
          <p:nvPr/>
        </p:nvSpPr>
        <p:spPr>
          <a:xfrm>
            <a:off x="2002536" y="21031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02536" y="1737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34056" y="2606040"/>
            <a:ext cx="0" cy="6858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22576" y="329184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22576" y="3291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65576" y="2354580"/>
            <a:ext cx="77724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42816" y="210312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B3D62"/>
          </a:solidFill>
          <a:ln/>
        </p:spPr>
      </p:sp>
      <p:sp>
        <p:nvSpPr>
          <p:cNvPr id="13" name="Text 11"/>
          <p:cNvSpPr/>
          <p:nvPr/>
        </p:nvSpPr>
        <p:spPr>
          <a:xfrm>
            <a:off x="4242816" y="21031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42816" y="1737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74336" y="2606040"/>
            <a:ext cx="0" cy="6858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62856" y="329184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2856" y="3291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05856" y="2354580"/>
            <a:ext cx="77724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83096" y="210312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B3D62"/>
          </a:solidFill>
          <a:ln/>
        </p:spPr>
      </p:sp>
      <p:sp>
        <p:nvSpPr>
          <p:cNvPr id="20" name="Text 18"/>
          <p:cNvSpPr/>
          <p:nvPr/>
        </p:nvSpPr>
        <p:spPr>
          <a:xfrm>
            <a:off x="6483096" y="21031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83096" y="1737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14616" y="2606040"/>
            <a:ext cx="0" cy="6858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03136" y="329184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3291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46136" y="2354580"/>
            <a:ext cx="77724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723376" y="210312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B3D62"/>
          </a:solidFill>
          <a:ln/>
        </p:spPr>
      </p:sp>
      <p:sp>
        <p:nvSpPr>
          <p:cNvPr id="27" name="Text 25"/>
          <p:cNvSpPr/>
          <p:nvPr/>
        </p:nvSpPr>
        <p:spPr>
          <a:xfrm>
            <a:off x="8723376" y="21031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723376" y="1737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454896" y="2606040"/>
            <a:ext cx="0" cy="6858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043416" y="329184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43416" y="3291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34056" y="4160520"/>
            <a:ext cx="67208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dash"/>
            <a:headEnd type="triangle"/>
          </a:ln>
        </p:spPr>
      </p:sp>
      <p:sp>
        <p:nvSpPr>
          <p:cNvPr id="33" name="Text 31"/>
          <p:cNvSpPr/>
          <p:nvPr/>
        </p:nvSpPr>
        <p:spPr>
          <a:xfrm>
            <a:off x="2002536" y="4251960"/>
            <a:ext cx="8183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error propagated backward (BPTT)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71600" y="4937760"/>
            <a:ext cx="9418320" cy="868680"/>
          </a:xfrm>
          <a:prstGeom prst="roundRect">
            <a:avLst>
              <a:gd name="adj" fmla="val 10526"/>
            </a:avLst>
          </a:prstGeom>
          <a:solidFill>
            <a:srgbClr val="EAF4F6"/>
          </a:solidFill>
          <a:ln/>
        </p:spPr>
      </p:sp>
      <p:sp>
        <p:nvSpPr>
          <p:cNvPr id="35" name="Text 33"/>
          <p:cNvSpPr/>
          <p:nvPr/>
        </p:nvSpPr>
        <p:spPr>
          <a:xfrm>
            <a:off x="1645920" y="4937760"/>
            <a:ext cx="8869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BPTT = Backpropagation Through Time — the network is unrolled across time steps, and errors are propagated backward through all of them to update the shared weights.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Vanishing Gradient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biggest limitations of a traditional RNN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4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sequence is very long, the gradient can become extremely small while moving backward through many time steps. As a result, the RNN struggles to remember old information.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120640" cy="2651760"/>
          </a:xfrm>
          <a:prstGeom prst="roundRect">
            <a:avLst>
              <a:gd name="adj" fmla="val 3448"/>
            </a:avLst>
          </a:prstGeom>
          <a:solidFill>
            <a:srgbClr val="0E4C7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2461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movie that I watched yesterday with my friends at the theatre was very interesting because..."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may need information from the beginning of the sentence to understand something at the end — but a basic RNN may gradually forget it.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1812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information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75320" y="17373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75320" y="1737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052560" y="2240280"/>
            <a:ext cx="0" cy="274320"/>
          </a:xfrm>
          <a:prstGeom prst="line">
            <a:avLst/>
          </a:prstGeom>
          <a:noFill/>
          <a:ln w="22225">
            <a:solidFill>
              <a:srgbClr val="6FA8C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75320" y="251460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C7293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2514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3017520"/>
            <a:ext cx="0" cy="274320"/>
          </a:xfrm>
          <a:prstGeom prst="line">
            <a:avLst/>
          </a:prstGeom>
          <a:noFill/>
          <a:ln w="22225">
            <a:solidFill>
              <a:srgbClr val="6FA8C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75320" y="32918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291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2560" y="3794760"/>
            <a:ext cx="0" cy="274320"/>
          </a:xfrm>
          <a:prstGeom prst="line">
            <a:avLst/>
          </a:prstGeom>
          <a:noFill/>
          <a:ln w="22225">
            <a:solidFill>
              <a:srgbClr val="6FA8C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75320" y="406908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4069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52560" y="4572000"/>
            <a:ext cx="0" cy="274320"/>
          </a:xfrm>
          <a:prstGeom prst="line">
            <a:avLst/>
          </a:prstGeom>
          <a:noFill/>
          <a:ln w="22225">
            <a:solidFill>
              <a:srgbClr val="6FA8C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75320" y="48463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3E5875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4846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❌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— Final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essentials, before we move on to LSTM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EAF4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sequential data and uses a hidden state to remember previous information.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0B3D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965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BPTT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42316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an RNN by propagating errors backward through the time steps.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EAF4F6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1965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66760" y="242316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long sequences, gradients can shrink drastically, making long-term relationships hard to learn.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43484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next: LSTM — a smarter RNN that uses gates and a cell state to fix the memory problem.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2026-09-01T02:39:40Z</dcterms:created>
  <dcterms:modified xsi:type="dcterms:W3CDTF">2026-09-01T02:39:41Z</dcterms:modified>
</cp:coreProperties>
</file>