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1E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868680"/>
            <a:ext cx="640080" cy="457200"/>
          </a:xfrm>
          <a:prstGeom prst="roundRect">
            <a:avLst>
              <a:gd name="adj" fmla="val 16000"/>
            </a:avLst>
          </a:prstGeom>
          <a:solidFill>
            <a:srgbClr val="5A3A80"/>
          </a:solidFill>
          <a:ln/>
        </p:spPr>
      </p:sp>
      <p:sp>
        <p:nvSpPr>
          <p:cNvPr id="3" name="Shape 1"/>
          <p:cNvSpPr/>
          <p:nvPr/>
        </p:nvSpPr>
        <p:spPr>
          <a:xfrm>
            <a:off x="9829800" y="868680"/>
            <a:ext cx="640080" cy="457200"/>
          </a:xfrm>
          <a:prstGeom prst="roundRect">
            <a:avLst>
              <a:gd name="adj" fmla="val 16000"/>
            </a:avLst>
          </a:prstGeom>
          <a:solidFill>
            <a:srgbClr val="F2A93B"/>
          </a:solidFill>
          <a:ln/>
        </p:spPr>
      </p:sp>
      <p:sp>
        <p:nvSpPr>
          <p:cNvPr id="4" name="Shape 2"/>
          <p:cNvSpPr/>
          <p:nvPr/>
        </p:nvSpPr>
        <p:spPr>
          <a:xfrm>
            <a:off x="10789920" y="868680"/>
            <a:ext cx="640080" cy="457200"/>
          </a:xfrm>
          <a:prstGeom prst="roundRect">
            <a:avLst>
              <a:gd name="adj" fmla="val 16000"/>
            </a:avLst>
          </a:prstGeom>
          <a:solidFill>
            <a:srgbClr val="5A3A8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03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25  ·  DEEP LEARNING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2395728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LSTM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40080" y="35204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4D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Short-Term Memory — gates that decide what to remember, forget, and output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1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We Need LSTM?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special type of RNN designed to handle long-term dependencies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A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advantage: LSTM can decide what information to remember, what to forget, and what information to output.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120640" cy="3291840"/>
          </a:xfrm>
          <a:prstGeom prst="roundRect">
            <a:avLst>
              <a:gd name="adj" fmla="val 2778"/>
            </a:avLst>
          </a:prstGeom>
          <a:solidFill>
            <a:srgbClr val="F4F0F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4231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RNN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54380" y="3108960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B7A6CE"/>
          </a:solidFill>
          <a:ln/>
        </p:spPr>
      </p:sp>
      <p:sp>
        <p:nvSpPr>
          <p:cNvPr id="8" name="Text 6"/>
          <p:cNvSpPr/>
          <p:nvPr/>
        </p:nvSpPr>
        <p:spPr>
          <a:xfrm>
            <a:off x="754380" y="31089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760220" y="3337560"/>
            <a:ext cx="228600" cy="0"/>
          </a:xfrm>
          <a:prstGeom prst="line">
            <a:avLst/>
          </a:prstGeom>
          <a:noFill/>
          <a:ln w="22225">
            <a:solidFill>
              <a:srgbClr val="6A4C9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988820" y="3108960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B7A6CE"/>
          </a:solidFill>
          <a:ln/>
        </p:spPr>
      </p:sp>
      <p:sp>
        <p:nvSpPr>
          <p:cNvPr id="11" name="Text 9"/>
          <p:cNvSpPr/>
          <p:nvPr/>
        </p:nvSpPr>
        <p:spPr>
          <a:xfrm>
            <a:off x="1988820" y="31089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94660" y="3337560"/>
            <a:ext cx="228600" cy="0"/>
          </a:xfrm>
          <a:prstGeom prst="line">
            <a:avLst/>
          </a:prstGeom>
          <a:noFill/>
          <a:ln w="22225">
            <a:solidFill>
              <a:srgbClr val="6A4C9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223260" y="3108960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B7A6CE"/>
          </a:solidFill>
          <a:ln/>
        </p:spPr>
      </p:sp>
      <p:sp>
        <p:nvSpPr>
          <p:cNvPr id="14" name="Text 12"/>
          <p:cNvSpPr/>
          <p:nvPr/>
        </p:nvSpPr>
        <p:spPr>
          <a:xfrm>
            <a:off x="3223260" y="31089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29100" y="3337560"/>
            <a:ext cx="228600" cy="0"/>
          </a:xfrm>
          <a:prstGeom prst="line">
            <a:avLst/>
          </a:prstGeom>
          <a:noFill/>
          <a:ln w="22225">
            <a:solidFill>
              <a:srgbClr val="6A4C9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457700" y="3108960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B7A6CE"/>
          </a:solidFill>
          <a:ln/>
        </p:spPr>
      </p:sp>
      <p:sp>
        <p:nvSpPr>
          <p:cNvPr id="17" name="Text 15"/>
          <p:cNvSpPr/>
          <p:nvPr/>
        </p:nvSpPr>
        <p:spPr>
          <a:xfrm>
            <a:off x="4457700" y="31089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411480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2A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forget old information as the sequence gets longer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26480" y="2194560"/>
            <a:ext cx="5120640" cy="3291840"/>
          </a:xfrm>
          <a:prstGeom prst="roundRect">
            <a:avLst>
              <a:gd name="adj" fmla="val 2778"/>
            </a:avLst>
          </a:prstGeom>
          <a:solidFill>
            <a:srgbClr val="3B1E54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24231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32220" y="3108960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F2A93B"/>
          </a:solidFill>
          <a:ln/>
        </p:spPr>
      </p:sp>
      <p:sp>
        <p:nvSpPr>
          <p:cNvPr id="22" name="Text 20"/>
          <p:cNvSpPr/>
          <p:nvPr/>
        </p:nvSpPr>
        <p:spPr>
          <a:xfrm>
            <a:off x="6332220" y="31089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1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38060" y="3337560"/>
            <a:ext cx="228600" cy="0"/>
          </a:xfrm>
          <a:prstGeom prst="line">
            <a:avLst/>
          </a:prstGeom>
          <a:noFill/>
          <a:ln w="22225">
            <a:solidFill>
              <a:srgbClr val="D9C9EE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566660" y="3108960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F2A93B"/>
          </a:solidFill>
          <a:ln/>
        </p:spPr>
      </p:sp>
      <p:sp>
        <p:nvSpPr>
          <p:cNvPr id="25" name="Text 23"/>
          <p:cNvSpPr/>
          <p:nvPr/>
        </p:nvSpPr>
        <p:spPr>
          <a:xfrm>
            <a:off x="7566660" y="31089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1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572500" y="3337560"/>
            <a:ext cx="228600" cy="0"/>
          </a:xfrm>
          <a:prstGeom prst="line">
            <a:avLst/>
          </a:prstGeom>
          <a:noFill/>
          <a:ln w="22225">
            <a:solidFill>
              <a:srgbClr val="D9C9EE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801100" y="3108960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F2A93B"/>
          </a:solidFill>
          <a:ln/>
        </p:spPr>
      </p:sp>
      <p:sp>
        <p:nvSpPr>
          <p:cNvPr id="28" name="Text 26"/>
          <p:cNvSpPr/>
          <p:nvPr/>
        </p:nvSpPr>
        <p:spPr>
          <a:xfrm>
            <a:off x="8801100" y="31089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1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806940" y="3337560"/>
            <a:ext cx="228600" cy="0"/>
          </a:xfrm>
          <a:prstGeom prst="line">
            <a:avLst/>
          </a:prstGeom>
          <a:noFill/>
          <a:ln w="22225">
            <a:solidFill>
              <a:srgbClr val="D9C9EE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035540" y="3108960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F2A93B"/>
          </a:solidFill>
          <a:ln/>
        </p:spPr>
      </p:sp>
      <p:sp>
        <p:nvSpPr>
          <p:cNvPr id="31" name="Text 29"/>
          <p:cNvSpPr/>
          <p:nvPr/>
        </p:nvSpPr>
        <p:spPr>
          <a:xfrm>
            <a:off x="10035540" y="31089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1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46520" y="411480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1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long-term memory, thanks to gates and a cell state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1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LSTM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kinds of memory work together at every time step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STATE — long-term memory highway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2331720"/>
            <a:ext cx="10515600" cy="0"/>
          </a:xfrm>
          <a:prstGeom prst="line">
            <a:avLst/>
          </a:prstGeom>
          <a:noFill/>
          <a:ln w="50800">
            <a:solidFill>
              <a:srgbClr val="F2A93B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720340" y="205740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3B1E54"/>
          </a:solidFill>
          <a:ln/>
        </p:spPr>
      </p:sp>
      <p:sp>
        <p:nvSpPr>
          <p:cNvPr id="7" name="Text 5"/>
          <p:cNvSpPr/>
          <p:nvPr/>
        </p:nvSpPr>
        <p:spPr>
          <a:xfrm>
            <a:off x="2720340" y="20574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49240" y="205740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3B1E54"/>
          </a:solidFill>
          <a:ln/>
        </p:spPr>
      </p:sp>
      <p:sp>
        <p:nvSpPr>
          <p:cNvPr id="9" name="Text 7"/>
          <p:cNvSpPr/>
          <p:nvPr/>
        </p:nvSpPr>
        <p:spPr>
          <a:xfrm>
            <a:off x="5349240" y="20574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78140" y="205740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3B1E54"/>
          </a:solidFill>
          <a:ln/>
        </p:spPr>
      </p:sp>
      <p:sp>
        <p:nvSpPr>
          <p:cNvPr id="11" name="Text 9"/>
          <p:cNvSpPr/>
          <p:nvPr/>
        </p:nvSpPr>
        <p:spPr>
          <a:xfrm>
            <a:off x="7978140" y="20574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3017520"/>
            <a:ext cx="4937760" cy="1463040"/>
          </a:xfrm>
          <a:prstGeom prst="roundRect">
            <a:avLst>
              <a:gd name="adj" fmla="val 6250"/>
            </a:avLst>
          </a:prstGeom>
          <a:solidFill>
            <a:srgbClr val="F4F0FA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2004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B1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State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097280" y="356616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important information across many time steps — the LSTM's long-term memory.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35040" y="3017520"/>
            <a:ext cx="5303520" cy="1463040"/>
          </a:xfrm>
          <a:prstGeom prst="roundRect">
            <a:avLst>
              <a:gd name="adj" fmla="val 6250"/>
            </a:avLst>
          </a:prstGeom>
          <a:solidFill>
            <a:srgbClr val="F4F0FA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32004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B1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State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309360" y="356616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the information used at the current step and passed to the next — the short-term working memory.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4754880"/>
            <a:ext cx="10515600" cy="777240"/>
          </a:xfrm>
          <a:prstGeom prst="roundRect">
            <a:avLst>
              <a:gd name="adj" fmla="val 11765"/>
            </a:avLst>
          </a:prstGeom>
          <a:solidFill>
            <a:srgbClr val="3B1E54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475488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State → Long-term memory        Hidden State → Current / short-term information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1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Main Gates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gates as decision makers inside the LSTM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44240" cy="3566160"/>
          </a:xfrm>
          <a:prstGeom prst="roundRect">
            <a:avLst>
              <a:gd name="adj" fmla="val 2655"/>
            </a:avLst>
          </a:prstGeom>
          <a:solidFill>
            <a:srgbClr val="F4F0FA"/>
          </a:solidFill>
          <a:ln/>
        </p:spPr>
      </p:sp>
      <p:sp>
        <p:nvSpPr>
          <p:cNvPr id="5" name="Shape 3"/>
          <p:cNvSpPr/>
          <p:nvPr/>
        </p:nvSpPr>
        <p:spPr>
          <a:xfrm>
            <a:off x="1859280" y="2194560"/>
            <a:ext cx="822960" cy="8229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/>
          <p:nvPr/>
        </p:nvSpPr>
        <p:spPr>
          <a:xfrm>
            <a:off x="1859280" y="2194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B1E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289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A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 Gate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3794760"/>
            <a:ext cx="2804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6E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old information should I remove?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58640" y="1828800"/>
            <a:ext cx="3444240" cy="3566160"/>
          </a:xfrm>
          <a:prstGeom prst="roundRect">
            <a:avLst>
              <a:gd name="adj" fmla="val 2655"/>
            </a:avLst>
          </a:prstGeom>
          <a:solidFill>
            <a:srgbClr val="3B1E54"/>
          </a:solidFill>
          <a:ln/>
        </p:spPr>
      </p:sp>
      <p:sp>
        <p:nvSpPr>
          <p:cNvPr id="10" name="Shape 8"/>
          <p:cNvSpPr/>
          <p:nvPr/>
        </p:nvSpPr>
        <p:spPr>
          <a:xfrm>
            <a:off x="5669280" y="2194560"/>
            <a:ext cx="822960" cy="8229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0" y="2194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B1E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32960" y="3246120"/>
            <a:ext cx="289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Gate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78680" y="3794760"/>
            <a:ext cx="2804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4D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new information should I store?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68640" y="1828800"/>
            <a:ext cx="3444240" cy="3566160"/>
          </a:xfrm>
          <a:prstGeom prst="roundRect">
            <a:avLst>
              <a:gd name="adj" fmla="val 2655"/>
            </a:avLst>
          </a:prstGeom>
          <a:solidFill>
            <a:srgbClr val="F4F0FA"/>
          </a:solidFill>
          <a:ln/>
        </p:spPr>
      </p:sp>
      <p:sp>
        <p:nvSpPr>
          <p:cNvPr id="15" name="Shape 13"/>
          <p:cNvSpPr/>
          <p:nvPr/>
        </p:nvSpPr>
        <p:spPr>
          <a:xfrm>
            <a:off x="9479280" y="2194560"/>
            <a:ext cx="822960" cy="8229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4"/>
          <p:cNvSpPr/>
          <p:nvPr/>
        </p:nvSpPr>
        <p:spPr>
          <a:xfrm>
            <a:off x="9479280" y="2194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B1E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442960" y="3246120"/>
            <a:ext cx="289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A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Gate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88680" y="3794760"/>
            <a:ext cx="2804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6E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information should I output now?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1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Forget Gate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old information should I remove?"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29200" cy="4389120"/>
          </a:xfrm>
          <a:prstGeom prst="roundRect">
            <a:avLst>
              <a:gd name="adj" fmla="val 2083"/>
            </a:avLst>
          </a:prstGeom>
          <a:solidFill>
            <a:srgbClr val="F4F0F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2880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A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forget gate decides what old information is no longer needed and removes it from the cell state.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68680" y="2880360"/>
            <a:ext cx="438912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0632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Yesterday: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97280" y="3383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was learning Python.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38862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97280" y="42062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learning SQL.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470916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6E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LSTM may decide that some old Python-related information is no longer important.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89520" y="2194560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F4F0FA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21945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Information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778240" y="2743200"/>
            <a:ext cx="0" cy="457200"/>
          </a:xfrm>
          <a:prstGeom prst="line">
            <a:avLst/>
          </a:prstGeom>
          <a:noFill/>
          <a:ln w="22225">
            <a:solidFill>
              <a:srgbClr val="6A4C9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589520" y="3200400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F2A93B"/>
          </a:solidFill>
          <a:ln/>
        </p:spPr>
      </p:sp>
      <p:sp>
        <p:nvSpPr>
          <p:cNvPr id="16" name="Text 14"/>
          <p:cNvSpPr/>
          <p:nvPr/>
        </p:nvSpPr>
        <p:spPr>
          <a:xfrm>
            <a:off x="7589520" y="32004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1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 Gate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778240" y="3749040"/>
            <a:ext cx="0" cy="457200"/>
          </a:xfrm>
          <a:prstGeom prst="line">
            <a:avLst/>
          </a:prstGeom>
          <a:noFill/>
          <a:ln w="22225">
            <a:solidFill>
              <a:srgbClr val="6A4C9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589520" y="4206240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3B1E54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0" y="42062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unnecessary info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1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Gate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new information should I store?"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29200" cy="4389120"/>
          </a:xfrm>
          <a:prstGeom prst="roundRect">
            <a:avLst>
              <a:gd name="adj" fmla="val 2083"/>
            </a:avLst>
          </a:prstGeom>
          <a:solidFill>
            <a:srgbClr val="F4F0F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2880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A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input gate decides what new information is worth storing in the cell state.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68680" y="2880360"/>
            <a:ext cx="438912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1089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am learning SQL"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36118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LSTM receives "SQL" and can decide it is important: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97280" y="4251960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F4F0FA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4251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information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17520" y="4480560"/>
            <a:ext cx="365760" cy="0"/>
          </a:xfrm>
          <a:prstGeom prst="line">
            <a:avLst/>
          </a:prstGeom>
          <a:noFill/>
          <a:ln w="22225">
            <a:solidFill>
              <a:srgbClr val="6A4C9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429000" y="425196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F2A93B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42519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B1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97280" y="48920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Store it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589520" y="2194560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F4F0FA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0" y="21945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Information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778240" y="2743200"/>
            <a:ext cx="0" cy="457200"/>
          </a:xfrm>
          <a:prstGeom prst="line">
            <a:avLst/>
          </a:prstGeom>
          <a:noFill/>
          <a:ln w="22225">
            <a:solidFill>
              <a:srgbClr val="6A4C9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589520" y="3200400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F2A93B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0" y="32004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1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Gate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778240" y="3749040"/>
            <a:ext cx="0" cy="457200"/>
          </a:xfrm>
          <a:prstGeom prst="line">
            <a:avLst/>
          </a:prstGeom>
          <a:noFill/>
          <a:ln w="22225">
            <a:solidFill>
              <a:srgbClr val="6A4C9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589520" y="4206240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3B1E54"/>
          </a:solidFill>
          <a:ln/>
        </p:spPr>
      </p:sp>
      <p:sp>
        <p:nvSpPr>
          <p:cNvPr id="22" name="Text 20"/>
          <p:cNvSpPr/>
          <p:nvPr/>
        </p:nvSpPr>
        <p:spPr>
          <a:xfrm>
            <a:off x="7589520" y="42062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useful information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1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Gate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information should I output now?"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29200" cy="4389120"/>
          </a:xfrm>
          <a:prstGeom prst="roundRect">
            <a:avLst>
              <a:gd name="adj" fmla="val 2083"/>
            </a:avLst>
          </a:prstGeom>
          <a:solidFill>
            <a:srgbClr val="F4F0F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2880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A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gate controls what part of the internal information becomes the current output / hidden state.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68680" y="329184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2918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am learning SQL"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54680" y="3611880"/>
            <a:ext cx="365760" cy="0"/>
          </a:xfrm>
          <a:prstGeom prst="line">
            <a:avLst/>
          </a:prstGeom>
          <a:noFill/>
          <a:ln w="22225">
            <a:solidFill>
              <a:srgbClr val="6A4C9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520440" y="3200400"/>
            <a:ext cx="1280160" cy="822960"/>
          </a:xfrm>
          <a:prstGeom prst="roundRect">
            <a:avLst>
              <a:gd name="adj" fmla="val 8889"/>
            </a:avLst>
          </a:prstGeom>
          <a:solidFill>
            <a:srgbClr val="3B1E54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320040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00600" y="3611880"/>
            <a:ext cx="365760" cy="0"/>
          </a:xfrm>
          <a:prstGeom prst="line">
            <a:avLst/>
          </a:prstGeom>
          <a:noFill/>
          <a:ln w="22225">
            <a:solidFill>
              <a:srgbClr val="F2A93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166360" y="3291840"/>
            <a:ext cx="1508760" cy="640080"/>
          </a:xfrm>
          <a:prstGeom prst="roundRect">
            <a:avLst>
              <a:gd name="adj" fmla="val 11429"/>
            </a:avLst>
          </a:prstGeom>
          <a:solidFill>
            <a:srgbClr val="F2A93B"/>
          </a:solidFill>
          <a:ln/>
        </p:spPr>
      </p:sp>
      <p:sp>
        <p:nvSpPr>
          <p:cNvPr id="13" name="Text 11"/>
          <p:cNvSpPr/>
          <p:nvPr/>
        </p:nvSpPr>
        <p:spPr>
          <a:xfrm>
            <a:off x="5166360" y="329184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B1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SQL-related prediction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166360" y="292608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4434840"/>
            <a:ext cx="4389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6E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gate is like a spotlight — deciding what part of the LSTM's memory is worth showing right now.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589520" y="2194560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F4F0FA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0" y="21945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Information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778240" y="2743200"/>
            <a:ext cx="0" cy="457200"/>
          </a:xfrm>
          <a:prstGeom prst="line">
            <a:avLst/>
          </a:prstGeom>
          <a:noFill/>
          <a:ln w="22225">
            <a:solidFill>
              <a:srgbClr val="6A4C9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589520" y="3200400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F2A93B"/>
          </a:solidFill>
          <a:ln/>
        </p:spPr>
      </p:sp>
      <p:sp>
        <p:nvSpPr>
          <p:cNvPr id="20" name="Text 18"/>
          <p:cNvSpPr/>
          <p:nvPr/>
        </p:nvSpPr>
        <p:spPr>
          <a:xfrm>
            <a:off x="7589520" y="32004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1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Gate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778240" y="3749040"/>
            <a:ext cx="0" cy="457200"/>
          </a:xfrm>
          <a:prstGeom prst="line">
            <a:avLst/>
          </a:prstGeom>
          <a:noFill/>
          <a:ln w="22225">
            <a:solidFill>
              <a:srgbClr val="6A4C9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589520" y="4206240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3B1E54"/>
          </a:solidFill>
          <a:ln/>
        </p:spPr>
      </p:sp>
      <p:sp>
        <p:nvSpPr>
          <p:cNvPr id="23" name="Text 21"/>
          <p:cNvSpPr/>
          <p:nvPr/>
        </p:nvSpPr>
        <p:spPr>
          <a:xfrm>
            <a:off x="7589520" y="42062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Output / Hidden State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B1E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Example: Predicting Temperature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9C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uses information from multiple previous time steps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636776" y="2377440"/>
            <a:ext cx="1371600" cy="914400"/>
          </a:xfrm>
          <a:prstGeom prst="roundRect">
            <a:avLst>
              <a:gd name="adj" fmla="val 10000"/>
            </a:avLst>
          </a:prstGeom>
          <a:solidFill>
            <a:srgbClr val="5A3A80"/>
          </a:solidFill>
          <a:ln/>
        </p:spPr>
      </p:sp>
      <p:sp>
        <p:nvSpPr>
          <p:cNvPr id="5" name="Text 3"/>
          <p:cNvSpPr/>
          <p:nvPr/>
        </p:nvSpPr>
        <p:spPr>
          <a:xfrm>
            <a:off x="1636776" y="24871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C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36776" y="2743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30°C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008376" y="2834640"/>
            <a:ext cx="502920" cy="0"/>
          </a:xfrm>
          <a:prstGeom prst="line">
            <a:avLst/>
          </a:prstGeom>
          <a:noFill/>
          <a:ln w="22225">
            <a:solidFill>
              <a:srgbClr val="F2A93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511296" y="2377440"/>
            <a:ext cx="1371600" cy="914400"/>
          </a:xfrm>
          <a:prstGeom prst="roundRect">
            <a:avLst>
              <a:gd name="adj" fmla="val 10000"/>
            </a:avLst>
          </a:prstGeom>
          <a:solidFill>
            <a:srgbClr val="5A3A80"/>
          </a:solidFill>
          <a:ln/>
        </p:spPr>
      </p:sp>
      <p:sp>
        <p:nvSpPr>
          <p:cNvPr id="9" name="Text 7"/>
          <p:cNvSpPr/>
          <p:nvPr/>
        </p:nvSpPr>
        <p:spPr>
          <a:xfrm>
            <a:off x="3511296" y="24871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C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11296" y="2743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31°C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882896" y="2834640"/>
            <a:ext cx="502920" cy="0"/>
          </a:xfrm>
          <a:prstGeom prst="line">
            <a:avLst/>
          </a:prstGeom>
          <a:noFill/>
          <a:ln w="22225">
            <a:solidFill>
              <a:srgbClr val="F2A93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385816" y="2377440"/>
            <a:ext cx="1371600" cy="914400"/>
          </a:xfrm>
          <a:prstGeom prst="roundRect">
            <a:avLst>
              <a:gd name="adj" fmla="val 10000"/>
            </a:avLst>
          </a:prstGeom>
          <a:solidFill>
            <a:srgbClr val="5A3A80"/>
          </a:solidFill>
          <a:ln/>
        </p:spPr>
      </p:sp>
      <p:sp>
        <p:nvSpPr>
          <p:cNvPr id="13" name="Text 11"/>
          <p:cNvSpPr/>
          <p:nvPr/>
        </p:nvSpPr>
        <p:spPr>
          <a:xfrm>
            <a:off x="5385816" y="24871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C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85816" y="2743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32°C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757416" y="2834640"/>
            <a:ext cx="502920" cy="0"/>
          </a:xfrm>
          <a:prstGeom prst="line">
            <a:avLst/>
          </a:prstGeom>
          <a:noFill/>
          <a:ln w="22225">
            <a:solidFill>
              <a:srgbClr val="F2A93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260336" y="2377440"/>
            <a:ext cx="1371600" cy="914400"/>
          </a:xfrm>
          <a:prstGeom prst="roundRect">
            <a:avLst>
              <a:gd name="adj" fmla="val 10000"/>
            </a:avLst>
          </a:prstGeom>
          <a:solidFill>
            <a:srgbClr val="5A3A80"/>
          </a:solidFill>
          <a:ln/>
        </p:spPr>
      </p:sp>
      <p:sp>
        <p:nvSpPr>
          <p:cNvPr id="17" name="Text 15"/>
          <p:cNvSpPr/>
          <p:nvPr/>
        </p:nvSpPr>
        <p:spPr>
          <a:xfrm>
            <a:off x="7260336" y="24871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C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260336" y="2743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33°C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631936" y="2834640"/>
            <a:ext cx="502920" cy="0"/>
          </a:xfrm>
          <a:prstGeom prst="line">
            <a:avLst/>
          </a:prstGeom>
          <a:noFill/>
          <a:ln w="22225">
            <a:solidFill>
              <a:srgbClr val="F2A93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134856" y="2377440"/>
            <a:ext cx="1371600" cy="914400"/>
          </a:xfrm>
          <a:prstGeom prst="roundRect">
            <a:avLst>
              <a:gd name="adj" fmla="val 10000"/>
            </a:avLst>
          </a:prstGeom>
          <a:solidFill>
            <a:srgbClr val="F2A93B"/>
          </a:solidFill>
          <a:ln/>
        </p:spPr>
      </p:sp>
      <p:sp>
        <p:nvSpPr>
          <p:cNvPr id="21" name="Text 19"/>
          <p:cNvSpPr/>
          <p:nvPr/>
        </p:nvSpPr>
        <p:spPr>
          <a:xfrm>
            <a:off x="9134856" y="24871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34856" y="2743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1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34°C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45920" y="3794760"/>
            <a:ext cx="8869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4D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LSTM receives 30 → 31 → 32 → 33, learns the pattern in the sequence, and predicts tomorrow's temperature.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194560" y="4663440"/>
            <a:ext cx="7772400" cy="914400"/>
          </a:xfrm>
          <a:prstGeom prst="roundRect">
            <a:avLst>
              <a:gd name="adj" fmla="val 10000"/>
            </a:avLst>
          </a:prstGeom>
          <a:solidFill>
            <a:srgbClr val="5A3A80"/>
          </a:solidFill>
          <a:ln/>
        </p:spPr>
      </p:sp>
      <p:sp>
        <p:nvSpPr>
          <p:cNvPr id="25" name="Text 23"/>
          <p:cNvSpPr/>
          <p:nvPr/>
        </p:nvSpPr>
        <p:spPr>
          <a:xfrm>
            <a:off x="2468880" y="4663440"/>
            <a:ext cx="7223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important point: the model can use information from multiple previous time steps.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1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RNN vs. LSTM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job, very different memory</a:t>
            </a:r>
            <a:endParaRPr 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434840"/>
        </p:xfrm>
        <a:graphic>
          <a:graphicData uri="http://schemas.openxmlformats.org/drawingml/2006/table">
            <a:tbl>
              <a:tblPr/>
              <a:tblGrid>
                <a:gridCol w="3931920"/>
                <a:gridCol w="3566160"/>
                <a:gridCol w="3566160"/>
              </a:tblGrid>
              <a:tr h="5541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4C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3B"/>
                    </a:solidFill>
                  </a:tcPr>
                </a:tc>
              </a:tr>
              <a:tr h="5541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A1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Sequence data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A1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A1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FC"/>
                    </a:solidFill>
                  </a:tcPr>
                </a:tc>
              </a:tr>
              <a:tr h="5541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A1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 state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A1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A1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41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A1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Long-term memory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A1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A1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FC"/>
                    </a:solidFill>
                  </a:tcPr>
                </a:tc>
              </a:tr>
              <a:tr h="5541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A1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A1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A1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41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A1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 state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A1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A1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FC"/>
                    </a:solidFill>
                  </a:tcPr>
                </a:tc>
              </a:tr>
              <a:tr h="5541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A1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Vanishing-gradient handling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A1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A1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Much better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41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A1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A1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A1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complex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B1E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LSTM — Final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C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improved RNN that uses gates and a cell state to control memory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74720" cy="1554480"/>
          </a:xfrm>
          <a:prstGeom prst="roundRect">
            <a:avLst>
              <a:gd name="adj" fmla="val 5882"/>
            </a:avLst>
          </a:prstGeom>
          <a:solidFill>
            <a:srgbClr val="5A3A8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20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 Gate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1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I forget?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737360"/>
            <a:ext cx="3474720" cy="1554480"/>
          </a:xfrm>
          <a:prstGeom prst="roundRect">
            <a:avLst>
              <a:gd name="adj" fmla="val 5882"/>
            </a:avLst>
          </a:prstGeom>
          <a:solidFill>
            <a:srgbClr val="5A3A8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1920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Gate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72000" y="233172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1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I remember?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0" y="1737360"/>
            <a:ext cx="3474720" cy="1554480"/>
          </a:xfrm>
          <a:prstGeom prst="roundRect">
            <a:avLst>
              <a:gd name="adj" fmla="val 5882"/>
            </a:avLst>
          </a:prstGeom>
          <a:solidFill>
            <a:srgbClr val="5A3A80"/>
          </a:solidFill>
          <a:ln/>
        </p:spPr>
      </p:sp>
      <p:sp>
        <p:nvSpPr>
          <p:cNvPr id="11" name="Text 9"/>
          <p:cNvSpPr/>
          <p:nvPr/>
        </p:nvSpPr>
        <p:spPr>
          <a:xfrm>
            <a:off x="8366760" y="1920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Gate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366760" y="233172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1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I output?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4F0FA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675888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memory trick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402336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1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= Basic memory 🧠        LSTM = Smart memory 🧠 + Gates 🚪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516636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2A93B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166360"/>
            <a:ext cx="10332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3B1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use: sentiment analysis on "The movie was not good" — LSTM preserves the word "not" long enough to flip the meaning of "good".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2026-09-01T02:42:01Z</dcterms:created>
  <dcterms:modified xsi:type="dcterms:W3CDTF">2026-09-01T02:42:01Z</dcterms:modified>
</cp:coreProperties>
</file>