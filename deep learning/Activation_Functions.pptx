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07408"/>
            <a:ext cx="91440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Deep Learning  ·  ANN  ·  Neural Networks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84248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19856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55464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91072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834640"/>
            <a:ext cx="1325880" cy="384048"/>
          </a:xfrm>
          <a:prstGeom prst="roundRect">
            <a:avLst>
              <a:gd name="adj" fmla="val 47619"/>
            </a:avLst>
          </a:prstGeom>
          <a:solidFill>
            <a:srgbClr val="1B3A5C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28346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Why Activation Function?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325880"/>
          </a:xfrm>
          <a:prstGeom prst="roundRect">
            <a:avLst>
              <a:gd name="adj" fmla="val 8276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activation function introduces non-linearity into the model, enabling it to learn complex patterns beyond simple linear relationships.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850392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243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Without activation functions — neural network behaves like a simple linear regression model (no matter how many layers).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6400800" cy="822960"/>
          </a:xfrm>
          <a:prstGeom prst="roundRect">
            <a:avLst>
              <a:gd name="adj" fmla="val 11111"/>
            </a:avLst>
          </a:prstGeom>
          <a:solidFill>
            <a:srgbClr val="1A2535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566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=  f(z)   where   z = Σ(xᵢ × wᵢ) + 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" y="44622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4498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4846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complex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55848" y="44622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4498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Expressiveness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4846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real-world problems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4462272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6281928" y="4498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484632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works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Types of Activation Functions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2070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22529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Binary classification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956816"/>
            <a:ext cx="475488" cy="475488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9568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97510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Better gradient than Sigmoid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2706624"/>
            <a:ext cx="475488" cy="475488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7066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7066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72491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Hidden layers — most popular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3456432"/>
            <a:ext cx="475488" cy="47548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456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4564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Solves Dying ReLU problem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384048" y="4206240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4206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20624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2245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Multi-class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Sigmoid Activation Function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σ(z) = 1 / (1 + e⁻ᶻ)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663440" cy="502920"/>
          </a:xfrm>
          <a:prstGeom prst="roundRect">
            <a:avLst>
              <a:gd name="adj" fmla="val 12727"/>
            </a:avLst>
          </a:prstGeom>
          <a:solidFill>
            <a:srgbClr val="1A25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Derivative:  f'(z) = f(z) · (1 - f(z))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1821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(output layer)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7124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gradient, probabilistic 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42428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Vanishing Problem — slow learning</a:t>
            </a:r>
            <a:endParaRPr lang="en-US" sz="1100" dirty="0"/>
          </a:p>
        </p:txBody>
      </p:sp>
      <p:pic>
        <p:nvPicPr>
          <p:cNvPr id="17" name="Image 0" descr="/home/claude/graph_sigm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78992"/>
            <a:ext cx="347472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3520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7620">
            <a:solidFill>
              <a:srgbClr val="117A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66160"/>
            <a:ext cx="3291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S-shaped curve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always between 0 and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becomes tiny near extremes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causes vanishing gradient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Tanh (Hyperbolic Tangent) Activation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(eᶻ - e⁻ᶻ) / (eᶻ + e⁻ᶻ)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663440" cy="502920"/>
          </a:xfrm>
          <a:prstGeom prst="roundRect">
            <a:avLst>
              <a:gd name="adj" fmla="val 12727"/>
            </a:avLst>
          </a:prstGeom>
          <a:solidFill>
            <a:srgbClr val="1A25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Derivative:  f'(z) = 1 - (f(z))²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 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1821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layers, sequence models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7124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— better gradient flow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42428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has vanishing gradient for deep nets</a:t>
            </a:r>
            <a:endParaRPr lang="en-US" sz="1100" dirty="0"/>
          </a:p>
        </p:txBody>
      </p:sp>
      <p:pic>
        <p:nvPicPr>
          <p:cNvPr id="17" name="Image 0" descr="/home/claude/graph_tan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78992"/>
            <a:ext cx="347472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3520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3E8FF"/>
          </a:solidFill>
          <a:ln w="7620">
            <a:solidFill>
              <a:srgbClr val="6C348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66160"/>
            <a:ext cx="3291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S-shaped, centered at 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Sigmoid but range (-1,1)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 → helps optimizer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vanishing gradient at extremes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ReLU — Rectified Linear Unit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max(0, z)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663440" cy="502920"/>
          </a:xfrm>
          <a:prstGeom prst="roundRect">
            <a:avLst>
              <a:gd name="adj" fmla="val 12727"/>
            </a:avLst>
          </a:prstGeom>
          <a:solidFill>
            <a:srgbClr val="1A25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574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f'(z) = 1 if z &gt; 0,   0 if z ≤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∞)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1821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— most widely used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124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7124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computation, no vanishing gradient (positive side)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428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42428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 — neurons output 0 for all negative inputs</a:t>
            </a:r>
            <a:endParaRPr lang="en-US" sz="1100" dirty="0"/>
          </a:p>
        </p:txBody>
      </p:sp>
      <p:pic>
        <p:nvPicPr>
          <p:cNvPr id="17" name="Image 0" descr="/home/claude/graph_rel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78992"/>
            <a:ext cx="347472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3520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7620">
            <a:solidFill>
              <a:srgbClr val="117A6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66160"/>
            <a:ext cx="3291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 z &lt; 0  (outputs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for z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for hidden layers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ReLU: neurons get stuck at 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Leaky ReLU (Parametric ReLU)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07008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z       if  z &gt; 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f(z) = α·z    if  z ≤ 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4663440" cy="502920"/>
          </a:xfrm>
          <a:prstGeom prst="roundRect">
            <a:avLst>
              <a:gd name="adj" fmla="val 12727"/>
            </a:avLst>
          </a:prstGeom>
          <a:solidFill>
            <a:srgbClr val="1A253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2199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f'(z) = 1 if z &gt; 0,   α if z ≤ 0  (α ≈ 0.01)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78892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(-∞, ∞)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value: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29184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constant (0.01 or 0.02)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794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Dying ReLU — small gradient for z &lt;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429768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a hyperparameter to tune</a:t>
            </a:r>
            <a:endParaRPr lang="en-US" sz="1100" dirty="0"/>
          </a:p>
        </p:txBody>
      </p:sp>
      <p:pic>
        <p:nvPicPr>
          <p:cNvPr id="17" name="Image 0" descr="/home/claude/graph_lea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78992"/>
            <a:ext cx="347472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3520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BEB"/>
          </a:solidFill>
          <a:ln w="7620">
            <a:solidFill>
              <a:srgbClr val="E67E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66160"/>
            <a:ext cx="3291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slope for z &lt; 0 (not flat!)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for z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Dying ReLU problem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controls the negative slope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Softmax Activation Function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4663440" cy="713232"/>
          </a:xfrm>
          <a:prstGeom prst="roundRect">
            <a:avLst>
              <a:gd name="adj" fmla="val 10256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f(zᵢ) = eᶻⁱ / Σⱼ eᶻʲ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0848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  &amp;  all outputs sum to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(output layer)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21868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probabilities — easy to interpret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785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more expensive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4663440" cy="365760"/>
          </a:xfrm>
          <a:prstGeom prst="roundRect">
            <a:avLst>
              <a:gd name="adj" fmla="val 17500"/>
            </a:avLst>
          </a:prstGeom>
          <a:solidFill>
            <a:srgbClr val="1A25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43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Cat: 0.70  |  Dog: 0.20  |  Bird: 0.10  → total = 1.0</a:t>
            </a:r>
            <a:endParaRPr lang="en-US" sz="1000" dirty="0"/>
          </a:p>
        </p:txBody>
      </p:sp>
      <p:pic>
        <p:nvPicPr>
          <p:cNvPr id="17" name="Image 0" descr="/home/claude/graph_soft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078992"/>
            <a:ext cx="3474720" cy="23317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40680" y="35204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66160"/>
            <a:ext cx="32918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scores to probabilities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add up to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in output layer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image class, NLP, multi-label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Comparison of Activation Functions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566928"/>
          </a:xfrm>
          <a:prstGeom prst="rect">
            <a:avLst/>
          </a:prstGeom>
          <a:solidFill>
            <a:srgbClr val="0D1B2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115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0" y="1051560"/>
            <a:ext cx="1920240" cy="566928"/>
          </a:xfrm>
          <a:prstGeom prst="rect">
            <a:avLst/>
          </a:prstGeom>
          <a:solidFill>
            <a:srgbClr val="0D1B2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83664" y="1115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1005840" cy="566928"/>
          </a:xfrm>
          <a:prstGeom prst="rect">
            <a:avLst/>
          </a:prstGeom>
          <a:solidFill>
            <a:srgbClr val="0D1B2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03904" y="1115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2103120" cy="566928"/>
          </a:xfrm>
          <a:prstGeom prst="rect">
            <a:avLst/>
          </a:prstGeom>
          <a:solidFill>
            <a:srgbClr val="0D1B2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1155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1051560"/>
            <a:ext cx="2194560" cy="566928"/>
          </a:xfrm>
          <a:prstGeom prst="rect">
            <a:avLst/>
          </a:prstGeom>
          <a:solidFill>
            <a:srgbClr val="0D1B2A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115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664208"/>
            <a:ext cx="15544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1728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1664208"/>
            <a:ext cx="1920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3664" y="1728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1/(1+e⁻ᶻ)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664208"/>
            <a:ext cx="10058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17282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664208"/>
            <a:ext cx="21031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728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664208"/>
            <a:ext cx="21945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17282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76856"/>
            <a:ext cx="155448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2276856"/>
            <a:ext cx="192024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83664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(eᶻ-e⁻ᶻ)/(eᶻ+e⁻ᶻ)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276856"/>
            <a:ext cx="100584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03904" y="23408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 1)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276856"/>
            <a:ext cx="210312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23408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2276856"/>
            <a:ext cx="219456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340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889504"/>
            <a:ext cx="15544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953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0" y="2889504"/>
            <a:ext cx="1920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83664" y="29535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max(0, z)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889504"/>
            <a:ext cx="10058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03904" y="29535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∞)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889504"/>
            <a:ext cx="21031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29535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(most)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58000" y="2889504"/>
            <a:ext cx="21945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12864" y="29535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Dying ReLU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502152"/>
            <a:ext cx="155448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0" y="3502152"/>
            <a:ext cx="192024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83664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or α·z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3502152"/>
            <a:ext cx="100584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03904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(-∞, ∞)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3502152"/>
            <a:ext cx="210312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Dying ReLU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58000" y="3502152"/>
            <a:ext cx="2194560" cy="566928"/>
          </a:xfrm>
          <a:prstGeom prst="rect">
            <a:avLst/>
          </a:prstGeom>
          <a:solidFill>
            <a:srgbClr val="EEF2F7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2864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α value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114800"/>
            <a:ext cx="155448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417880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4114800"/>
            <a:ext cx="1920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83664" y="41788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eᶻⁱ/Σeᶻʲ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4114800"/>
            <a:ext cx="10058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03904" y="41788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(0,1), Σ=1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4114800"/>
            <a:ext cx="21031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9744" y="41788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output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8000" y="4114800"/>
            <a:ext cx="21945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2864" y="417880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compute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6C3483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61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78608" y="11612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non-linearity — lets network learn complex patterns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0078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78608" y="17007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(0,1) — use for binary output — vanishing gradient problem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2402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78608" y="224028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(-1,1) — zero-centered — better than sigmoid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78608" y="277977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f=max(0,z) — fastest, most popular — dying ReLU problem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19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78608" y="331927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f=αz for z≤0 — fixes dying ReLU — α≈0.01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858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578608" y="38587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sum to 1 — probabilities — multi-class output layer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334256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3982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78608" y="439826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 → ReLU  |  Binary output → Sigmoid  |  Multi-class → Softmax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2026-07-08T05:14:07Z</dcterms:created>
  <dcterms:modified xsi:type="dcterms:W3CDTF">2026-07-08T05:14:07Z</dcterms:modified>
</cp:coreProperties>
</file>