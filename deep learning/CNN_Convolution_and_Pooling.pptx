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8.jpe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7589520" y="1129284"/>
            <a:ext cx="4599432" cy="45994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89520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737360"/>
            <a:ext cx="6675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CNN: Convolution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Pooling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85800" y="3429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extract features and shrink them down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85800" y="4069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Convolution &amp; Feature Extraction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Pooling Layers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580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19 &amp; 20  ·  Deep Learning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 &amp; Feature Extraction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CNN detects edges, shapes, and patterns from raw pixels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011680" cy="54864"/>
          </a:xfrm>
          <a:prstGeom prst="rect">
            <a:avLst/>
          </a:prstGeom>
          <a:solidFill>
            <a:srgbClr val="12A59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Convolution?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operation CNNs use to detect patterns in an image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A594"/>
                </a:solidFill>
              </a:rPr>
              <a:t>Convolution is an operation used in CNNs to detect important patterns and features from an image.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A CNN Learns to Detect...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383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Edges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338328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3383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Corners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338328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338328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Lines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60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Textures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41605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4160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Shapes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4160520"/>
            <a:ext cx="3566160" cy="594360"/>
          </a:xfrm>
          <a:prstGeom prst="roundRect">
            <a:avLst>
              <a:gd name="adj" fmla="val 12308"/>
            </a:avLst>
          </a:prstGeom>
          <a:solidFill>
            <a:srgbClr val="F4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41605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Objects (eyes, ears, wheels...)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F4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07492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main idea:  Image  +  Filter/Kernel  →  Feature Map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Kernel / Filter?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matrix that moves over the image and performs calculations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Image (5×5, all pixels = 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5  5  5  5  5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64261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5  5  5  5  5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04495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5  5  5  5  5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4472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5  5  5  5  5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84962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5  5  5  5  5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3×3 Kernel (detects vertical edges)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488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E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4688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0  -1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09360" y="30358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0  -1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09360" y="360273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0  -1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54880"/>
            <a:ext cx="10561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definition:  Kernel = small matrix used to detect specific features in an image.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Convolution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corresponding values, then add them together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Image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1  2  3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4  5  6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7  8  9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0624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Kernel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2148840"/>
            <a:ext cx="3383280" cy="1737360"/>
          </a:xfrm>
          <a:prstGeom prst="roundRect">
            <a:avLst>
              <a:gd name="adj" fmla="val 4211"/>
            </a:avLst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514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206240" y="3017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0  1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863840" y="1737360"/>
            <a:ext cx="3794760" cy="1737360"/>
          </a:xfrm>
          <a:prstGeom prst="roundRect">
            <a:avLst>
              <a:gd name="adj" fmla="val 421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82880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2A594"/>
                </a:solidFill>
              </a:rPr>
              <a:t>Overlap top-left 2×2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0" y="21945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1×1 + 2×0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4×0 + 5×1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11109960" cy="1097280"/>
          </a:xfrm>
          <a:prstGeom prst="roundRect">
            <a:avLst>
              <a:gd name="adj" fmla="val 8333"/>
            </a:avLst>
          </a:prstGeom>
          <a:solidFill>
            <a:srgbClr val="F4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114800"/>
            <a:ext cx="11109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+ 0 + 0 + 5 = 6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94960"/>
            <a:ext cx="10561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2A594"/>
                </a:solidFill>
              </a:rPr>
              <a:t>The first value of the feature map is 6. The kernel then slides to the next position and repeats.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Stride?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pixels the filter moves at each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A594"/>
                </a:solidFill>
              </a:rPr>
              <a:t>Stride =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moves one position at a time.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19072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15184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12A594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11296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2A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Filter covers positions 1,2,3,4,5 — one step at a 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9202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994A"/>
                </a:solidFill>
              </a:rPr>
              <a:t>Stride = 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256032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filter jumps two positions at a time.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8128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79792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2016" y="3383280"/>
            <a:ext cx="777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343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</a:rPr>
              <a:t>Filter skips positions — covers less ground per pass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F4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20640"/>
            <a:ext cx="10561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definition:  Stride = number of pixels the kernel moves across the image.  Larger stride → smaller feature map.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Padding?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extra pixels around the border, usually zeros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Original (3×3)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1  2  3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4  5  6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7  8  9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After Zero Padding (5×5)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4884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2860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0 0 0 0 0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0 1 2 3 0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09360" y="32004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0 4 5 6 0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09360" y="36576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0 7 8 9 0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09360" y="4114800"/>
            <a:ext cx="5303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2E319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0 0 0 0 0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Why Use Padding?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image size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edge pixels to participate more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information loss at boundaries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493776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4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9377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padding = no padding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padding = pad so output size stays the same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Feature Map?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of applying a filter to an image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4F5F9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</a:rPr>
              <a:t>Input Image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54680" y="18288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828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192"/>
                </a:solidFill>
              </a:rPr>
              <a:t>Filter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18288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828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Convolution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32520" y="18288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15400" y="18288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4F5F9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8288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994A"/>
                </a:solidFill>
              </a:rPr>
              <a:t>Feature Map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</a:rPr>
              <a:t>Different Filters Detect Different Features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Filter 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Vertical edges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83280" y="3749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Filter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4297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Horizontal edges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994A"/>
                </a:solidFill>
              </a:rPr>
              <a:t>Filter 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297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Corners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52560" y="37490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4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3886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</a:rPr>
              <a:t>Filter 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52560" y="4297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</a:rPr>
              <a:t>Textures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1208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2A594"/>
                </a:solidFill>
              </a:rPr>
              <a:t>The output produced after applying a filter to an image is called a feature map or activation map.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Practical: Convolution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convolution manually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5029200" cy="4261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= np.array([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2, 3, 4],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[5, 6, 7, 8],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[9, 10, 11, 12],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[13, 14, 15, 16]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= np.array([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0],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[0, 1]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np.zeros((3, 3))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range(3):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region = image[i:i+2, j:j+2]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output[i, j] = np.sum(region * kernel)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Output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94560"/>
          <a:ext cx="5303520" cy="1920240"/>
        </p:xfrm>
        <a:graphic>
          <a:graphicData uri="http://schemas.openxmlformats.org/drawingml/2006/table">
            <a:tbl>
              <a:tblPr/>
              <a:tblGrid>
                <a:gridCol w="1767840"/>
                <a:gridCol w="1767840"/>
                <a:gridCol w="17678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E319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</a:t>
                      </a:r>
                      <a:endParaRPr lang="en-US" sz="2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434340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4480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2A594"/>
                </a:solidFill>
              </a:rPr>
              <a:t>First calculation: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583680" y="48006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1×1 + 2×0 + 5×0 + 6×1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 + 6 = 7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Face ID &amp; Convolution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iPhone Face ID uses a CNN to extract facial features</a:t>
            </a:r>
            <a:endParaRPr lang="en-US" sz="1350" dirty="0"/>
          </a:p>
        </p:txBody>
      </p:sp>
      <p:pic>
        <p:nvPicPr>
          <p:cNvPr id="4" name="Image 0" descr="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92262"/>
            <a:ext cx="5394960" cy="21248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663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CNN acts as a feature extractor: the original image becomes a 3D array, then a face embedding.</a:t>
            </a:r>
            <a:endParaRPr lang="en-US" sz="1250" dirty="0"/>
          </a:p>
        </p:txBody>
      </p:sp>
      <p:pic>
        <p:nvPicPr>
          <p:cNvPr id="6" name="Image 1" descr="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8289" y="1737360"/>
            <a:ext cx="3965661" cy="28346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663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→ Feature Extraction → Recognition — the same convolution + feature map idea, applied to faces.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Layers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C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Shrinking feature maps while keeping the important information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2011680" cy="54864"/>
          </a:xfrm>
          <a:prstGeom prst="rect">
            <a:avLst/>
          </a:prstGeom>
          <a:solidFill>
            <a:srgbClr val="F2994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Pooling?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the size of a feature map while keeping the important information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Feature Map (4×4)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4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402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1  3  2  4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5  6  7  8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9  2  3  1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4  5  6  7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94"/>
                </a:solidFill>
              </a:rPr>
              <a:t>After 2×2 Max Pooling (2×2)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74320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309360" y="35204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9  7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109960" cy="1280160"/>
          </a:xfrm>
          <a:prstGeom prst="roundRect">
            <a:avLst>
              <a:gd name="adj" fmla="val 7143"/>
            </a:avLst>
          </a:prstGeom>
          <a:solidFill>
            <a:srgbClr val="F4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754880"/>
            <a:ext cx="10561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2×2 region collapses into a single value — take the maximum from each region.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 vs. Average Pooling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summarize a region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</a:rPr>
              <a:t>Max Pooling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2  5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Maximum = 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03520" cy="2377440"/>
          </a:xfrm>
          <a:prstGeom prst="roundRect">
            <a:avLst>
              <a:gd name="adj" fmla="val 3846"/>
            </a:avLst>
          </a:prstGeom>
          <a:solidFill>
            <a:srgbClr val="FFF6E5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8745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994A"/>
                </a:solidFill>
              </a:rPr>
              <a:t>Average Pooling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09360" y="237744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2  5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0936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Average = (2+5+7+3)/4 = 4.25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43400"/>
          <a:ext cx="11109960" cy="1828800"/>
        </p:xfrm>
        <a:graphic>
          <a:graphicData uri="http://schemas.openxmlformats.org/drawingml/2006/table">
            <a:tbl>
              <a:tblPr/>
              <a:tblGrid>
                <a:gridCol w="5554980"/>
                <a:gridCol w="55549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Max Pooling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59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Average Pooling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Takes maximum value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Takes average value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Keeps strongest feature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Keeps overall information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Commonly used in CNNs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000000"/>
                          </a:solidFill>
                        </a:rPr>
                        <a:t>Less common in modern CNNs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Pooling Help?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 image → 100×100 after convolution → 50×50 after 2×2 pooling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651760" cy="91440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Computation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3383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feature maps need fewer calculations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2011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337560" y="2011680"/>
            <a:ext cx="2651760" cy="91440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Memory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data needs to be stored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011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2011680"/>
            <a:ext cx="2651760" cy="91440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Important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3383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 keeps strong activations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01168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915400" y="2011680"/>
            <a:ext cx="2651760" cy="914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Tolerance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52560" y="3383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shifts in feature position matter less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109960" cy="1005840"/>
          </a:xfrm>
          <a:prstGeom prst="roundRect">
            <a:avLst>
              <a:gd name="adj" fmla="val 9091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12080"/>
            <a:ext cx="10561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A5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× 100  →  Convolution  →  100 × 100  →  2×2 Pooling  →  50 × 50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Code &amp; Combined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 followed by max pooling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E1E2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47088"/>
            <a:ext cx="4937760" cy="4261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feature_map = np.array([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[1, 3, 2, 4],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[5, 6, 7, 8],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[9, 2, 3, 1],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[4, 5, 6, 7]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np.zeros((2, 2))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range(2):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j in range(2):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region = feature_map[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i*2:i*2+2, j*2:j*2+2]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output[i, j] = np.max(region)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print(output)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[[6. 8.]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4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[9. 7.]]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30936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</a:rPr>
              <a:t>Conceptual 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2148840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7280"/>
                </a:solidFill>
              </a:rPr>
              <a:t>4×4 Image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0" y="275234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889504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889504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A594"/>
                </a:solidFill>
              </a:rPr>
              <a:t>Convolution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0" y="34930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630168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630168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192"/>
                </a:solidFill>
              </a:rPr>
              <a:t>3×3 Feature Map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0" y="4233672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4370832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370832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994A"/>
                </a:solidFill>
              </a:rPr>
              <a:t>2×2 Max Pooling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0" y="497433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5111496"/>
            <a:ext cx="5303520" cy="621792"/>
          </a:xfrm>
          <a:prstGeom prst="roundRect">
            <a:avLst>
              <a:gd name="adj" fmla="val 11765"/>
            </a:avLst>
          </a:prstGeom>
          <a:solidFill>
            <a:srgbClr val="F4F5F9"/>
          </a:solidFill>
          <a:ln w="15240">
            <a:solidFill>
              <a:srgbClr val="E85D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5111496"/>
            <a:ext cx="5303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5D5D"/>
                </a:solidFill>
              </a:rPr>
              <a:t>1×1 Output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CNN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pixels to a prediction — the full picture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384048" cy="3840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Image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73736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53128" y="1874520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10" name="Text 8"/>
          <p:cNvSpPr/>
          <p:nvPr/>
        </p:nvSpPr>
        <p:spPr>
          <a:xfrm>
            <a:off x="4453128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37576" y="1737360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874520"/>
            <a:ext cx="384048" cy="384048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14" name="Text 12"/>
          <p:cNvSpPr/>
          <p:nvPr/>
        </p:nvSpPr>
        <p:spPr>
          <a:xfrm>
            <a:off x="8174736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31936" y="173736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2852928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F299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2990088"/>
            <a:ext cx="384048" cy="384048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28529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9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 (ReLU)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15968" y="2852928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8E44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53128" y="2990088"/>
            <a:ext cx="384048" cy="38404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2" name="Text 20"/>
          <p:cNvSpPr/>
          <p:nvPr/>
        </p:nvSpPr>
        <p:spPr>
          <a:xfrm>
            <a:off x="4453128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0328" y="28529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37576" y="2852928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12A5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2990088"/>
            <a:ext cx="384048" cy="384048"/>
          </a:xfrm>
          <a:prstGeom prst="ellipse">
            <a:avLst/>
          </a:prstGeom>
          <a:solidFill>
            <a:srgbClr val="12A594"/>
          </a:solidFill>
          <a:ln/>
        </p:spPr>
      </p:sp>
      <p:sp>
        <p:nvSpPr>
          <p:cNvPr id="26" name="Text 24"/>
          <p:cNvSpPr/>
          <p:nvPr/>
        </p:nvSpPr>
        <p:spPr>
          <a:xfrm>
            <a:off x="8174736" y="2990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31936" y="28529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Conv + Pooling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3968496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2E8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105656"/>
            <a:ext cx="384048" cy="384048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396849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8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315968" y="3968496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2E319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53128" y="4105656"/>
            <a:ext cx="384048" cy="384048"/>
          </a:xfrm>
          <a:prstGeom prst="ellipse">
            <a:avLst/>
          </a:prstGeom>
          <a:solidFill>
            <a:srgbClr val="2E3192"/>
          </a:solidFill>
          <a:ln/>
        </p:spPr>
      </p:sp>
      <p:sp>
        <p:nvSpPr>
          <p:cNvPr id="34" name="Text 32"/>
          <p:cNvSpPr/>
          <p:nvPr/>
        </p:nvSpPr>
        <p:spPr>
          <a:xfrm>
            <a:off x="4453128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0328" y="396849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1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Layer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037576" y="3968496"/>
            <a:ext cx="3520440" cy="914400"/>
          </a:xfrm>
          <a:prstGeom prst="roundRect">
            <a:avLst>
              <a:gd name="adj" fmla="val 10000"/>
            </a:avLst>
          </a:prstGeom>
          <a:solidFill>
            <a:srgbClr val="F4F5F9"/>
          </a:solidFill>
          <a:ln w="16510">
            <a:solidFill>
              <a:srgbClr val="E85D5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74736" y="4105656"/>
            <a:ext cx="384048" cy="384048"/>
          </a:xfrm>
          <a:prstGeom prst="ellipse">
            <a:avLst/>
          </a:prstGeom>
          <a:solidFill>
            <a:srgbClr val="E85D5D"/>
          </a:solidFill>
          <a:ln/>
        </p:spPr>
      </p:sp>
      <p:sp>
        <p:nvSpPr>
          <p:cNvPr id="38" name="Text 36"/>
          <p:cNvSpPr/>
          <p:nvPr/>
        </p:nvSpPr>
        <p:spPr>
          <a:xfrm>
            <a:off x="8174736" y="4105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31936" y="3968496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Cat / Dog Classifier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flow, applied to a real classification task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651760" y="169164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51760" y="1691640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</a:rPr>
              <a:t>Image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806440" y="218541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2276856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76856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Convolution → Detect edges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06440" y="277063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2862072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862072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Pooling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806440" y="3355848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3447288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3447288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Convolution → Detect shapes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06440" y="3941064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4032504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F299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4032504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994A"/>
                </a:solidFill>
              </a:rPr>
              <a:t>Pooling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4526280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4617720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4617720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A594"/>
                </a:solidFill>
              </a:rPr>
              <a:t>Convolution → Detect eyes/ears/fur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6440" y="5111496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5202936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4F5F9"/>
          </a:solidFill>
          <a:ln w="15240">
            <a:solidFill>
              <a:srgbClr val="2E319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5202936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192"/>
                </a:solidFill>
              </a:rPr>
              <a:t>Dense Layer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06440" y="5696712"/>
            <a:ext cx="5486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51760" y="5788152"/>
            <a:ext cx="6858000" cy="512064"/>
          </a:xfrm>
          <a:prstGeom prst="roundRect">
            <a:avLst>
              <a:gd name="adj" fmla="val 14286"/>
            </a:avLst>
          </a:prstGeom>
          <a:solidFill>
            <a:srgbClr val="FCEAEA"/>
          </a:solidFill>
          <a:ln w="15240">
            <a:solidFill>
              <a:srgbClr val="E85D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5788152"/>
            <a:ext cx="6858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D5D"/>
                </a:solidFill>
              </a:rPr>
              <a:t>Cat / Dog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Example: Face ID Full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Detection, alignment, and matching — powered by conv + pooling</a:t>
            </a:r>
            <a:endParaRPr lang="en-US" sz="1350" dirty="0"/>
          </a:p>
        </p:txBody>
      </p:sp>
      <p:pic>
        <p:nvPicPr>
          <p:cNvPr id="4" name="Image 0" descr="1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643" y="1737360"/>
            <a:ext cx="5531114" cy="3017520"/>
          </a:xfrm>
          <a:prstGeom prst="rect">
            <a:avLst/>
          </a:prstGeom>
        </p:spPr>
      </p:pic>
      <p:pic>
        <p:nvPicPr>
          <p:cNvPr id="5" name="Image 1" descr="1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737360"/>
            <a:ext cx="3621024" cy="30175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489204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4892040"/>
            <a:ext cx="10561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2A5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TrueDepth captures depth + infrared data, a CNN extracts facial features into an embedding, and pooling keeps the pipeline fast enough to run in real time on your phone.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Dataset for Practice: MNIST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digits — the classic dataset for learning CNNs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4F5F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1F3B"/>
                </a:solidFill>
              </a:rPr>
              <a:t>Dataset Info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231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Digits 0 through 9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320040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2004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Each image is 28 × 28 pixels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97764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7764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Thousands of labeled 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754880"/>
            <a:ext cx="4480560" cy="594360"/>
          </a:xfrm>
          <a:prstGeom prst="roundRect">
            <a:avLst>
              <a:gd name="adj" fmla="val 12308"/>
            </a:avLst>
          </a:prstGeom>
          <a:solidFill>
            <a:srgbClr val="EEF0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7548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192"/>
                </a:solidFill>
              </a:rPr>
              <a:t>Built into TensorFlow / Keras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5303520" cy="4206240"/>
          </a:xfrm>
          <a:prstGeom prst="roundRect">
            <a:avLst>
              <a:gd name="adj" fmla="val 2174"/>
            </a:avLst>
          </a:prstGeom>
          <a:solidFill>
            <a:srgbClr val="E8F8F5"/>
          </a:solidFill>
          <a:ln w="15240">
            <a:solidFill>
              <a:srgbClr val="12A5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A594"/>
                </a:solidFill>
              </a:rPr>
              <a:t>How the CNN Learns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0" y="2423160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42316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A594"/>
                </a:solidFill>
              </a:rPr>
              <a:t>MNIST Image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83680" y="3099816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09981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A594"/>
                </a:solidFill>
              </a:rPr>
              <a:t>Convolution → Edges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0" y="3776472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776472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A594"/>
                </a:solidFill>
              </a:rPr>
              <a:t>Pooling → Shapes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83680" y="4453128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4453128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A594"/>
                </a:solidFill>
              </a:rPr>
              <a:t>Convolution → Digit patterns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5129784"/>
            <a:ext cx="4754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5129784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A594"/>
                </a:solidFill>
              </a:rPr>
              <a:t>Dense Layer → 0-9 prediction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91640"/>
            <a:ext cx="91440" cy="713232"/>
          </a:xfrm>
          <a:prstGeom prst="rect">
            <a:avLst/>
          </a:prstGeom>
          <a:solidFill>
            <a:srgbClr val="12A59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 slides a small kernel over an image, multiplying and summing values to build a feature map.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496312"/>
            <a:ext cx="91440" cy="713232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96312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Stride controls how far the kernel jumps; padding keeps edge pixels from being underused.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00984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3300984"/>
            <a:ext cx="91440" cy="713232"/>
          </a:xfrm>
          <a:prstGeom prst="rect">
            <a:avLst/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00984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filters detect different features — edges, corners, textures — stacked into deeper patterns.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05656"/>
            <a:ext cx="91440" cy="713232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05656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(usually max pooling) shrinks feature maps, cutting computation while keeping strong signals.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910328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4910328"/>
            <a:ext cx="91440" cy="713232"/>
          </a:xfrm>
          <a:prstGeom prst="rect">
            <a:avLst/>
          </a:prstGeom>
          <a:solidFill>
            <a:srgbClr val="E85D5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910328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CNN flow: Convolution → Activation → Pooling, repeated, then Flatten → Dense → Prediction.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71500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4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715000"/>
            <a:ext cx="91440" cy="713232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71500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systems like Face ID combine exactly these building blocks — feature extraction and pooling — to run fast, on-device recognition.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CNN: Convolution &amp; Pooling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2026-08-19T09:07:41Z</dcterms:created>
  <dcterms:modified xsi:type="dcterms:W3CDTF">2026-08-19T09:07:41Z</dcterms:modified>
</cp:coreProperties>
</file>