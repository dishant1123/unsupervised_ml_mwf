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7724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 ·  Momentum  ·  RMSProp  ·  Adam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neural networks learn to minimize loss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Deep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07040" y="384048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Optimizer?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algorithm that updates weights and biases to minimize loss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optimizer updates a neural network's weights and biases to minimize the loss (error) during training.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5D5D"/>
                </a:solidFill>
              </a:rPr>
              <a:t>Without an optimizer, the neural network cannot learn.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Why Do We Need an Optimizer?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945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</a:rPr>
              <a:t>Model predicts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27340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880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8803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</a:rPr>
              <a:t>Calculate error (Loss)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32520" y="34198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35661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5661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</a:rPr>
              <a:t>Backpropagation computes gradients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41056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2519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EF0FA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2519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</a:rPr>
              <a:t>Optimizer updates the weights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47914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9377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8F5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93776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Repeat until loss is small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Optimizers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foundational optimization algorithms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92840" cy="429768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2331720"/>
                <a:gridCol w="237744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Optimizer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Best Use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A594"/>
                          </a:solidFill>
                        </a:rPr>
                        <a:t>SGD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Updates weights using current gradient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Simple, low memory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Slow convergence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Small datasets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3192"/>
                          </a:solidFill>
                        </a:rPr>
                        <a:t>Momentum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SGD + remembers previous direction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Faster, smoother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Needs momentum parameter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Deep networks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2994A"/>
                          </a:solidFill>
                        </a:rPr>
                        <a:t>RMSProp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Adjusts learning rate automatically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Good for noisy data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Slightly more computation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RNN, Deep Learning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85D5D"/>
                          </a:solidFill>
                        </a:rPr>
                        <a:t>Adam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Momentum + RMSProp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Fastest, most popular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Uses more memory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Almost every DL problem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SGD — Stochastic Gradient Descent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weights using the gradient from the current batch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− η × Gradient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Weight
</a:t>
            </a:r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η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Learning Rate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memory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on simple problems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Disadvantages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Zig-zag movement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get stuck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03520" cy="4892040"/>
          </a:xfrm>
          <a:prstGeom prst="roundRect">
            <a:avLst>
              <a:gd name="adj" fmla="val 1869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Zig-Zag Path to Minimum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1554480" cy="54864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132320" y="3291840"/>
            <a:ext cx="1097280" cy="54864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3840480"/>
            <a:ext cx="1463040" cy="54864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7589520" y="4389120"/>
            <a:ext cx="1005840" cy="54864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4937760"/>
            <a:ext cx="1188720" cy="45720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8503920" y="5394960"/>
            <a:ext cx="274320" cy="73152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0256" y="268833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74736" y="323697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077456" y="378561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Shape 20"/>
          <p:cNvSpPr/>
          <p:nvPr/>
        </p:nvSpPr>
        <p:spPr>
          <a:xfrm>
            <a:off x="8540496" y="433425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Shape 21"/>
          <p:cNvSpPr/>
          <p:nvPr/>
        </p:nvSpPr>
        <p:spPr>
          <a:xfrm>
            <a:off x="7534656" y="488289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723376" y="5340096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49056" y="607161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377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2104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</a:rPr>
              <a:t>Minimum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Momentum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previous updates and moves in the same direction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pushing a heavy ball downhill — initially slow, later very fast.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βv − η × Gradient</a:t>
            </a:r>
            <a:endParaRPr lang="en-US" sz="1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 + v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</a:rPr>
              <a:t>β (Beta) usually = 0.9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SGD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oscillation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Escapes shallow minima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303520" cy="4892040"/>
          </a:xfrm>
          <a:prstGeom prst="roundRect">
            <a:avLst>
              <a:gd name="adj" fmla="val 1869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Smooth Accelerating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2743200"/>
            <a:ext cx="731520" cy="45720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3200400"/>
            <a:ext cx="640080" cy="59436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3794760"/>
            <a:ext cx="548640" cy="73152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4526280"/>
            <a:ext cx="457200" cy="86868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5394960"/>
            <a:ext cx="274320" cy="914400"/>
          </a:xfrm>
          <a:prstGeom prst="line">
            <a:avLst/>
          </a:prstGeom>
          <a:noFill/>
          <a:ln w="38100">
            <a:solidFill>
              <a:srgbClr val="12A5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651760"/>
            <a:ext cx="182880" cy="18288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9" name="Shape 17"/>
          <p:cNvSpPr/>
          <p:nvPr/>
        </p:nvSpPr>
        <p:spPr>
          <a:xfrm>
            <a:off x="9198864" y="6181344"/>
            <a:ext cx="256032" cy="256032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331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Ball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</a:rPr>
              <a:t>Fast!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RMSProp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adjusts the learning rate for every parameter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CEAEA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Large Gradients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→ Smaller learning rate applied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Small Gradients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→ Larger learning rate applied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stable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convergence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RNNs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03520" cy="4754880"/>
          </a:xfrm>
          <a:prstGeom prst="roundRect">
            <a:avLst>
              <a:gd name="adj" fmla="val 1923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659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Per-Parameter Adaptive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 keeps a running average of squared gradients, dividing the step size by its root — so noisy, steep directions slow down and flat directions speed up.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0233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Especially useful in RNNs, where gradients vary sharply across time steps.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Adam — Adaptive Moment Estimation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Momentum and RMSProp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192"/>
                </a:solidFill>
              </a:rPr>
              <a:t>Momentum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direction of past gradients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994A"/>
                </a:solidFill>
              </a:rPr>
              <a:t>RMSProp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learning rate per parameter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280"/>
                </a:solidFill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Adam = Momentum + RMSProp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remembers previous gradients and adjusts learning rates automatically. It is the default optimizer in most deep learning projects.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Advantages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053328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accuracy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almost everywhere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5303520" cy="4709160"/>
          </a:xfrm>
          <a:prstGeom prst="roundRect">
            <a:avLst>
              <a:gd name="adj" fmla="val 1942"/>
            </a:avLst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48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Most Popular Optimizer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675120" y="41148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choice for almost every deep learning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5212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learning rate: 0.001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big a step the optimizer takes while updating weights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CEAEA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D5D"/>
                </a:solidFill>
              </a:rPr>
              <a:t>Learning Rate = 0.1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Large step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4480560" cy="0"/>
          </a:xfrm>
          <a:prstGeom prst="line">
            <a:avLst/>
          </a:prstGeom>
          <a:noFill/>
          <a:ln w="50800">
            <a:solidFill>
              <a:srgbClr val="E85D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594"/>
                </a:solidFill>
              </a:rPr>
              <a:t>Learning Rate = 0.0001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</a:rPr>
              <a:t>Very small step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3246120"/>
            <a:ext cx="182880" cy="0"/>
          </a:xfrm>
          <a:prstGeom prst="line">
            <a:avLst/>
          </a:prstGeom>
          <a:noFill/>
          <a:ln w="50800">
            <a:solidFill>
              <a:srgbClr val="12A5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Typical Values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4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80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4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983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8F5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86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5486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2A594"/>
                </a:solidFill>
              </a:rPr>
              <a:t>← Most common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4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989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Schedule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learning rate during training instead of keeping it fixed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383280" cy="91440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Epoch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977640" y="26517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920240"/>
            <a:ext cx="3383280" cy="914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Epoch 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726680" y="265176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920240"/>
            <a:ext cx="3383280" cy="9144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194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Epoch 40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</a:rPr>
              <a:t>This helps the model converge smoothly — large steps early for speed, small steps later for precision.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Optimizer Selection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92840" cy="4572000"/>
        </p:xfrm>
        <a:graphic>
          <a:graphicData uri="http://schemas.openxmlformats.org/drawingml/2006/table">
            <a:tbl>
              <a:tblPr/>
              <a:tblGrid>
                <a:gridCol w="3749040"/>
                <a:gridCol w="3063240"/>
                <a:gridCol w="4480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Recommended Optimizer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Simple ANN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SGD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Easy to understand and implement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Image Classification (CNN)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Adam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Fast convergence and high accuracy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Text Processing (RNN/LSTM)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RMSProp or Adam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Handles varying gradients well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Transfer Learning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Adam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Quick fine-tuning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Very Large Dataset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SGD + Momentum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Efficient and often generalizes well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Research Experiments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Adam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Strong default choice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91440" cy="621792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Optimizers update model parameters to reduce prediction error during training.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404872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04872"/>
            <a:ext cx="91440" cy="62179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04872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 is simple but often converges slowly and may oscillate.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118104"/>
            <a:ext cx="91440" cy="621792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18104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accelerates learning using previous updates, giving smoother convergence.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31336"/>
            <a:ext cx="91440" cy="62179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31336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RMSProp adapts the learning rate per parameter — effective on complex loss landscapes.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44568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544568"/>
            <a:ext cx="91440" cy="621792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4456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combines Momentum and RMSProp — fast, stable, strong performance across tasks.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257800"/>
            <a:ext cx="91440" cy="62179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257800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most real-world projects, Adam with learning rate 0.001 is an excellent default.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062472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compare optimizers on the same dataset and model to see their real impact on training speed, loss reduction, and final accuracy.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Optimizers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2026-07-28T16:56:58Z</dcterms:created>
  <dcterms:modified xsi:type="dcterms:W3CDTF">2026-07-28T16:56:58Z</dcterms:modified>
</cp:coreProperties>
</file>