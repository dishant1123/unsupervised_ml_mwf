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Arial"/>
              </a:rPr>
              <a:t>Validation Loss per Epoch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Validation Loss</c:v>
                </c:pt>
              </c:strCache>
            </c:strRef>
          </c:tx>
          <c:spPr>
            <a:solidFill>
              <a:srgbClr val="E85D5D"/>
            </a:solidFill>
            <a:ln w="28575" cap="flat">
              <a:solidFill>
                <a:srgbClr val="E85D5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5D5D"/>
              </a:solidFill>
              <a:ln w="9525" cap="flat">
                <a:solidFill>
                  <a:srgbClr val="E85D5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0.7</c:v>
                </c:pt>
                <c:pt idx="1">
                  <c:v>0.6</c:v>
                </c:pt>
                <c:pt idx="2">
                  <c:v>0.55</c:v>
                </c:pt>
                <c:pt idx="3">
                  <c:v>0.49</c:v>
                </c:pt>
                <c:pt idx="4">
                  <c:v>0.46</c:v>
                </c:pt>
                <c:pt idx="5">
                  <c:v>0.45</c:v>
                </c:pt>
                <c:pt idx="6">
                  <c:v>0.46</c:v>
                </c:pt>
                <c:pt idx="7">
                  <c:v>0.47</c:v>
                </c:pt>
                <c:pt idx="8">
                  <c:v>0.49</c:v>
                </c:pt>
                <c:pt idx="9">
                  <c:v>0.52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Epoch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AEA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Loss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1F3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0"/>
            <a:ext cx="8686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Overfitting &amp;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Regularization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77240" y="3749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B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model generalization and the techniques that fix it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Notes  ·  Deep Learning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875520" y="914400"/>
            <a:ext cx="2011680" cy="2011680"/>
          </a:xfrm>
          <a:prstGeom prst="ellipse">
            <a:avLst/>
          </a:prstGeom>
          <a:solidFill>
            <a:srgbClr val="12A594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607040" y="3840480"/>
            <a:ext cx="1280160" cy="1280160"/>
          </a:xfrm>
          <a:prstGeom prst="ellipse">
            <a:avLst/>
          </a:prstGeom>
          <a:solidFill>
            <a:srgbClr val="F2994A">
              <a:alpha val="2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Overfitting?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memorizes training data instead of learning general patterns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108960" cy="1737360"/>
          </a:xfrm>
          <a:prstGeom prst="roundRect">
            <a:avLst>
              <a:gd name="adj" fmla="val 5263"/>
            </a:avLst>
          </a:prstGeom>
          <a:solidFill>
            <a:srgbClr val="F4F5F9"/>
          </a:solidFill>
          <a:ln w="19050">
            <a:solidFill>
              <a:srgbClr val="12A5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20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Training Accuracy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2A594"/>
                </a:solidFill>
              </a:rPr>
              <a:t>99%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4023360" y="1737360"/>
            <a:ext cx="3108960" cy="1737360"/>
          </a:xfrm>
          <a:prstGeom prst="roundRect">
            <a:avLst>
              <a:gd name="adj" fmla="val 5263"/>
            </a:avLst>
          </a:prstGeom>
          <a:solidFill>
            <a:srgbClr val="F4F5F9"/>
          </a:solidFill>
          <a:ln w="19050">
            <a:solidFill>
              <a:srgbClr val="E85D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0" y="1920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Testing Accuracy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023360" y="22860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5D5D"/>
                </a:solidFill>
              </a:rPr>
              <a:t>78%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7589520" y="1737360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EEF0FA"/>
          </a:solidFill>
          <a:ln w="12700">
            <a:solidFill>
              <a:srgbClr val="2E319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0" y="173736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</a:rPr>
              <a:t>Training Data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281160" y="228600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589520" y="2468880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EEF0FA"/>
          </a:solidFill>
          <a:ln w="12700">
            <a:solidFill>
              <a:srgbClr val="2E319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0" y="246888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</a:rPr>
              <a:t>Model Memorizes Data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281160" y="30175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589520" y="3200400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EEF0FA"/>
          </a:solidFill>
          <a:ln w="12700">
            <a:solidFill>
              <a:srgbClr val="2E319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0" y="320040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</a:rPr>
              <a:t>New Data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281160" y="374904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589520" y="3931920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FCEAEA"/>
          </a:solidFill>
          <a:ln w="12700">
            <a:solidFill>
              <a:srgbClr val="E85D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0" y="393192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5D5D"/>
                </a:solidFill>
              </a:rPr>
              <a:t>Poor Prediction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379476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1A2E"/>
                </a:solidFill>
              </a:rPr>
              <a:t>The model performs extremely well on training data but poorly on new, unseen data.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" y="4709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</a:rPr>
              <a:t>Symptoms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" y="5120640"/>
            <a:ext cx="6583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training accuracy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validation accuracy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loss increases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memorizes data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Overfitting &amp; Regularization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Techniques to Reduce Overfitting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core tools every deep learning practitioner should know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121408" cy="3291840"/>
          </a:xfrm>
          <a:prstGeom prst="roundRect">
            <a:avLst>
              <a:gd name="adj" fmla="val 4310"/>
            </a:avLst>
          </a:prstGeom>
          <a:solidFill>
            <a:srgbClr val="F4F5F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2121408" cy="109728"/>
          </a:xfrm>
          <a:prstGeom prst="rect">
            <a:avLst/>
          </a:prstGeom>
          <a:solidFill>
            <a:srgbClr val="12A59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1031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A594"/>
                </a:solidFill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2743200"/>
            <a:ext cx="18470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Regularization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11880"/>
            <a:ext cx="184708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Drives weak weights to exactly zero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98064" y="1828800"/>
            <a:ext cx="2121408" cy="3291840"/>
          </a:xfrm>
          <a:prstGeom prst="roundRect">
            <a:avLst>
              <a:gd name="adj" fmla="val 4310"/>
            </a:avLst>
          </a:prstGeom>
          <a:solidFill>
            <a:srgbClr val="F4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2798064" y="1828800"/>
            <a:ext cx="2121408" cy="109728"/>
          </a:xfrm>
          <a:prstGeom prst="rect">
            <a:avLst/>
          </a:prstGeom>
          <a:solidFill>
            <a:srgbClr val="2E3192"/>
          </a:solidFill>
          <a:ln/>
        </p:spPr>
      </p:sp>
      <p:sp>
        <p:nvSpPr>
          <p:cNvPr id="11" name="Text 9"/>
          <p:cNvSpPr/>
          <p:nvPr/>
        </p:nvSpPr>
        <p:spPr>
          <a:xfrm>
            <a:off x="2935224" y="21031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3192"/>
                </a:solidFill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935224" y="2743200"/>
            <a:ext cx="18470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Regularization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935224" y="3611880"/>
            <a:ext cx="184708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all weights small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47488" y="1828800"/>
            <a:ext cx="2121408" cy="3291840"/>
          </a:xfrm>
          <a:prstGeom prst="roundRect">
            <a:avLst>
              <a:gd name="adj" fmla="val 4310"/>
            </a:avLst>
          </a:prstGeom>
          <a:solidFill>
            <a:srgbClr val="F4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5047488" y="1828800"/>
            <a:ext cx="2121408" cy="109728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16" name="Text 14"/>
          <p:cNvSpPr/>
          <p:nvPr/>
        </p:nvSpPr>
        <p:spPr>
          <a:xfrm>
            <a:off x="5184648" y="21031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994A"/>
                </a:solidFill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184648" y="2743200"/>
            <a:ext cx="18470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184648" y="3611880"/>
            <a:ext cx="184708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Randomly disables neurons while training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96912" y="1828800"/>
            <a:ext cx="2121408" cy="3291840"/>
          </a:xfrm>
          <a:prstGeom prst="roundRect">
            <a:avLst>
              <a:gd name="adj" fmla="val 4310"/>
            </a:avLst>
          </a:prstGeom>
          <a:solidFill>
            <a:srgbClr val="F4F5F9"/>
          </a:solidFill>
          <a:ln/>
        </p:spPr>
      </p:sp>
      <p:sp>
        <p:nvSpPr>
          <p:cNvPr id="20" name="Shape 18"/>
          <p:cNvSpPr/>
          <p:nvPr/>
        </p:nvSpPr>
        <p:spPr>
          <a:xfrm>
            <a:off x="7296912" y="1828800"/>
            <a:ext cx="2121408" cy="109728"/>
          </a:xfrm>
          <a:prstGeom prst="rect">
            <a:avLst/>
          </a:prstGeom>
          <a:solidFill>
            <a:srgbClr val="E85D5D"/>
          </a:solidFill>
          <a:ln/>
        </p:spPr>
      </p:sp>
      <p:sp>
        <p:nvSpPr>
          <p:cNvPr id="21" name="Text 19"/>
          <p:cNvSpPr/>
          <p:nvPr/>
        </p:nvSpPr>
        <p:spPr>
          <a:xfrm>
            <a:off x="7434072" y="21031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5D5D"/>
                </a:solidFill>
              </a:rPr>
              <a:t>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434072" y="2743200"/>
            <a:ext cx="18470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Normalization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34072" y="3611880"/>
            <a:ext cx="184708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Normalizes layer outputs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546336" y="1828800"/>
            <a:ext cx="2121408" cy="3291840"/>
          </a:xfrm>
          <a:prstGeom prst="roundRect">
            <a:avLst>
              <a:gd name="adj" fmla="val 4310"/>
            </a:avLst>
          </a:prstGeom>
          <a:solidFill>
            <a:srgbClr val="F4F5F9"/>
          </a:solidFill>
          <a:ln/>
        </p:spPr>
      </p:sp>
      <p:sp>
        <p:nvSpPr>
          <p:cNvPr id="25" name="Shape 23"/>
          <p:cNvSpPr/>
          <p:nvPr/>
        </p:nvSpPr>
        <p:spPr>
          <a:xfrm>
            <a:off x="9546336" y="1828800"/>
            <a:ext cx="2121408" cy="109728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6" name="Text 24"/>
          <p:cNvSpPr/>
          <p:nvPr/>
        </p:nvSpPr>
        <p:spPr>
          <a:xfrm>
            <a:off x="9683496" y="21031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E44AD"/>
                </a:solidFill>
              </a:rPr>
              <a:t>5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683496" y="2743200"/>
            <a:ext cx="18470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Stopping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83496" y="3611880"/>
            <a:ext cx="184708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Halts training at the best epoch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5440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1A2E"/>
                </a:solidFill>
              </a:rPr>
              <a:t>Core idea: penalize complexity so the network favors simpler, more general solutions.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Overfitting &amp; Regularization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Dataset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Churn_Modelling.csv — customer churn prediction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Target Variable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937760" cy="1005840"/>
          </a:xfrm>
          <a:prstGeom prst="roundRect">
            <a:avLst>
              <a:gd name="adj" fmla="val 7273"/>
            </a:avLst>
          </a:prstGeom>
          <a:solidFill>
            <a:srgbClr val="F4F5F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860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→ Customer stays      1 → Customer leaves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Key Features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79476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EEF0F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79476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F3B"/>
                </a:solidFill>
              </a:rPr>
              <a:t>CreditScore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08960" y="379476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EEF0FA"/>
          </a:solidFill>
          <a:ln/>
        </p:spPr>
      </p:sp>
      <p:sp>
        <p:nvSpPr>
          <p:cNvPr id="11" name="Text 9"/>
          <p:cNvSpPr/>
          <p:nvPr/>
        </p:nvSpPr>
        <p:spPr>
          <a:xfrm>
            <a:off x="3108960" y="379476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F3B"/>
                </a:solidFill>
              </a:rPr>
              <a:t>Age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EEF0F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2976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F3B"/>
                </a:solidFill>
              </a:rPr>
              <a:t>Tenure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08960" y="429768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EEF0FA"/>
          </a:solidFill>
          <a:ln/>
        </p:spPr>
      </p:sp>
      <p:sp>
        <p:nvSpPr>
          <p:cNvPr id="15" name="Text 13"/>
          <p:cNvSpPr/>
          <p:nvPr/>
        </p:nvSpPr>
        <p:spPr>
          <a:xfrm>
            <a:off x="3108960" y="42976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F3B"/>
                </a:solidFill>
              </a:rPr>
              <a:t>Balance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EEF0F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8006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F3B"/>
                </a:solidFill>
              </a:rPr>
              <a:t>NumOfProducts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108960" y="480060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EEF0FA"/>
          </a:solidFill>
          <a:ln/>
        </p:spPr>
      </p:sp>
      <p:sp>
        <p:nvSpPr>
          <p:cNvPr id="19" name="Text 17"/>
          <p:cNvSpPr/>
          <p:nvPr/>
        </p:nvSpPr>
        <p:spPr>
          <a:xfrm>
            <a:off x="3108960" y="48006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F3B"/>
                </a:solidFill>
              </a:rPr>
              <a:t>EstimatedSalary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3504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Why This Dataset?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035040" y="2148840"/>
            <a:ext cx="5577840" cy="3108960"/>
          </a:xfrm>
          <a:prstGeom prst="roundRect">
            <a:avLst>
              <a:gd name="adj" fmla="val 2941"/>
            </a:avLst>
          </a:prstGeom>
          <a:solidFill>
            <a:srgbClr val="F4F5F9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2377440"/>
            <a:ext cx="51206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classification problem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size — ideal for training demos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Naturally shows slight overfitting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for illustrating regularization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Overfitting &amp; Regularization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Setup: Imports, Load, Split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1–6 before building the model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480560"/>
          </a:xfrm>
          <a:prstGeom prst="roundRect">
            <a:avLst>
              <a:gd name="adj" fmla="val 1633"/>
            </a:avLst>
          </a:prstGeom>
          <a:solidFill>
            <a:srgbClr val="1E1E2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1060704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Imports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pd, numpy as np, tensorflow as tf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sklearn.model_selection import train_test_split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sklearn.preprocessing import StandardScaler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Load dataset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pd.read_csv("Churn_Modelling.csv")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Select features (drop identifiers + target)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df.drop(["RowNumber","CustomerId","Surname","Exited"], axis=1)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df["Exited"]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Encode categorical columns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pd.get_dummies(X, drop_first=True)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Train-test split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X_test, y_train, y_test = train_test_split(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X, y, test_size=0.2, random_state=42)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6. Standardize features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 = StandardScaler()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 = scaler.fit_transform(X_train)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X_test  = scaler.transform(X_test)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Overfitting &amp; Regularization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Regularization?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a penalty to large weights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194560" y="1920240"/>
            <a:ext cx="7772400" cy="685800"/>
          </a:xfrm>
          <a:prstGeom prst="roundRect">
            <a:avLst>
              <a:gd name="adj" fmla="val 13333"/>
            </a:avLst>
          </a:prstGeom>
          <a:solidFill>
            <a:srgbClr val="EEF0FA"/>
          </a:solidFill>
          <a:ln w="15240">
            <a:solidFill>
              <a:srgbClr val="2E319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194560" y="192024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F3B"/>
                </a:solidFill>
              </a:rPr>
              <a:t>Large Weights Allowed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806440" y="257860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↓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194560" y="2743200"/>
            <a:ext cx="7772400" cy="685800"/>
          </a:xfrm>
          <a:prstGeom prst="roundRect">
            <a:avLst>
              <a:gd name="adj" fmla="val 13333"/>
            </a:avLst>
          </a:prstGeom>
          <a:solidFill>
            <a:srgbClr val="EEF0FA"/>
          </a:solidFill>
          <a:ln w="15240">
            <a:solidFill>
              <a:srgbClr val="2E319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94560" y="274320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F3B"/>
                </a:solidFill>
              </a:rPr>
              <a:t>Regularization Penalty Added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06440" y="340156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194560" y="3566160"/>
            <a:ext cx="7772400" cy="685800"/>
          </a:xfrm>
          <a:prstGeom prst="roundRect">
            <a:avLst>
              <a:gd name="adj" fmla="val 13333"/>
            </a:avLst>
          </a:prstGeom>
          <a:solidFill>
            <a:srgbClr val="EEF0FA"/>
          </a:solidFill>
          <a:ln w="15240">
            <a:solidFill>
              <a:srgbClr val="2E319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0" y="35661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F3B"/>
                </a:solidFill>
              </a:rPr>
              <a:t>Small Weights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806440" y="422452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↓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194560" y="4389120"/>
            <a:ext cx="7772400" cy="685800"/>
          </a:xfrm>
          <a:prstGeom prst="roundRect">
            <a:avLst>
              <a:gd name="adj" fmla="val 13333"/>
            </a:avLst>
          </a:prstGeom>
          <a:solidFill>
            <a:srgbClr val="EEF0FA"/>
          </a:solidFill>
          <a:ln w="15240">
            <a:solidFill>
              <a:srgbClr val="2E319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94560" y="438912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F3B"/>
                </a:solidFill>
              </a:rPr>
              <a:t>Simpler Model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806440" y="504748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194560" y="5212080"/>
            <a:ext cx="7772400" cy="685800"/>
          </a:xfrm>
          <a:prstGeom prst="roundRect">
            <a:avLst>
              <a:gd name="adj" fmla="val 13333"/>
            </a:avLst>
          </a:prstGeom>
          <a:solidFill>
            <a:srgbClr val="E8F8F5"/>
          </a:solidFill>
          <a:ln w="15240">
            <a:solidFill>
              <a:srgbClr val="12A59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94560" y="521208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A594"/>
                </a:solidFill>
              </a:rPr>
              <a:t>Better Generalization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Overfitting &amp; Regularization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Regularization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the absolute value of weights to the loss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4F5F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5394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A5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 = Original Loss + λ Σ|w|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 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regularization strength
</a:t>
            </a:r>
            <a:pPr indent="0" marL="0">
              <a:buNone/>
            </a:pPr>
            <a:r>
              <a:rPr lang="en-US" sz="1400" b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model weights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</a:rPr>
              <a:t>Effect: some weights become exactly 0 → automatic feature selection.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</a:rPr>
              <a:t>Example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983480"/>
          <a:ext cx="3108960" cy="155448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Before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After L1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0.8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0.8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1.2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0.4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0.4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0.7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309360" y="1783080"/>
            <a:ext cx="5303520" cy="4754880"/>
          </a:xfrm>
          <a:prstGeom prst="roundRect">
            <a:avLst>
              <a:gd name="adj" fmla="val 1538"/>
            </a:avLst>
          </a:prstGeom>
          <a:solidFill>
            <a:srgbClr val="1E1E2E"/>
          </a:solidFill>
          <a:ln/>
        </p:spPr>
      </p:sp>
      <p:sp>
        <p:nvSpPr>
          <p:cNvPr id="11" name="Text 8"/>
          <p:cNvSpPr/>
          <p:nvPr/>
        </p:nvSpPr>
        <p:spPr>
          <a:xfrm>
            <a:off x="6537960" y="2011680"/>
            <a:ext cx="484632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tf.keras.Sequential([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tf.keras.layers.Dense(64, activation='relu',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kernel_regularizer=tf.keras.regularizers.l1(0.001)),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tf.keras.layers.Dense(32, activation='relu',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kernel_regularizer=tf.keras.regularizers.l1(0.001)),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tf.keras.layers.Dense(1, activation='sigmoid')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Overfitting &amp; Regularization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Regularization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the square of weights to the loss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4F5F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5394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31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 = Original Loss + λ Σw²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</a:rPr>
              <a:t>Instead of making weights zero, it makes them small.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</a:rPr>
              <a:t>Example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60520"/>
          <a:ext cx="3108960" cy="128016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Before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After L2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2.5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1.1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3.1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1.4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4.0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1.6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309360" y="1783080"/>
            <a:ext cx="5303520" cy="4754880"/>
          </a:xfrm>
          <a:prstGeom prst="roundRect">
            <a:avLst>
              <a:gd name="adj" fmla="val 1538"/>
            </a:avLst>
          </a:prstGeom>
          <a:solidFill>
            <a:srgbClr val="1E1E2E"/>
          </a:solidFill>
          <a:ln/>
        </p:spPr>
      </p:sp>
      <p:sp>
        <p:nvSpPr>
          <p:cNvPr id="10" name="Text 7"/>
          <p:cNvSpPr/>
          <p:nvPr/>
        </p:nvSpPr>
        <p:spPr>
          <a:xfrm>
            <a:off x="6537960" y="2011680"/>
            <a:ext cx="484632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tf.keras.Sequential([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tf.keras.layers.Dense(64, activation='relu',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kernel_regularizer=tf.keras.regularizers.l2(0.001)),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tf.keras.layers.Dense(32, activation='relu',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kernel_regularizer=tf.keras.regularizers.l2(0.001)),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tf.keras.layers.Dense(1, activation='sigmoid')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Overfitting &amp; Regularization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vs L2 Regularization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goal, different mechanism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103120"/>
          <a:ext cx="10332720" cy="3108960"/>
        </p:xfrm>
        <a:graphic>
          <a:graphicData uri="http://schemas.openxmlformats.org/drawingml/2006/table">
            <a:tbl>
              <a:tblPr/>
              <a:tblGrid>
                <a:gridCol w="2743200"/>
                <a:gridCol w="3794760"/>
                <a:gridCol w="3794760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L1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A59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L2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19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Penalty term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Absolute value  Σ|w|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Square value  Σw²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Weight effect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Weights become exactly zero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Weights become small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Best for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Feature selection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Better generalization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Overfitting &amp; Regularization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Randomly turns OFF neurons during training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Normal Network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24128" y="2601468"/>
            <a:ext cx="1738274" cy="-50292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2601468"/>
            <a:ext cx="1738274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2601468"/>
            <a:ext cx="1738274" cy="50292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2601468"/>
            <a:ext cx="1738274" cy="100584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2601468"/>
            <a:ext cx="1738274" cy="150876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3104388"/>
            <a:ext cx="1738274" cy="-100584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4128" y="3104388"/>
            <a:ext cx="1738274" cy="-50292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4128" y="3104388"/>
            <a:ext cx="1738274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4128" y="3104388"/>
            <a:ext cx="1738274" cy="50292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4128" y="3104388"/>
            <a:ext cx="1738274" cy="100584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4128" y="3607308"/>
            <a:ext cx="1738274" cy="-150876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" y="3607308"/>
            <a:ext cx="1738274" cy="-100584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4128" y="3607308"/>
            <a:ext cx="1738274" cy="-50292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4128" y="3607308"/>
            <a:ext cx="1738274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4128" y="3607308"/>
            <a:ext cx="1738274" cy="50292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63824" y="2098548"/>
            <a:ext cx="1738274" cy="100584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63824" y="2601468"/>
            <a:ext cx="1738274" cy="50292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63824" y="3104388"/>
            <a:ext cx="1738274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63824" y="3607308"/>
            <a:ext cx="1738274" cy="-50292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63824" y="4110228"/>
            <a:ext cx="1738274" cy="-100584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2400300"/>
            <a:ext cx="402336" cy="402336"/>
          </a:xfrm>
          <a:prstGeom prst="ellipse">
            <a:avLst/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2903220"/>
            <a:ext cx="402336" cy="402336"/>
          </a:xfrm>
          <a:prstGeom prst="ellipse">
            <a:avLst/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" y="3406140"/>
            <a:ext cx="402336" cy="402336"/>
          </a:xfrm>
          <a:prstGeom prst="ellipse">
            <a:avLst/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62656" y="1897380"/>
            <a:ext cx="402336" cy="402336"/>
          </a:xfrm>
          <a:prstGeom prst="ellipse">
            <a:avLst/>
          </a:prstGeom>
          <a:solidFill>
            <a:srgbClr val="2E3192"/>
          </a:solidFill>
          <a:ln w="12700">
            <a:solidFill>
              <a:srgbClr val="2E319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62656" y="2400300"/>
            <a:ext cx="402336" cy="402336"/>
          </a:xfrm>
          <a:prstGeom prst="ellipse">
            <a:avLst/>
          </a:prstGeom>
          <a:solidFill>
            <a:srgbClr val="2E3192"/>
          </a:solidFill>
          <a:ln w="12700">
            <a:solidFill>
              <a:srgbClr val="2E319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62656" y="2903220"/>
            <a:ext cx="402336" cy="402336"/>
          </a:xfrm>
          <a:prstGeom prst="ellipse">
            <a:avLst/>
          </a:prstGeom>
          <a:solidFill>
            <a:srgbClr val="2E3192"/>
          </a:solidFill>
          <a:ln w="12700">
            <a:solidFill>
              <a:srgbClr val="2E319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62656" y="3406140"/>
            <a:ext cx="402336" cy="402336"/>
          </a:xfrm>
          <a:prstGeom prst="ellipse">
            <a:avLst/>
          </a:prstGeom>
          <a:solidFill>
            <a:srgbClr val="2E3192"/>
          </a:solidFill>
          <a:ln w="12700">
            <a:solidFill>
              <a:srgbClr val="2E319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62656" y="3909060"/>
            <a:ext cx="402336" cy="402336"/>
          </a:xfrm>
          <a:prstGeom prst="ellipse">
            <a:avLst/>
          </a:prstGeom>
          <a:solidFill>
            <a:srgbClr val="2E3192"/>
          </a:solidFill>
          <a:ln w="12700">
            <a:solidFill>
              <a:srgbClr val="2E319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02352" y="2903220"/>
            <a:ext cx="402336" cy="402336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0" y="1828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Dropout (40%)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601968" y="2601468"/>
            <a:ext cx="1738274" cy="-50292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01968" y="2601468"/>
            <a:ext cx="1738274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01968" y="2601468"/>
            <a:ext cx="1738274" cy="50292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01968" y="2601468"/>
            <a:ext cx="1738274" cy="100584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601968" y="2601468"/>
            <a:ext cx="1738274" cy="150876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01968" y="3104388"/>
            <a:ext cx="1738274" cy="-100584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601968" y="3104388"/>
            <a:ext cx="1738274" cy="-50292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601968" y="3104388"/>
            <a:ext cx="1738274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601968" y="3104388"/>
            <a:ext cx="1738274" cy="50292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601968" y="3104388"/>
            <a:ext cx="1738274" cy="100584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601968" y="3607308"/>
            <a:ext cx="1738274" cy="-150876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601968" y="3607308"/>
            <a:ext cx="1738274" cy="-100584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601968" y="3607308"/>
            <a:ext cx="1738274" cy="-50292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601968" y="3607308"/>
            <a:ext cx="1738274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601968" y="3607308"/>
            <a:ext cx="1738274" cy="50292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741664" y="2098548"/>
            <a:ext cx="1738274" cy="100584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741664" y="3104388"/>
            <a:ext cx="1738274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741664" y="4110228"/>
            <a:ext cx="1738274" cy="-100584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00800" y="2400300"/>
            <a:ext cx="402336" cy="402336"/>
          </a:xfrm>
          <a:prstGeom prst="ellipse">
            <a:avLst/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400800" y="2903220"/>
            <a:ext cx="402336" cy="402336"/>
          </a:xfrm>
          <a:prstGeom prst="ellipse">
            <a:avLst/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400800" y="3406140"/>
            <a:ext cx="402336" cy="402336"/>
          </a:xfrm>
          <a:prstGeom prst="ellipse">
            <a:avLst/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540496" y="1897380"/>
            <a:ext cx="402336" cy="402336"/>
          </a:xfrm>
          <a:prstGeom prst="ellipse">
            <a:avLst/>
          </a:prstGeom>
          <a:solidFill>
            <a:srgbClr val="2E3192"/>
          </a:solidFill>
          <a:ln w="12700">
            <a:solidFill>
              <a:srgbClr val="2E319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540496" y="2400300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85D5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494776" y="2345436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5D5D"/>
                </a:solidFill>
              </a:rPr>
              <a:t>×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540496" y="2903220"/>
            <a:ext cx="402336" cy="402336"/>
          </a:xfrm>
          <a:prstGeom prst="ellipse">
            <a:avLst/>
          </a:prstGeom>
          <a:solidFill>
            <a:srgbClr val="2E3192"/>
          </a:solidFill>
          <a:ln w="12700">
            <a:solidFill>
              <a:srgbClr val="2E319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540496" y="3406140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85D5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494776" y="3351276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5D5D"/>
                </a:solidFill>
              </a:rPr>
              <a:t>×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540496" y="3909060"/>
            <a:ext cx="402336" cy="402336"/>
          </a:xfrm>
          <a:prstGeom prst="ellipse">
            <a:avLst/>
          </a:prstGeom>
          <a:solidFill>
            <a:srgbClr val="2E3192"/>
          </a:solidFill>
          <a:ln w="12700">
            <a:solidFill>
              <a:srgbClr val="2E319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680192" y="2903220"/>
            <a:ext cx="402336" cy="402336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8640" y="42976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</a:rPr>
              <a:t>Every training iteration, a different random set of neurons is dropped — preventing neurons from co-adapting and depending on one another.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548640" y="5029200"/>
            <a:ext cx="10607040" cy="1417320"/>
          </a:xfrm>
          <a:prstGeom prst="roundRect">
            <a:avLst>
              <a:gd name="adj" fmla="val 5161"/>
            </a:avLst>
          </a:prstGeom>
          <a:solidFill>
            <a:srgbClr val="1E1E2E"/>
          </a:solidFill>
          <a:ln/>
        </p:spPr>
      </p:sp>
      <p:sp>
        <p:nvSpPr>
          <p:cNvPr id="66" name="Text 64"/>
          <p:cNvSpPr/>
          <p:nvPr/>
        </p:nvSpPr>
        <p:spPr>
          <a:xfrm>
            <a:off x="777240" y="5120640"/>
            <a:ext cx="10149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tf.keras.Sequential([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tf.keras.layers.Dense(128, activation='relu'),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tf.keras.layers.Dropout(0.5),   # 50% neurons OFF during training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tf.keras.layers.Dense(64, activation='relu'),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tf.keras.layers.Dropout(0.3),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tf.keras.layers.Dense(1, activation='sigmoid')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250" dirty="0"/>
          </a:p>
        </p:txBody>
      </p:sp>
      <p:sp>
        <p:nvSpPr>
          <p:cNvPr id="67" name="Text 65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Overfitting &amp; Regularization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Normalization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Normalizes layer outputs before passing to the next layer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</a:rPr>
              <a:t>Before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CEAE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402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5D5D"/>
                </a:solidFill>
              </a:rPr>
              <a:t>10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CEAE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7432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5D5D"/>
                </a:solidFill>
              </a:rPr>
              <a:t>200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CEAE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2461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5D5D"/>
                </a:solidFill>
              </a:rPr>
              <a:t>500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4904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CEAE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490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5D5D"/>
                </a:solidFill>
              </a:rPr>
              <a:t>-100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08960" y="29260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B7280"/>
                </a:solidFill>
              </a:rPr>
              <a:t>→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023360" y="1828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</a:rPr>
              <a:t>After Batch Norm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023360" y="224028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E8F8F5"/>
          </a:solidFill>
          <a:ln/>
        </p:spPr>
      </p:sp>
      <p:sp>
        <p:nvSpPr>
          <p:cNvPr id="16" name="Text 14"/>
          <p:cNvSpPr/>
          <p:nvPr/>
        </p:nvSpPr>
        <p:spPr>
          <a:xfrm>
            <a:off x="4023360" y="22402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2A594"/>
                </a:solidFill>
              </a:rPr>
              <a:t>-1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023360" y="274320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E8F8F5"/>
          </a:solidFill>
          <a:ln/>
        </p:spPr>
      </p:sp>
      <p:sp>
        <p:nvSpPr>
          <p:cNvPr id="18" name="Text 16"/>
          <p:cNvSpPr/>
          <p:nvPr/>
        </p:nvSpPr>
        <p:spPr>
          <a:xfrm>
            <a:off x="4023360" y="27432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2A594"/>
                </a:solidFill>
              </a:rPr>
              <a:t>0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023360" y="324612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E8F8F5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0" y="32461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2A594"/>
                </a:solidFill>
              </a:rPr>
              <a:t>0.5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023360" y="374904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E8F8F5"/>
          </a:solidFill>
          <a:ln/>
        </p:spPr>
      </p:sp>
      <p:sp>
        <p:nvSpPr>
          <p:cNvPr id="22" name="Text 20"/>
          <p:cNvSpPr/>
          <p:nvPr/>
        </p:nvSpPr>
        <p:spPr>
          <a:xfrm>
            <a:off x="4023360" y="37490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2A594"/>
                </a:solidFill>
              </a:rPr>
              <a:t>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49440" y="1828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Why use it?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949440" y="2240280"/>
            <a:ext cx="4663440" cy="2194560"/>
          </a:xfrm>
          <a:prstGeom prst="roundRect">
            <a:avLst>
              <a:gd name="adj" fmla="val 3333"/>
            </a:avLst>
          </a:prstGeom>
          <a:solidFill>
            <a:srgbClr val="F4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7178040" y="2423160"/>
            <a:ext cx="4206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learning faster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gradients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Allows higher learning rate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internal covariate shift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4434840"/>
            <a:ext cx="11064240" cy="2011680"/>
          </a:xfrm>
          <a:prstGeom prst="roundRect">
            <a:avLst>
              <a:gd name="adj" fmla="val 3636"/>
            </a:avLst>
          </a:prstGeom>
          <a:solidFill>
            <a:srgbClr val="1E1E2E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52628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tf.keras.Sequential([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tf.keras.layers.Dense(128),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tf.keras.layers.BatchNormalization(),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tf.keras.layers.Activation('relu'),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tf.keras.layers.Dense(64),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tf.keras.layers.BatchNormalization(),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tf.keras.layers.Activation('relu'),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tf.keras.layers.Dense(1, activation='sigmoid')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Overfitting &amp; Regularization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Stopping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Stops training when validation performance stops improving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64008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223760" y="1828800"/>
            <a:ext cx="4434840" cy="1371600"/>
          </a:xfrm>
          <a:prstGeom prst="roundRect">
            <a:avLst>
              <a:gd name="adj" fmla="val 6667"/>
            </a:avLst>
          </a:prstGeom>
          <a:solidFill>
            <a:srgbClr val="E8F8F5"/>
          </a:solidFill>
          <a:ln w="15240">
            <a:solidFill>
              <a:srgbClr val="12A59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223760" y="196596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A594"/>
                </a:solidFill>
              </a:rPr>
              <a:t>Best Model: Epoch 6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406640" y="2423160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Loss stops improving after this point — training beyond it wastes time and overfits.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223760" y="3429000"/>
            <a:ext cx="4434840" cy="1691640"/>
          </a:xfrm>
          <a:prstGeom prst="roundRect">
            <a:avLst>
              <a:gd name="adj" fmla="val 4324"/>
            </a:avLst>
          </a:prstGeom>
          <a:solidFill>
            <a:srgbClr val="1E1E2E"/>
          </a:solidFill>
          <a:ln/>
        </p:spPr>
      </p:sp>
      <p:sp>
        <p:nvSpPr>
          <p:cNvPr id="9" name="Text 6"/>
          <p:cNvSpPr/>
          <p:nvPr/>
        </p:nvSpPr>
        <p:spPr>
          <a:xfrm>
            <a:off x="7406640" y="3566160"/>
            <a:ext cx="4023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early_stop = tf.keras.callbacks.EarlyStopping(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monitor='val_loss',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patience=5,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restore_best_weights=True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5349240"/>
            <a:ext cx="11109960" cy="1097280"/>
          </a:xfrm>
          <a:prstGeom prst="roundRect">
            <a:avLst>
              <a:gd name="adj" fmla="val 6667"/>
            </a:avLst>
          </a:prstGeom>
          <a:solidFill>
            <a:srgbClr val="1E1E2E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54406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 = model.fit(X_train, y_train, validation_split=0.2,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epochs=100, batch_size=32, callbacks=[early_stop])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Overfitting &amp; Regularization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Model (Recommended)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Combining all techniques together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675120" cy="4709160"/>
          </a:xfrm>
          <a:prstGeom prst="roundRect">
            <a:avLst>
              <a:gd name="adj" fmla="val 1553"/>
            </a:avLst>
          </a:prstGeom>
          <a:solidFill>
            <a:srgbClr val="1E1E2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74520"/>
            <a:ext cx="621792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tf.keras.Sequential([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tf.keras.layers.Dense(128),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tf.keras.layers.BatchNormalization(),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tf.keras.layers.Activation('relu'),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tf.keras.layers.Dropout(0.3),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tf.keras.layers.Dense(64, activation='relu',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kernel_regularizer=tf.keras.regularizers.l2(0.001)),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tf.keras.layers.Dropout(0.3),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tf.keras.layers.Dense(32, activation='relu',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kernel_regularizer=tf.keras.regularizers.l2(0.001)),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tf.keras.layers.Dense(1, activation='sigmoid')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model.compile(optimizer='adam',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loss='binary_crossentropy',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metrics=['accuracy'])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98080" y="1737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What's stacked here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98080" y="2194560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F4F5F9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0" y="2194560"/>
            <a:ext cx="91440" cy="594360"/>
          </a:xfrm>
          <a:prstGeom prst="rect">
            <a:avLst/>
          </a:prstGeom>
          <a:solidFill>
            <a:srgbClr val="E85D5D"/>
          </a:solidFill>
          <a:ln/>
        </p:spPr>
      </p:sp>
      <p:sp>
        <p:nvSpPr>
          <p:cNvPr id="9" name="Text 7"/>
          <p:cNvSpPr/>
          <p:nvPr/>
        </p:nvSpPr>
        <p:spPr>
          <a:xfrm>
            <a:off x="7726680" y="219456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</a:rPr>
              <a:t>Batch Norm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0" y="2971800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F4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7498080" y="2971800"/>
            <a:ext cx="91440" cy="594360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12" name="Text 10"/>
          <p:cNvSpPr/>
          <p:nvPr/>
        </p:nvSpPr>
        <p:spPr>
          <a:xfrm>
            <a:off x="7726680" y="29718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</a:rPr>
              <a:t>Dropout (0.3)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498080" y="3749040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F4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7498080" y="3749040"/>
            <a:ext cx="91440" cy="594360"/>
          </a:xfrm>
          <a:prstGeom prst="rect">
            <a:avLst/>
          </a:prstGeom>
          <a:solidFill>
            <a:srgbClr val="2E3192"/>
          </a:solidFill>
          <a:ln/>
        </p:spPr>
      </p:sp>
      <p:sp>
        <p:nvSpPr>
          <p:cNvPr id="15" name="Text 13"/>
          <p:cNvSpPr/>
          <p:nvPr/>
        </p:nvSpPr>
        <p:spPr>
          <a:xfrm>
            <a:off x="7726680" y="37490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</a:rPr>
              <a:t>L2 Regularization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498080" y="4526280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F4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0" y="4526280"/>
            <a:ext cx="91440" cy="59436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8" name="Text 16"/>
          <p:cNvSpPr/>
          <p:nvPr/>
        </p:nvSpPr>
        <p:spPr>
          <a:xfrm>
            <a:off x="7726680" y="452628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</a:rPr>
              <a:t>Early Stopping (in fit)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Overfitting &amp; Regularization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Should We Use Each Technique?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109960" cy="4480560"/>
        </p:xfrm>
        <a:graphic>
          <a:graphicData uri="http://schemas.openxmlformats.org/drawingml/2006/table">
            <a:tbl>
              <a:tblPr/>
              <a:tblGrid>
                <a:gridCol w="2743200"/>
                <a:gridCol w="6080760"/>
                <a:gridCol w="22860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Technique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Why We Use It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Typical Value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L1 Regularization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Removes less useful features by driving weights to zero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0.0001 – 0.01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L2 Regularization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Keeps weights small; default choice for most models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0.0001 – 0.01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Dropout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Stops neurons depending too much on each other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0.2 – 0.5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Batch Normalization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Stabilizes activations, speeds up training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After Dense/Conv layer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Early Stopping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Stops training before overfitting begins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patience = 3–10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Overfitting &amp; Regularization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Datasets Are Good for Practice?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109960" cy="4663440"/>
        </p:xfrm>
        <a:graphic>
          <a:graphicData uri="http://schemas.openxmlformats.org/drawingml/2006/table">
            <a:tbl>
              <a:tblPr/>
              <a:tblGrid>
                <a:gridCol w="2834640"/>
                <a:gridCol w="2743200"/>
                <a:gridCol w="55321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Dataset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Problem Type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Why It Is Good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Churn_Modelling.csv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Binary Classification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Best for learning dropout, L2, and early stopping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Titanic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Binary Classification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Small dataset, easy to understand overfitting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MNIST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Image Classification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Great for experimenting with dropout and batch norm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Fashion-MNIST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Image Classification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Similar to MNIST, slightly more challenging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Breast Cancer Wisconsin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Binary Classification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Small dataset for testing L1 / L2 regularization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CIFAR-10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Image Classification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Shows benefits of batch normalization in deep nets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Overfitting &amp; Regularization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2026-07-27T02:58:15Z</dcterms:created>
  <dcterms:modified xsi:type="dcterms:W3CDTF">2026-07-27T02:58:15Z</dcterms:modified>
</cp:coreProperties>
</file>